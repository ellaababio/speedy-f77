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96" r:id="rId21"/>
    <p:sldId id="275" r:id="rId22"/>
    <p:sldId id="276" r:id="rId23"/>
    <p:sldId id="277" r:id="rId24"/>
    <p:sldId id="279" r:id="rId25"/>
    <p:sldId id="278"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104478-9742-40A7-9CE5-F2C82A11423C}" v="30" dt="2026-07-30T18:19:15.4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7" autoAdjust="0"/>
    <p:restoredTop sz="64580" autoAdjust="0"/>
  </p:normalViewPr>
  <p:slideViewPr>
    <p:cSldViewPr snapToGrid="0" snapToObjects="1">
      <p:cViewPr varScale="1">
        <p:scale>
          <a:sx n="49" d="100"/>
          <a:sy n="49" d="100"/>
        </p:scale>
        <p:origin x="1710" y="27"/>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Schwartz" userId="891bdf3a3da27c76" providerId="LiveId" clId="{CC7C669E-3E66-45E3-BC67-5748D396A822}"/>
    <pc:docChg chg="undo custSel addSld modSld sldOrd">
      <pc:chgData name="Jack Schwartz" userId="891bdf3a3da27c76" providerId="LiveId" clId="{CC7C669E-3E66-45E3-BC67-5748D396A822}" dt="2026-07-30T18:20:18.294" v="614" actId="20577"/>
      <pc:docMkLst>
        <pc:docMk/>
      </pc:docMkLst>
      <pc:sldChg chg="modNotesTx">
        <pc:chgData name="Jack Schwartz" userId="891bdf3a3da27c76" providerId="LiveId" clId="{CC7C669E-3E66-45E3-BC67-5748D396A822}" dt="2026-07-30T18:18:43.569" v="576" actId="20577"/>
        <pc:sldMkLst>
          <pc:docMk/>
          <pc:sldMk cId="954092865" sldId="256"/>
        </pc:sldMkLst>
      </pc:sldChg>
      <pc:sldChg chg="modNotesTx">
        <pc:chgData name="Jack Schwartz" userId="891bdf3a3da27c76" providerId="LiveId" clId="{CC7C669E-3E66-45E3-BC67-5748D396A822}" dt="2026-07-30T18:18:47.377" v="577" actId="20577"/>
        <pc:sldMkLst>
          <pc:docMk/>
          <pc:sldMk cId="1421011479" sldId="257"/>
        </pc:sldMkLst>
      </pc:sldChg>
      <pc:sldChg chg="modNotesTx">
        <pc:chgData name="Jack Schwartz" userId="891bdf3a3da27c76" providerId="LiveId" clId="{CC7C669E-3E66-45E3-BC67-5748D396A822}" dt="2026-07-30T18:18:50.598" v="578" actId="20577"/>
        <pc:sldMkLst>
          <pc:docMk/>
          <pc:sldMk cId="1078956375" sldId="258"/>
        </pc:sldMkLst>
      </pc:sldChg>
      <pc:sldChg chg="modSp mod modNotesTx">
        <pc:chgData name="Jack Schwartz" userId="891bdf3a3da27c76" providerId="LiveId" clId="{CC7C669E-3E66-45E3-BC67-5748D396A822}" dt="2026-07-30T18:18:53.713" v="579" actId="20577"/>
        <pc:sldMkLst>
          <pc:docMk/>
          <pc:sldMk cId="282127609" sldId="259"/>
        </pc:sldMkLst>
        <pc:spChg chg="mod">
          <ac:chgData name="Jack Schwartz" userId="891bdf3a3da27c76" providerId="LiveId" clId="{CC7C669E-3E66-45E3-BC67-5748D396A822}" dt="2026-07-23T23:37:35.334" v="1" actId="1076"/>
          <ac:spMkLst>
            <pc:docMk/>
            <pc:sldMk cId="282127609" sldId="259"/>
            <ac:spMk id="4" creationId="{C43BAEAB-549A-4292-9779-49A7465EFDD3}"/>
          </ac:spMkLst>
        </pc:spChg>
        <pc:spChg chg="mod">
          <ac:chgData name="Jack Schwartz" userId="891bdf3a3da27c76" providerId="LiveId" clId="{CC7C669E-3E66-45E3-BC67-5748D396A822}" dt="2026-07-23T23:37:46.943" v="8" actId="1076"/>
          <ac:spMkLst>
            <pc:docMk/>
            <pc:sldMk cId="282127609" sldId="259"/>
            <ac:spMk id="5" creationId="{3FDB8CDC-A6D5-41BE-B287-1FC653226B6C}"/>
          </ac:spMkLst>
        </pc:spChg>
        <pc:spChg chg="mod">
          <ac:chgData name="Jack Schwartz" userId="891bdf3a3da27c76" providerId="LiveId" clId="{CC7C669E-3E66-45E3-BC67-5748D396A822}" dt="2026-07-23T23:37:41.670" v="7" actId="14100"/>
          <ac:spMkLst>
            <pc:docMk/>
            <pc:sldMk cId="282127609" sldId="259"/>
            <ac:spMk id="7" creationId="{204A74E2-EBAA-4917-8AFA-9C7A3B24B9DB}"/>
          </ac:spMkLst>
        </pc:spChg>
        <pc:spChg chg="mod">
          <ac:chgData name="Jack Schwartz" userId="891bdf3a3da27c76" providerId="LiveId" clId="{CC7C669E-3E66-45E3-BC67-5748D396A822}" dt="2026-07-23T23:37:57.318" v="9" actId="403"/>
          <ac:spMkLst>
            <pc:docMk/>
            <pc:sldMk cId="282127609" sldId="259"/>
            <ac:spMk id="9" creationId="{820D915D-D391-411E-BBBC-878AC15FAF7C}"/>
          </ac:spMkLst>
        </pc:spChg>
      </pc:sldChg>
      <pc:sldChg chg="modSp mod modNotesTx">
        <pc:chgData name="Jack Schwartz" userId="891bdf3a3da27c76" providerId="LiveId" clId="{CC7C669E-3E66-45E3-BC67-5748D396A822}" dt="2026-07-30T18:18:55.906" v="580" actId="20577"/>
        <pc:sldMkLst>
          <pc:docMk/>
          <pc:sldMk cId="1237891218" sldId="260"/>
        </pc:sldMkLst>
        <pc:spChg chg="mod">
          <ac:chgData name="Jack Schwartz" userId="891bdf3a3da27c76" providerId="LiveId" clId="{CC7C669E-3E66-45E3-BC67-5748D396A822}" dt="2026-07-23T23:39:41.112" v="17" actId="255"/>
          <ac:spMkLst>
            <pc:docMk/>
            <pc:sldMk cId="1237891218" sldId="260"/>
            <ac:spMk id="6" creationId="{C68221B3-1B26-4A27-9494-F7466761E037}"/>
          </ac:spMkLst>
        </pc:spChg>
        <pc:spChg chg="mod">
          <ac:chgData name="Jack Schwartz" userId="891bdf3a3da27c76" providerId="LiveId" clId="{CC7C669E-3E66-45E3-BC67-5748D396A822}" dt="2026-07-23T23:39:44.634" v="18" actId="1076"/>
          <ac:spMkLst>
            <pc:docMk/>
            <pc:sldMk cId="1237891218" sldId="260"/>
            <ac:spMk id="7" creationId="{29592638-E0EF-41FD-8B2B-ACF1659AD6CE}"/>
          </ac:spMkLst>
        </pc:spChg>
        <pc:spChg chg="mod">
          <ac:chgData name="Jack Schwartz" userId="891bdf3a3da27c76" providerId="LiveId" clId="{CC7C669E-3E66-45E3-BC67-5748D396A822}" dt="2026-07-23T23:39:53.145" v="27" actId="255"/>
          <ac:spMkLst>
            <pc:docMk/>
            <pc:sldMk cId="1237891218" sldId="260"/>
            <ac:spMk id="9" creationId="{91FE0FB4-B9F7-47FE-9131-E5E5CE74EC82}"/>
          </ac:spMkLst>
        </pc:spChg>
        <pc:spChg chg="mod">
          <ac:chgData name="Jack Schwartz" userId="891bdf3a3da27c76" providerId="LiveId" clId="{CC7C669E-3E66-45E3-BC67-5748D396A822}" dt="2026-07-23T23:40:01.565" v="28" actId="255"/>
          <ac:spMkLst>
            <pc:docMk/>
            <pc:sldMk cId="1237891218" sldId="260"/>
            <ac:spMk id="12" creationId="{91730671-F08E-4503-A7E0-4BF2AAE5BCDA}"/>
          </ac:spMkLst>
        </pc:spChg>
      </pc:sldChg>
      <pc:sldChg chg="modSp mod modNotesTx">
        <pc:chgData name="Jack Schwartz" userId="891bdf3a3da27c76" providerId="LiveId" clId="{CC7C669E-3E66-45E3-BC67-5748D396A822}" dt="2026-07-30T18:19:00.326" v="581" actId="20577"/>
        <pc:sldMkLst>
          <pc:docMk/>
          <pc:sldMk cId="382762830" sldId="261"/>
        </pc:sldMkLst>
        <pc:spChg chg="mod">
          <ac:chgData name="Jack Schwartz" userId="891bdf3a3da27c76" providerId="LiveId" clId="{CC7C669E-3E66-45E3-BC67-5748D396A822}" dt="2026-07-23T23:41:14.989" v="59" actId="255"/>
          <ac:spMkLst>
            <pc:docMk/>
            <pc:sldMk cId="382762830" sldId="261"/>
            <ac:spMk id="4" creationId="{DBB211A0-77CB-47A0-99E1-8350E5522924}"/>
          </ac:spMkLst>
        </pc:spChg>
        <pc:spChg chg="mod">
          <ac:chgData name="Jack Schwartz" userId="891bdf3a3da27c76" providerId="LiveId" clId="{CC7C669E-3E66-45E3-BC67-5748D396A822}" dt="2026-07-23T23:41:17.564" v="60" actId="403"/>
          <ac:spMkLst>
            <pc:docMk/>
            <pc:sldMk cId="382762830" sldId="261"/>
            <ac:spMk id="7" creationId="{37F99A0F-27D9-45B3-821B-EEB639AFC84E}"/>
          </ac:spMkLst>
        </pc:spChg>
        <pc:spChg chg="mod">
          <ac:chgData name="Jack Schwartz" userId="891bdf3a3da27c76" providerId="LiveId" clId="{CC7C669E-3E66-45E3-BC67-5748D396A822}" dt="2026-07-23T23:41:20.720" v="61" actId="403"/>
          <ac:spMkLst>
            <pc:docMk/>
            <pc:sldMk cId="382762830" sldId="261"/>
            <ac:spMk id="10" creationId="{BC5C300E-5EBE-4B5A-B98A-CD3A96756C7D}"/>
          </ac:spMkLst>
        </pc:spChg>
        <pc:spChg chg="mod">
          <ac:chgData name="Jack Schwartz" userId="891bdf3a3da27c76" providerId="LiveId" clId="{CC7C669E-3E66-45E3-BC67-5748D396A822}" dt="2026-07-23T23:41:22.890" v="62" actId="403"/>
          <ac:spMkLst>
            <pc:docMk/>
            <pc:sldMk cId="382762830" sldId="261"/>
            <ac:spMk id="13" creationId="{4D69B092-EACA-4249-AD72-B059B2D4F9A0}"/>
          </ac:spMkLst>
        </pc:spChg>
      </pc:sldChg>
      <pc:sldChg chg="modSp mod modNotesTx">
        <pc:chgData name="Jack Schwartz" userId="891bdf3a3da27c76" providerId="LiveId" clId="{CC7C669E-3E66-45E3-BC67-5748D396A822}" dt="2026-07-30T18:19:02.287" v="582" actId="20577"/>
        <pc:sldMkLst>
          <pc:docMk/>
          <pc:sldMk cId="1237891218" sldId="262"/>
        </pc:sldMkLst>
        <pc:spChg chg="mod">
          <ac:chgData name="Jack Schwartz" userId="891bdf3a3da27c76" providerId="LiveId" clId="{CC7C669E-3E66-45E3-BC67-5748D396A822}" dt="2026-07-23T23:58:33.851" v="79" actId="20577"/>
          <ac:spMkLst>
            <pc:docMk/>
            <pc:sldMk cId="1237891218" sldId="262"/>
            <ac:spMk id="8" creationId="{AAD23D41-5ACA-435E-A285-D12ACA3345E5}"/>
          </ac:spMkLst>
        </pc:spChg>
        <pc:spChg chg="mod">
          <ac:chgData name="Jack Schwartz" userId="891bdf3a3da27c76" providerId="LiveId" clId="{CC7C669E-3E66-45E3-BC67-5748D396A822}" dt="2026-07-23T23:58:50.979" v="129" actId="20577"/>
          <ac:spMkLst>
            <pc:docMk/>
            <pc:sldMk cId="1237891218" sldId="262"/>
            <ac:spMk id="9" creationId="{91FE0FB4-B9F7-47FE-9131-E5E5CE74EC82}"/>
          </ac:spMkLst>
        </pc:spChg>
      </pc:sldChg>
      <pc:sldChg chg="modSp mod modNotesTx">
        <pc:chgData name="Jack Schwartz" userId="891bdf3a3da27c76" providerId="LiveId" clId="{CC7C669E-3E66-45E3-BC67-5748D396A822}" dt="2026-07-30T18:19:04.261" v="583" actId="20577"/>
        <pc:sldMkLst>
          <pc:docMk/>
          <pc:sldMk cId="218772076" sldId="263"/>
        </pc:sldMkLst>
        <pc:spChg chg="mod">
          <ac:chgData name="Jack Schwartz" userId="891bdf3a3da27c76" providerId="LiveId" clId="{CC7C669E-3E66-45E3-BC67-5748D396A822}" dt="2026-07-23T23:59:28.490" v="141" actId="403"/>
          <ac:spMkLst>
            <pc:docMk/>
            <pc:sldMk cId="218772076" sldId="263"/>
            <ac:spMk id="6" creationId="{EA868966-9A45-404C-BEF3-1DE4BECF83FA}"/>
          </ac:spMkLst>
        </pc:spChg>
        <pc:spChg chg="mod">
          <ac:chgData name="Jack Schwartz" userId="891bdf3a3da27c76" providerId="LiveId" clId="{CC7C669E-3E66-45E3-BC67-5748D396A822}" dt="2026-07-23T23:59:25.414" v="139" actId="403"/>
          <ac:spMkLst>
            <pc:docMk/>
            <pc:sldMk cId="218772076" sldId="263"/>
            <ac:spMk id="9" creationId="{BEA3F6AC-2409-4F21-AE97-E0723865371B}"/>
          </ac:spMkLst>
        </pc:spChg>
        <pc:spChg chg="mod">
          <ac:chgData name="Jack Schwartz" userId="891bdf3a3da27c76" providerId="LiveId" clId="{CC7C669E-3E66-45E3-BC67-5748D396A822}" dt="2026-07-23T23:59:23.302" v="137" actId="403"/>
          <ac:spMkLst>
            <pc:docMk/>
            <pc:sldMk cId="218772076" sldId="263"/>
            <ac:spMk id="12" creationId="{2787C92D-5922-4F22-AD22-00F358BA5A80}"/>
          </ac:spMkLst>
        </pc:spChg>
        <pc:spChg chg="mod">
          <ac:chgData name="Jack Schwartz" userId="891bdf3a3da27c76" providerId="LiveId" clId="{CC7C669E-3E66-45E3-BC67-5748D396A822}" dt="2026-07-23T23:59:18.617" v="135" actId="403"/>
          <ac:spMkLst>
            <pc:docMk/>
            <pc:sldMk cId="218772076" sldId="263"/>
            <ac:spMk id="15" creationId="{1DD7AC32-EE11-4BCF-B835-8552A27230AE}"/>
          </ac:spMkLst>
        </pc:spChg>
        <pc:spChg chg="mod">
          <ac:chgData name="Jack Schwartz" userId="891bdf3a3da27c76" providerId="LiveId" clId="{CC7C669E-3E66-45E3-BC67-5748D396A822}" dt="2026-07-24T01:38:35.500" v="488" actId="20577"/>
          <ac:spMkLst>
            <pc:docMk/>
            <pc:sldMk cId="218772076" sldId="263"/>
            <ac:spMk id="18" creationId="{E389CF33-784D-41B3-A466-381C67CFABE9}"/>
          </ac:spMkLst>
        </pc:spChg>
        <pc:spChg chg="mod">
          <ac:chgData name="Jack Schwartz" userId="891bdf3a3da27c76" providerId="LiveId" clId="{CC7C669E-3E66-45E3-BC67-5748D396A822}" dt="2026-07-23T23:59:11.890" v="131" actId="403"/>
          <ac:spMkLst>
            <pc:docMk/>
            <pc:sldMk cId="218772076" sldId="263"/>
            <ac:spMk id="21" creationId="{438E1AF1-44CE-42E9-9902-206034EACB81}"/>
          </ac:spMkLst>
        </pc:spChg>
        <pc:spChg chg="mod">
          <ac:chgData name="Jack Schwartz" userId="891bdf3a3da27c76" providerId="LiveId" clId="{CC7C669E-3E66-45E3-BC67-5748D396A822}" dt="2026-07-23T23:59:30.899" v="142" actId="403"/>
          <ac:spMkLst>
            <pc:docMk/>
            <pc:sldMk cId="218772076" sldId="263"/>
            <ac:spMk id="23" creationId="{A536E135-0684-4F2C-9C46-E2E86B132BF0}"/>
          </ac:spMkLst>
        </pc:spChg>
        <pc:spChg chg="mod">
          <ac:chgData name="Jack Schwartz" userId="891bdf3a3da27c76" providerId="LiveId" clId="{CC7C669E-3E66-45E3-BC67-5748D396A822}" dt="2026-07-23T23:59:35.594" v="145" actId="403"/>
          <ac:spMkLst>
            <pc:docMk/>
            <pc:sldMk cId="218772076" sldId="263"/>
            <ac:spMk id="24" creationId="{BE8C9E08-7D01-4198-8821-D80CE480C444}"/>
          </ac:spMkLst>
        </pc:spChg>
      </pc:sldChg>
      <pc:sldChg chg="addSp delSp modSp mod modNotesTx">
        <pc:chgData name="Jack Schwartz" userId="891bdf3a3da27c76" providerId="LiveId" clId="{CC7C669E-3E66-45E3-BC67-5748D396A822}" dt="2026-07-30T18:19:06.163" v="584" actId="20577"/>
        <pc:sldMkLst>
          <pc:docMk/>
          <pc:sldMk cId="218772076" sldId="264"/>
        </pc:sldMkLst>
        <pc:spChg chg="mod">
          <ac:chgData name="Jack Schwartz" userId="891bdf3a3da27c76" providerId="LiveId" clId="{CC7C669E-3E66-45E3-BC67-5748D396A822}" dt="2026-07-24T00:04:33.318" v="399" actId="14100"/>
          <ac:spMkLst>
            <pc:docMk/>
            <pc:sldMk cId="218772076" sldId="264"/>
            <ac:spMk id="3" creationId="{E93F05CF-1964-4CF8-906A-D4AB038AA8BE}"/>
          </ac:spMkLst>
        </pc:spChg>
        <pc:spChg chg="mod">
          <ac:chgData name="Jack Schwartz" userId="891bdf3a3da27c76" providerId="LiveId" clId="{CC7C669E-3E66-45E3-BC67-5748D396A822}" dt="2026-07-24T00:04:33.318" v="399" actId="14100"/>
          <ac:spMkLst>
            <pc:docMk/>
            <pc:sldMk cId="218772076" sldId="264"/>
            <ac:spMk id="4" creationId="{384E1590-9191-418E-A236-DE99990C743E}"/>
          </ac:spMkLst>
        </pc:spChg>
        <pc:spChg chg="mod">
          <ac:chgData name="Jack Schwartz" userId="891bdf3a3da27c76" providerId="LiveId" clId="{CC7C669E-3E66-45E3-BC67-5748D396A822}" dt="2026-07-24T00:04:33.318" v="399" actId="14100"/>
          <ac:spMkLst>
            <pc:docMk/>
            <pc:sldMk cId="218772076" sldId="264"/>
            <ac:spMk id="5" creationId="{3ED7CD4F-9184-4C7C-B6A7-97F2B0965F33}"/>
          </ac:spMkLst>
        </pc:spChg>
        <pc:spChg chg="mod">
          <ac:chgData name="Jack Schwartz" userId="891bdf3a3da27c76" providerId="LiveId" clId="{CC7C669E-3E66-45E3-BC67-5748D396A822}" dt="2026-07-24T00:04:33.318" v="399" actId="14100"/>
          <ac:spMkLst>
            <pc:docMk/>
            <pc:sldMk cId="218772076" sldId="264"/>
            <ac:spMk id="7" creationId="{E8C9E9FB-DE8D-4B26-A252-B5F0656CE651}"/>
          </ac:spMkLst>
        </pc:spChg>
        <pc:spChg chg="mod">
          <ac:chgData name="Jack Schwartz" userId="891bdf3a3da27c76" providerId="LiveId" clId="{CC7C669E-3E66-45E3-BC67-5748D396A822}" dt="2026-07-24T00:02:24.539" v="225" actId="14100"/>
          <ac:spMkLst>
            <pc:docMk/>
            <pc:sldMk cId="218772076" sldId="264"/>
            <ac:spMk id="8" creationId="{EB09599A-0BDC-4D2C-8CEB-04CD023B87B1}"/>
          </ac:spMkLst>
        </pc:spChg>
        <pc:spChg chg="mod">
          <ac:chgData name="Jack Schwartz" userId="891bdf3a3da27c76" providerId="LiveId" clId="{CC7C669E-3E66-45E3-BC67-5748D396A822}" dt="2026-07-24T00:04:33.318" v="399" actId="14100"/>
          <ac:spMkLst>
            <pc:docMk/>
            <pc:sldMk cId="218772076" sldId="264"/>
            <ac:spMk id="10" creationId="{8BC5C28F-FCD2-411C-B31D-4327CBECB2BA}"/>
          </ac:spMkLst>
        </pc:spChg>
        <pc:spChg chg="mod">
          <ac:chgData name="Jack Schwartz" userId="891bdf3a3da27c76" providerId="LiveId" clId="{CC7C669E-3E66-45E3-BC67-5748D396A822}" dt="2026-07-24T00:04:33.318" v="399" actId="14100"/>
          <ac:spMkLst>
            <pc:docMk/>
            <pc:sldMk cId="218772076" sldId="264"/>
            <ac:spMk id="11" creationId="{E237F5B5-6A40-4BDC-BAB7-9A3B6E478052}"/>
          </ac:spMkLst>
        </pc:spChg>
        <pc:spChg chg="mod">
          <ac:chgData name="Jack Schwartz" userId="891bdf3a3da27c76" providerId="LiveId" clId="{CC7C669E-3E66-45E3-BC67-5748D396A822}" dt="2026-07-24T00:04:33.318" v="399" actId="14100"/>
          <ac:spMkLst>
            <pc:docMk/>
            <pc:sldMk cId="218772076" sldId="264"/>
            <ac:spMk id="13" creationId="{49B6C25D-80AD-4BCA-B581-206AF7870DC7}"/>
          </ac:spMkLst>
        </pc:spChg>
        <pc:spChg chg="mod">
          <ac:chgData name="Jack Schwartz" userId="891bdf3a3da27c76" providerId="LiveId" clId="{CC7C669E-3E66-45E3-BC67-5748D396A822}" dt="2026-07-24T00:04:33.318" v="399" actId="14100"/>
          <ac:spMkLst>
            <pc:docMk/>
            <pc:sldMk cId="218772076" sldId="264"/>
            <ac:spMk id="14" creationId="{CAFFD34A-E05D-4599-A221-03E3928C1008}"/>
          </ac:spMkLst>
        </pc:spChg>
        <pc:spChg chg="mod">
          <ac:chgData name="Jack Schwartz" userId="891bdf3a3da27c76" providerId="LiveId" clId="{CC7C669E-3E66-45E3-BC67-5748D396A822}" dt="2026-07-24T00:04:33.318" v="399" actId="14100"/>
          <ac:spMkLst>
            <pc:docMk/>
            <pc:sldMk cId="218772076" sldId="264"/>
            <ac:spMk id="16" creationId="{02C8B668-DF5F-49E8-A501-235E7ADEE147}"/>
          </ac:spMkLst>
        </pc:spChg>
        <pc:spChg chg="mod">
          <ac:chgData name="Jack Schwartz" userId="891bdf3a3da27c76" providerId="LiveId" clId="{CC7C669E-3E66-45E3-BC67-5748D396A822}" dt="2026-07-24T00:04:51.293" v="406" actId="14100"/>
          <ac:spMkLst>
            <pc:docMk/>
            <pc:sldMk cId="218772076" sldId="264"/>
            <ac:spMk id="17" creationId="{516D8B01-CDD6-471B-BEA4-18C3A1785070}"/>
          </ac:spMkLst>
        </pc:spChg>
        <pc:spChg chg="mod">
          <ac:chgData name="Jack Schwartz" userId="891bdf3a3da27c76" providerId="LiveId" clId="{CC7C669E-3E66-45E3-BC67-5748D396A822}" dt="2026-07-24T00:04:33.318" v="399" actId="14100"/>
          <ac:spMkLst>
            <pc:docMk/>
            <pc:sldMk cId="218772076" sldId="264"/>
            <ac:spMk id="19" creationId="{F9FD5DAA-782A-4A52-B94E-6845F2BE58A1}"/>
          </ac:spMkLst>
        </pc:spChg>
        <pc:spChg chg="mod">
          <ac:chgData name="Jack Schwartz" userId="891bdf3a3da27c76" providerId="LiveId" clId="{CC7C669E-3E66-45E3-BC67-5748D396A822}" dt="2026-07-24T00:04:41.610" v="402" actId="14100"/>
          <ac:spMkLst>
            <pc:docMk/>
            <pc:sldMk cId="218772076" sldId="264"/>
            <ac:spMk id="20" creationId="{4A3A4EE0-C1F0-41FE-AAE6-6644B9E37E3A}"/>
          </ac:spMkLst>
        </pc:spChg>
        <pc:spChg chg="mod">
          <ac:chgData name="Jack Schwartz" userId="891bdf3a3da27c76" providerId="LiveId" clId="{CC7C669E-3E66-45E3-BC67-5748D396A822}" dt="2026-07-24T00:04:05.371" v="350" actId="20577"/>
          <ac:spMkLst>
            <pc:docMk/>
            <pc:sldMk cId="218772076" sldId="264"/>
            <ac:spMk id="21" creationId="{438E1AF1-44CE-42E9-9902-206034EACB81}"/>
          </ac:spMkLst>
        </pc:spChg>
        <pc:spChg chg="mod">
          <ac:chgData name="Jack Schwartz" userId="891bdf3a3da27c76" providerId="LiveId" clId="{CC7C669E-3E66-45E3-BC67-5748D396A822}" dt="2026-07-24T00:04:56.592" v="407" actId="403"/>
          <ac:spMkLst>
            <pc:docMk/>
            <pc:sldMk cId="218772076" sldId="264"/>
            <ac:spMk id="23" creationId="{A536E135-0684-4F2C-9C46-E2E86B132BF0}"/>
          </ac:spMkLst>
        </pc:spChg>
      </pc:sldChg>
      <pc:sldChg chg="modSp mod modNotesTx">
        <pc:chgData name="Jack Schwartz" userId="891bdf3a3da27c76" providerId="LiveId" clId="{CC7C669E-3E66-45E3-BC67-5748D396A822}" dt="2026-07-30T18:19:08.397" v="585" actId="20577"/>
        <pc:sldMkLst>
          <pc:docMk/>
          <pc:sldMk cId="218772076" sldId="265"/>
        </pc:sldMkLst>
        <pc:spChg chg="mod">
          <ac:chgData name="Jack Schwartz" userId="891bdf3a3da27c76" providerId="LiveId" clId="{CC7C669E-3E66-45E3-BC67-5748D396A822}" dt="2026-07-24T00:07:30.807" v="410" actId="1076"/>
          <ac:spMkLst>
            <pc:docMk/>
            <pc:sldMk cId="218772076" sldId="265"/>
            <ac:spMk id="3" creationId="{E93F05CF-1964-4CF8-906A-D4AB038AA8BE}"/>
          </ac:spMkLst>
        </pc:spChg>
        <pc:spChg chg="mod">
          <ac:chgData name="Jack Schwartz" userId="891bdf3a3da27c76" providerId="LiveId" clId="{CC7C669E-3E66-45E3-BC67-5748D396A822}" dt="2026-07-24T00:07:38.623" v="413" actId="403"/>
          <ac:spMkLst>
            <pc:docMk/>
            <pc:sldMk cId="218772076" sldId="265"/>
            <ac:spMk id="6" creationId="{EA868966-9A45-404C-BEF3-1DE4BECF83FA}"/>
          </ac:spMkLst>
        </pc:spChg>
        <pc:spChg chg="mod">
          <ac:chgData name="Jack Schwartz" userId="891bdf3a3da27c76" providerId="LiveId" clId="{CC7C669E-3E66-45E3-BC67-5748D396A822}" dt="2026-07-24T00:07:38.623" v="413" actId="403"/>
          <ac:spMkLst>
            <pc:docMk/>
            <pc:sldMk cId="218772076" sldId="265"/>
            <ac:spMk id="9" creationId="{BEA3F6AC-2409-4F21-AE97-E0723865371B}"/>
          </ac:spMkLst>
        </pc:spChg>
        <pc:spChg chg="mod">
          <ac:chgData name="Jack Schwartz" userId="891bdf3a3da27c76" providerId="LiveId" clId="{CC7C669E-3E66-45E3-BC67-5748D396A822}" dt="2026-07-24T00:07:38.623" v="413" actId="403"/>
          <ac:spMkLst>
            <pc:docMk/>
            <pc:sldMk cId="218772076" sldId="265"/>
            <ac:spMk id="12" creationId="{2787C92D-5922-4F22-AD22-00F358BA5A80}"/>
          </ac:spMkLst>
        </pc:spChg>
        <pc:spChg chg="mod">
          <ac:chgData name="Jack Schwartz" userId="891bdf3a3da27c76" providerId="LiveId" clId="{CC7C669E-3E66-45E3-BC67-5748D396A822}" dt="2026-07-24T00:07:38.623" v="413" actId="403"/>
          <ac:spMkLst>
            <pc:docMk/>
            <pc:sldMk cId="218772076" sldId="265"/>
            <ac:spMk id="15" creationId="{1DD7AC32-EE11-4BCF-B835-8552A27230AE}"/>
          </ac:spMkLst>
        </pc:spChg>
        <pc:spChg chg="mod">
          <ac:chgData name="Jack Schwartz" userId="891bdf3a3da27c76" providerId="LiveId" clId="{CC7C669E-3E66-45E3-BC67-5748D396A822}" dt="2026-07-24T00:07:38.623" v="413" actId="403"/>
          <ac:spMkLst>
            <pc:docMk/>
            <pc:sldMk cId="218772076" sldId="265"/>
            <ac:spMk id="22" creationId="{628409CD-4109-4335-888A-65A9EC1729EC}"/>
          </ac:spMkLst>
        </pc:spChg>
        <pc:spChg chg="mod">
          <ac:chgData name="Jack Schwartz" userId="891bdf3a3da27c76" providerId="LiveId" clId="{CC7C669E-3E66-45E3-BC67-5748D396A822}" dt="2026-07-24T00:07:38.623" v="413" actId="403"/>
          <ac:spMkLst>
            <pc:docMk/>
            <pc:sldMk cId="218772076" sldId="265"/>
            <ac:spMk id="23" creationId="{A536E135-0684-4F2C-9C46-E2E86B132BF0}"/>
          </ac:spMkLst>
        </pc:spChg>
        <pc:spChg chg="mod">
          <ac:chgData name="Jack Schwartz" userId="891bdf3a3da27c76" providerId="LiveId" clId="{CC7C669E-3E66-45E3-BC67-5748D396A822}" dt="2026-07-24T00:07:48.664" v="417" actId="14100"/>
          <ac:spMkLst>
            <pc:docMk/>
            <pc:sldMk cId="218772076" sldId="265"/>
            <ac:spMk id="24" creationId="{BE8C9E08-7D01-4198-8821-D80CE480C444}"/>
          </ac:spMkLst>
        </pc:spChg>
      </pc:sldChg>
      <pc:sldChg chg="modNotesTx">
        <pc:chgData name="Jack Schwartz" userId="891bdf3a3da27c76" providerId="LiveId" clId="{CC7C669E-3E66-45E3-BC67-5748D396A822}" dt="2026-07-30T18:19:10.804" v="586" actId="20577"/>
        <pc:sldMkLst>
          <pc:docMk/>
          <pc:sldMk cId="1237891218" sldId="266"/>
        </pc:sldMkLst>
      </pc:sldChg>
      <pc:sldChg chg="modSp mod modNotesTx">
        <pc:chgData name="Jack Schwartz" userId="891bdf3a3da27c76" providerId="LiveId" clId="{CC7C669E-3E66-45E3-BC67-5748D396A822}" dt="2026-07-30T18:19:13.313" v="587" actId="20577"/>
        <pc:sldMkLst>
          <pc:docMk/>
          <pc:sldMk cId="1351773212" sldId="267"/>
        </pc:sldMkLst>
        <pc:spChg chg="mod">
          <ac:chgData name="Jack Schwartz" userId="891bdf3a3da27c76" providerId="LiveId" clId="{CC7C669E-3E66-45E3-BC67-5748D396A822}" dt="2026-07-24T01:46:41.341" v="500" actId="20577"/>
          <ac:spMkLst>
            <pc:docMk/>
            <pc:sldMk cId="1351773212" sldId="267"/>
            <ac:spMk id="7" creationId="{99538D64-2E3B-4DDB-BEE3-5B848354BCB1}"/>
          </ac:spMkLst>
        </pc:spChg>
      </pc:sldChg>
      <pc:sldChg chg="modSp mod modNotesTx">
        <pc:chgData name="Jack Schwartz" userId="891bdf3a3da27c76" providerId="LiveId" clId="{CC7C669E-3E66-45E3-BC67-5748D396A822}" dt="2026-07-24T04:04:47.901" v="564" actId="20577"/>
        <pc:sldMkLst>
          <pc:docMk/>
          <pc:sldMk cId="2048515028" sldId="268"/>
        </pc:sldMkLst>
        <pc:spChg chg="mod">
          <ac:chgData name="Jack Schwartz" userId="891bdf3a3da27c76" providerId="LiveId" clId="{CC7C669E-3E66-45E3-BC67-5748D396A822}" dt="2026-07-24T00:16:43.045" v="420" actId="1076"/>
          <ac:spMkLst>
            <pc:docMk/>
            <pc:sldMk cId="2048515028" sldId="268"/>
            <ac:spMk id="5" creationId="{ABFAC673-A25A-4055-B43E-821DDBEA4757}"/>
          </ac:spMkLst>
        </pc:spChg>
        <pc:spChg chg="mod">
          <ac:chgData name="Jack Schwartz" userId="891bdf3a3da27c76" providerId="LiveId" clId="{CC7C669E-3E66-45E3-BC67-5748D396A822}" dt="2026-07-24T00:16:49.301" v="422" actId="403"/>
          <ac:spMkLst>
            <pc:docMk/>
            <pc:sldMk cId="2048515028" sldId="268"/>
            <ac:spMk id="7" creationId="{34306231-8C8C-4AAF-960D-2416265C46AB}"/>
          </ac:spMkLst>
        </pc:spChg>
        <pc:spChg chg="mod">
          <ac:chgData name="Jack Schwartz" userId="891bdf3a3da27c76" providerId="LiveId" clId="{CC7C669E-3E66-45E3-BC67-5748D396A822}" dt="2026-07-24T00:16:52.572" v="424" actId="403"/>
          <ac:spMkLst>
            <pc:docMk/>
            <pc:sldMk cId="2048515028" sldId="268"/>
            <ac:spMk id="10" creationId="{64B8CC4D-5866-4D63-90F3-EB45CA563C9F}"/>
          </ac:spMkLst>
        </pc:spChg>
        <pc:spChg chg="mod">
          <ac:chgData name="Jack Schwartz" userId="891bdf3a3da27c76" providerId="LiveId" clId="{CC7C669E-3E66-45E3-BC67-5748D396A822}" dt="2026-07-24T00:16:56.814" v="427" actId="403"/>
          <ac:spMkLst>
            <pc:docMk/>
            <pc:sldMk cId="2048515028" sldId="268"/>
            <ac:spMk id="13" creationId="{613DDA21-7EE2-43B3-89B1-906DBBA3BA91}"/>
          </ac:spMkLst>
        </pc:spChg>
      </pc:sldChg>
      <pc:sldChg chg="modSp mod modNotesTx">
        <pc:chgData name="Jack Schwartz" userId="891bdf3a3da27c76" providerId="LiveId" clId="{CC7C669E-3E66-45E3-BC67-5748D396A822}" dt="2026-07-30T18:19:18.743" v="588" actId="20577"/>
        <pc:sldMkLst>
          <pc:docMk/>
          <pc:sldMk cId="2048515028" sldId="269"/>
        </pc:sldMkLst>
        <pc:spChg chg="mod">
          <ac:chgData name="Jack Schwartz" userId="891bdf3a3da27c76" providerId="LiveId" clId="{CC7C669E-3E66-45E3-BC67-5748D396A822}" dt="2026-07-24T00:17:04.278" v="429" actId="403"/>
          <ac:spMkLst>
            <pc:docMk/>
            <pc:sldMk cId="2048515028" sldId="269"/>
            <ac:spMk id="7" creationId="{34306231-8C8C-4AAF-960D-2416265C46AB}"/>
          </ac:spMkLst>
        </pc:spChg>
        <pc:spChg chg="mod">
          <ac:chgData name="Jack Schwartz" userId="891bdf3a3da27c76" providerId="LiveId" clId="{CC7C669E-3E66-45E3-BC67-5748D396A822}" dt="2026-07-24T00:17:07.302" v="431" actId="403"/>
          <ac:spMkLst>
            <pc:docMk/>
            <pc:sldMk cId="2048515028" sldId="269"/>
            <ac:spMk id="10" creationId="{64B8CC4D-5866-4D63-90F3-EB45CA563C9F}"/>
          </ac:spMkLst>
        </pc:spChg>
        <pc:spChg chg="mod">
          <ac:chgData name="Jack Schwartz" userId="891bdf3a3da27c76" providerId="LiveId" clId="{CC7C669E-3E66-45E3-BC67-5748D396A822}" dt="2026-07-24T00:17:09.905" v="433" actId="403"/>
          <ac:spMkLst>
            <pc:docMk/>
            <pc:sldMk cId="2048515028" sldId="269"/>
            <ac:spMk id="13" creationId="{613DDA21-7EE2-43B3-89B1-906DBBA3BA91}"/>
          </ac:spMkLst>
        </pc:spChg>
      </pc:sldChg>
      <pc:sldChg chg="modSp mod modNotesTx">
        <pc:chgData name="Jack Schwartz" userId="891bdf3a3da27c76" providerId="LiveId" clId="{CC7C669E-3E66-45E3-BC67-5748D396A822}" dt="2026-07-30T18:19:21.657" v="589" actId="20577"/>
        <pc:sldMkLst>
          <pc:docMk/>
          <pc:sldMk cId="506791432" sldId="270"/>
        </pc:sldMkLst>
        <pc:spChg chg="mod">
          <ac:chgData name="Jack Schwartz" userId="891bdf3a3da27c76" providerId="LiveId" clId="{CC7C669E-3E66-45E3-BC67-5748D396A822}" dt="2026-07-24T01:53:31.371" v="504" actId="20577"/>
          <ac:spMkLst>
            <pc:docMk/>
            <pc:sldMk cId="506791432" sldId="270"/>
            <ac:spMk id="2" creationId="{A1E7096B-C0C4-46DB-87E8-4AE8C5162260}"/>
          </ac:spMkLst>
        </pc:spChg>
        <pc:spChg chg="mod">
          <ac:chgData name="Jack Schwartz" userId="891bdf3a3da27c76" providerId="LiveId" clId="{CC7C669E-3E66-45E3-BC67-5748D396A822}" dt="2026-07-24T00:21:01.860" v="436" actId="403"/>
          <ac:spMkLst>
            <pc:docMk/>
            <pc:sldMk cId="506791432" sldId="270"/>
            <ac:spMk id="7" creationId="{5B0669F5-7BDF-4DE4-B5CB-CA239623F5CE}"/>
          </ac:spMkLst>
        </pc:spChg>
        <pc:spChg chg="mod">
          <ac:chgData name="Jack Schwartz" userId="891bdf3a3da27c76" providerId="LiveId" clId="{CC7C669E-3E66-45E3-BC67-5748D396A822}" dt="2026-07-24T00:21:11.598" v="437" actId="403"/>
          <ac:spMkLst>
            <pc:docMk/>
            <pc:sldMk cId="506791432" sldId="270"/>
            <ac:spMk id="10" creationId="{4D322B93-994B-4010-A230-3B0A81544C1F}"/>
          </ac:spMkLst>
        </pc:spChg>
        <pc:spChg chg="mod">
          <ac:chgData name="Jack Schwartz" userId="891bdf3a3da27c76" providerId="LiveId" clId="{CC7C669E-3E66-45E3-BC67-5748D396A822}" dt="2026-07-24T00:21:19.579" v="438" actId="1076"/>
          <ac:spMkLst>
            <pc:docMk/>
            <pc:sldMk cId="506791432" sldId="270"/>
            <ac:spMk id="11" creationId="{AE5467C1-30C1-48E7-946E-6F8432FF3BA5}"/>
          </ac:spMkLst>
        </pc:spChg>
        <pc:spChg chg="mod">
          <ac:chgData name="Jack Schwartz" userId="891bdf3a3da27c76" providerId="LiveId" clId="{CC7C669E-3E66-45E3-BC67-5748D396A822}" dt="2026-07-24T00:21:22.656" v="439" actId="403"/>
          <ac:spMkLst>
            <pc:docMk/>
            <pc:sldMk cId="506791432" sldId="270"/>
            <ac:spMk id="13" creationId="{04744E39-506B-4B3C-88E9-CEA56B0CC8B2}"/>
          </ac:spMkLst>
        </pc:spChg>
      </pc:sldChg>
      <pc:sldChg chg="modNotesTx">
        <pc:chgData name="Jack Schwartz" userId="891bdf3a3da27c76" providerId="LiveId" clId="{CC7C669E-3E66-45E3-BC67-5748D396A822}" dt="2026-07-30T18:19:23.938" v="590" actId="20577"/>
        <pc:sldMkLst>
          <pc:docMk/>
          <pc:sldMk cId="1351773212" sldId="271"/>
        </pc:sldMkLst>
      </pc:sldChg>
      <pc:sldChg chg="modSp mod modNotesTx">
        <pc:chgData name="Jack Schwartz" userId="891bdf3a3da27c76" providerId="LiveId" clId="{CC7C669E-3E66-45E3-BC67-5748D396A822}" dt="2026-07-30T18:19:26.084" v="591" actId="20577"/>
        <pc:sldMkLst>
          <pc:docMk/>
          <pc:sldMk cId="2048515028" sldId="272"/>
        </pc:sldMkLst>
        <pc:spChg chg="mod">
          <ac:chgData name="Jack Schwartz" userId="891bdf3a3da27c76" providerId="LiveId" clId="{CC7C669E-3E66-45E3-BC67-5748D396A822}" dt="2026-07-24T00:23:47.582" v="449" actId="403"/>
          <ac:spMkLst>
            <pc:docMk/>
            <pc:sldMk cId="2048515028" sldId="272"/>
            <ac:spMk id="6" creationId="{8C03335C-90D0-48DE-918E-553E4CC1CBC0}"/>
          </ac:spMkLst>
        </pc:spChg>
        <pc:spChg chg="mod">
          <ac:chgData name="Jack Schwartz" userId="891bdf3a3da27c76" providerId="LiveId" clId="{CC7C669E-3E66-45E3-BC67-5748D396A822}" dt="2026-07-24T00:23:35.615" v="441" actId="403"/>
          <ac:spMkLst>
            <pc:docMk/>
            <pc:sldMk cId="2048515028" sldId="272"/>
            <ac:spMk id="7" creationId="{34306231-8C8C-4AAF-960D-2416265C46AB}"/>
          </ac:spMkLst>
        </pc:spChg>
        <pc:spChg chg="mod">
          <ac:chgData name="Jack Schwartz" userId="891bdf3a3da27c76" providerId="LiveId" clId="{CC7C669E-3E66-45E3-BC67-5748D396A822}" dt="2026-07-24T00:23:53.638" v="451" actId="403"/>
          <ac:spMkLst>
            <pc:docMk/>
            <pc:sldMk cId="2048515028" sldId="272"/>
            <ac:spMk id="9" creationId="{A884A5A5-C3EC-4F7B-90A0-4EBFCA8FC0EC}"/>
          </ac:spMkLst>
        </pc:spChg>
        <pc:spChg chg="mod">
          <ac:chgData name="Jack Schwartz" userId="891bdf3a3da27c76" providerId="LiveId" clId="{CC7C669E-3E66-45E3-BC67-5748D396A822}" dt="2026-07-24T00:23:43.304" v="445" actId="403"/>
          <ac:spMkLst>
            <pc:docMk/>
            <pc:sldMk cId="2048515028" sldId="272"/>
            <ac:spMk id="10" creationId="{64B8CC4D-5866-4D63-90F3-EB45CA563C9F}"/>
          </ac:spMkLst>
        </pc:spChg>
        <pc:spChg chg="mod">
          <ac:chgData name="Jack Schwartz" userId="891bdf3a3da27c76" providerId="LiveId" clId="{CC7C669E-3E66-45E3-BC67-5748D396A822}" dt="2026-07-24T00:23:50.878" v="450" actId="403"/>
          <ac:spMkLst>
            <pc:docMk/>
            <pc:sldMk cId="2048515028" sldId="272"/>
            <ac:spMk id="12" creationId="{5E14DEF1-A419-4745-AE2F-A08C29F2F64D}"/>
          </ac:spMkLst>
        </pc:spChg>
        <pc:spChg chg="mod">
          <ac:chgData name="Jack Schwartz" userId="891bdf3a3da27c76" providerId="LiveId" clId="{CC7C669E-3E66-45E3-BC67-5748D396A822}" dt="2026-07-24T00:23:38.977" v="443" actId="403"/>
          <ac:spMkLst>
            <pc:docMk/>
            <pc:sldMk cId="2048515028" sldId="272"/>
            <ac:spMk id="13" creationId="{613DDA21-7EE2-43B3-89B1-906DBBA3BA91}"/>
          </ac:spMkLst>
        </pc:spChg>
      </pc:sldChg>
      <pc:sldChg chg="modSp mod modNotesTx">
        <pc:chgData name="Jack Schwartz" userId="891bdf3a3da27c76" providerId="LiveId" clId="{CC7C669E-3E66-45E3-BC67-5748D396A822}" dt="2026-07-30T18:19:28.257" v="592" actId="20577"/>
        <pc:sldMkLst>
          <pc:docMk/>
          <pc:sldMk cId="2048515028" sldId="273"/>
        </pc:sldMkLst>
        <pc:spChg chg="mod">
          <ac:chgData name="Jack Schwartz" userId="891bdf3a3da27c76" providerId="LiveId" clId="{CC7C669E-3E66-45E3-BC67-5748D396A822}" dt="2026-07-24T00:27:16.217" v="453" actId="403"/>
          <ac:spMkLst>
            <pc:docMk/>
            <pc:sldMk cId="2048515028" sldId="273"/>
            <ac:spMk id="7" creationId="{34306231-8C8C-4AAF-960D-2416265C46AB}"/>
          </ac:spMkLst>
        </pc:spChg>
        <pc:spChg chg="mod">
          <ac:chgData name="Jack Schwartz" userId="891bdf3a3da27c76" providerId="LiveId" clId="{CC7C669E-3E66-45E3-BC67-5748D396A822}" dt="2026-07-24T00:27:19.099" v="454" actId="403"/>
          <ac:spMkLst>
            <pc:docMk/>
            <pc:sldMk cId="2048515028" sldId="273"/>
            <ac:spMk id="10" creationId="{64B8CC4D-5866-4D63-90F3-EB45CA563C9F}"/>
          </ac:spMkLst>
        </pc:spChg>
        <pc:spChg chg="mod">
          <ac:chgData name="Jack Schwartz" userId="891bdf3a3da27c76" providerId="LiveId" clId="{CC7C669E-3E66-45E3-BC67-5748D396A822}" dt="2026-07-24T00:27:21.425" v="455" actId="403"/>
          <ac:spMkLst>
            <pc:docMk/>
            <pc:sldMk cId="2048515028" sldId="273"/>
            <ac:spMk id="13" creationId="{613DDA21-7EE2-43B3-89B1-906DBBA3BA91}"/>
          </ac:spMkLst>
        </pc:spChg>
      </pc:sldChg>
      <pc:sldChg chg="modSp mod modNotesTx">
        <pc:chgData name="Jack Schwartz" userId="891bdf3a3da27c76" providerId="LiveId" clId="{CC7C669E-3E66-45E3-BC67-5748D396A822}" dt="2026-07-30T18:19:30.287" v="593" actId="20577"/>
        <pc:sldMkLst>
          <pc:docMk/>
          <pc:sldMk cId="2048515028" sldId="274"/>
        </pc:sldMkLst>
        <pc:spChg chg="mod">
          <ac:chgData name="Jack Schwartz" userId="891bdf3a3da27c76" providerId="LiveId" clId="{CC7C669E-3E66-45E3-BC67-5748D396A822}" dt="2026-07-24T00:36:57.062" v="458" actId="404"/>
          <ac:spMkLst>
            <pc:docMk/>
            <pc:sldMk cId="2048515028" sldId="274"/>
            <ac:spMk id="7" creationId="{34306231-8C8C-4AAF-960D-2416265C46AB}"/>
          </ac:spMkLst>
        </pc:spChg>
        <pc:spChg chg="mod">
          <ac:chgData name="Jack Schwartz" userId="891bdf3a3da27c76" providerId="LiveId" clId="{CC7C669E-3E66-45E3-BC67-5748D396A822}" dt="2026-07-24T00:37:10.731" v="461" actId="404"/>
          <ac:spMkLst>
            <pc:docMk/>
            <pc:sldMk cId="2048515028" sldId="274"/>
            <ac:spMk id="10" creationId="{64B8CC4D-5866-4D63-90F3-EB45CA563C9F}"/>
          </ac:spMkLst>
        </pc:spChg>
        <pc:spChg chg="mod">
          <ac:chgData name="Jack Schwartz" userId="891bdf3a3da27c76" providerId="LiveId" clId="{CC7C669E-3E66-45E3-BC67-5748D396A822}" dt="2026-07-24T00:37:14.127" v="464" actId="404"/>
          <ac:spMkLst>
            <pc:docMk/>
            <pc:sldMk cId="2048515028" sldId="274"/>
            <ac:spMk id="13" creationId="{613DDA21-7EE2-43B3-89B1-906DBBA3BA91}"/>
          </ac:spMkLst>
        </pc:spChg>
      </pc:sldChg>
      <pc:sldChg chg="modNotesTx">
        <pc:chgData name="Jack Schwartz" userId="891bdf3a3da27c76" providerId="LiveId" clId="{CC7C669E-3E66-45E3-BC67-5748D396A822}" dt="2026-07-30T18:19:36.484" v="595" actId="20577"/>
        <pc:sldMkLst>
          <pc:docMk/>
          <pc:sldMk cId="986915771" sldId="275"/>
        </pc:sldMkLst>
      </pc:sldChg>
      <pc:sldChg chg="modNotesTx">
        <pc:chgData name="Jack Schwartz" userId="891bdf3a3da27c76" providerId="LiveId" clId="{CC7C669E-3E66-45E3-BC67-5748D396A822}" dt="2026-07-30T18:19:38.376" v="596" actId="20577"/>
        <pc:sldMkLst>
          <pc:docMk/>
          <pc:sldMk cId="1237891218" sldId="276"/>
        </pc:sldMkLst>
      </pc:sldChg>
      <pc:sldChg chg="modNotesTx">
        <pc:chgData name="Jack Schwartz" userId="891bdf3a3da27c76" providerId="LiveId" clId="{CC7C669E-3E66-45E3-BC67-5748D396A822}" dt="2026-07-30T18:19:40.523" v="597" actId="20577"/>
        <pc:sldMkLst>
          <pc:docMk/>
          <pc:sldMk cId="1237891218" sldId="277"/>
        </pc:sldMkLst>
      </pc:sldChg>
      <pc:sldChg chg="modSp mod modNotesTx">
        <pc:chgData name="Jack Schwartz" userId="891bdf3a3da27c76" providerId="LiveId" clId="{CC7C669E-3E66-45E3-BC67-5748D396A822}" dt="2026-07-30T18:19:45.785" v="599" actId="20577"/>
        <pc:sldMkLst>
          <pc:docMk/>
          <pc:sldMk cId="986915771" sldId="278"/>
        </pc:sldMkLst>
        <pc:picChg chg="mod">
          <ac:chgData name="Jack Schwartz" userId="891bdf3a3da27c76" providerId="LiveId" clId="{CC7C669E-3E66-45E3-BC67-5748D396A822}" dt="2026-07-24T00:10:03.891" v="419" actId="1076"/>
          <ac:picMkLst>
            <pc:docMk/>
            <pc:sldMk cId="986915771" sldId="278"/>
            <ac:picMk id="31" creationId="{00000000-0000-0000-0000-000000000000}"/>
          </ac:picMkLst>
        </pc:picChg>
      </pc:sldChg>
      <pc:sldChg chg="modSp mod ord modNotesTx">
        <pc:chgData name="Jack Schwartz" userId="891bdf3a3da27c76" providerId="LiveId" clId="{CC7C669E-3E66-45E3-BC67-5748D396A822}" dt="2026-07-30T18:19:42.648" v="598" actId="20577"/>
        <pc:sldMkLst>
          <pc:docMk/>
          <pc:sldMk cId="986915771" sldId="279"/>
        </pc:sldMkLst>
        <pc:picChg chg="mod">
          <ac:chgData name="Jack Schwartz" userId="891bdf3a3da27c76" providerId="LiveId" clId="{CC7C669E-3E66-45E3-BC67-5748D396A822}" dt="2026-07-24T00:41:51.804" v="473" actId="1076"/>
          <ac:picMkLst>
            <pc:docMk/>
            <pc:sldMk cId="986915771" sldId="279"/>
            <ac:picMk id="31" creationId="{00000000-0000-0000-0000-000000000000}"/>
          </ac:picMkLst>
        </pc:picChg>
      </pc:sldChg>
      <pc:sldChg chg="modNotesTx">
        <pc:chgData name="Jack Schwartz" userId="891bdf3a3da27c76" providerId="LiveId" clId="{CC7C669E-3E66-45E3-BC67-5748D396A822}" dt="2026-07-30T18:19:48.076" v="600" actId="20577"/>
        <pc:sldMkLst>
          <pc:docMk/>
          <pc:sldMk cId="986915771" sldId="280"/>
        </pc:sldMkLst>
      </pc:sldChg>
      <pc:sldChg chg="modNotesTx">
        <pc:chgData name="Jack Schwartz" userId="891bdf3a3da27c76" providerId="LiveId" clId="{CC7C669E-3E66-45E3-BC67-5748D396A822}" dt="2026-07-30T18:19:50.526" v="601" actId="20577"/>
        <pc:sldMkLst>
          <pc:docMk/>
          <pc:sldMk cId="986915771" sldId="281"/>
        </pc:sldMkLst>
      </pc:sldChg>
      <pc:sldChg chg="modNotesTx">
        <pc:chgData name="Jack Schwartz" userId="891bdf3a3da27c76" providerId="LiveId" clId="{CC7C669E-3E66-45E3-BC67-5748D396A822}" dt="2026-07-30T18:19:52.850" v="602" actId="20577"/>
        <pc:sldMkLst>
          <pc:docMk/>
          <pc:sldMk cId="986915771" sldId="282"/>
        </pc:sldMkLst>
      </pc:sldChg>
      <pc:sldChg chg="modNotesTx">
        <pc:chgData name="Jack Schwartz" userId="891bdf3a3da27c76" providerId="LiveId" clId="{CC7C669E-3E66-45E3-BC67-5748D396A822}" dt="2026-07-30T18:19:54.748" v="603" actId="20577"/>
        <pc:sldMkLst>
          <pc:docMk/>
          <pc:sldMk cId="986915771" sldId="283"/>
        </pc:sldMkLst>
      </pc:sldChg>
      <pc:sldChg chg="modSp mod modNotesTx">
        <pc:chgData name="Jack Schwartz" userId="891bdf3a3da27c76" providerId="LiveId" clId="{CC7C669E-3E66-45E3-BC67-5748D396A822}" dt="2026-07-30T18:19:56.743" v="604" actId="20577"/>
        <pc:sldMkLst>
          <pc:docMk/>
          <pc:sldMk cId="2048515028" sldId="284"/>
        </pc:sldMkLst>
        <pc:spChg chg="mod">
          <ac:chgData name="Jack Schwartz" userId="891bdf3a3da27c76" providerId="LiveId" clId="{CC7C669E-3E66-45E3-BC67-5748D396A822}" dt="2026-07-24T00:46:53.813" v="477" actId="403"/>
          <ac:spMkLst>
            <pc:docMk/>
            <pc:sldMk cId="2048515028" sldId="284"/>
            <ac:spMk id="7" creationId="{34306231-8C8C-4AAF-960D-2416265C46AB}"/>
          </ac:spMkLst>
        </pc:spChg>
        <pc:spChg chg="mod">
          <ac:chgData name="Jack Schwartz" userId="891bdf3a3da27c76" providerId="LiveId" clId="{CC7C669E-3E66-45E3-BC67-5748D396A822}" dt="2026-07-24T00:46:49.816" v="476" actId="403"/>
          <ac:spMkLst>
            <pc:docMk/>
            <pc:sldMk cId="2048515028" sldId="284"/>
            <ac:spMk id="10" creationId="{64B8CC4D-5866-4D63-90F3-EB45CA563C9F}"/>
          </ac:spMkLst>
        </pc:spChg>
        <pc:spChg chg="mod">
          <ac:chgData name="Jack Schwartz" userId="891bdf3a3da27c76" providerId="LiveId" clId="{CC7C669E-3E66-45E3-BC67-5748D396A822}" dt="2026-07-24T00:47:03.082" v="478" actId="403"/>
          <ac:spMkLst>
            <pc:docMk/>
            <pc:sldMk cId="2048515028" sldId="284"/>
            <ac:spMk id="13" creationId="{613DDA21-7EE2-43B3-89B1-906DBBA3BA91}"/>
          </ac:spMkLst>
        </pc:spChg>
      </pc:sldChg>
      <pc:sldChg chg="modNotesTx">
        <pc:chgData name="Jack Schwartz" userId="891bdf3a3da27c76" providerId="LiveId" clId="{CC7C669E-3E66-45E3-BC67-5748D396A822}" dt="2026-07-30T18:19:58.654" v="605" actId="20577"/>
        <pc:sldMkLst>
          <pc:docMk/>
          <pc:sldMk cId="986915771" sldId="285"/>
        </pc:sldMkLst>
      </pc:sldChg>
      <pc:sldChg chg="modSp mod modNotesTx">
        <pc:chgData name="Jack Schwartz" userId="891bdf3a3da27c76" providerId="LiveId" clId="{CC7C669E-3E66-45E3-BC67-5748D396A822}" dt="2026-07-30T18:20:01.305" v="606" actId="20577"/>
        <pc:sldMkLst>
          <pc:docMk/>
          <pc:sldMk cId="986915771" sldId="286"/>
        </pc:sldMkLst>
        <pc:picChg chg="mod">
          <ac:chgData name="Jack Schwartz" userId="891bdf3a3da27c76" providerId="LiveId" clId="{CC7C669E-3E66-45E3-BC67-5748D396A822}" dt="2026-07-24T00:48:09.873" v="482" actId="1076"/>
          <ac:picMkLst>
            <pc:docMk/>
            <pc:sldMk cId="986915771" sldId="286"/>
            <ac:picMk id="31" creationId="{00000000-0000-0000-0000-000000000000}"/>
          </ac:picMkLst>
        </pc:picChg>
      </pc:sldChg>
      <pc:sldChg chg="modSp mod modNotesTx">
        <pc:chgData name="Jack Schwartz" userId="891bdf3a3da27c76" providerId="LiveId" clId="{CC7C669E-3E66-45E3-BC67-5748D396A822}" dt="2026-07-30T18:20:03.800" v="607" actId="20577"/>
        <pc:sldMkLst>
          <pc:docMk/>
          <pc:sldMk cId="986915771" sldId="287"/>
        </pc:sldMkLst>
        <pc:picChg chg="mod">
          <ac:chgData name="Jack Schwartz" userId="891bdf3a3da27c76" providerId="LiveId" clId="{CC7C669E-3E66-45E3-BC67-5748D396A822}" dt="2026-07-24T00:48:21.659" v="485" actId="1076"/>
          <ac:picMkLst>
            <pc:docMk/>
            <pc:sldMk cId="986915771" sldId="287"/>
            <ac:picMk id="31" creationId="{00000000-0000-0000-0000-000000000000}"/>
          </ac:picMkLst>
        </pc:picChg>
      </pc:sldChg>
      <pc:sldChg chg="modNotesTx">
        <pc:chgData name="Jack Schwartz" userId="891bdf3a3da27c76" providerId="LiveId" clId="{CC7C669E-3E66-45E3-BC67-5748D396A822}" dt="2026-07-30T18:20:05.934" v="608" actId="20577"/>
        <pc:sldMkLst>
          <pc:docMk/>
          <pc:sldMk cId="1237891218" sldId="288"/>
        </pc:sldMkLst>
      </pc:sldChg>
      <pc:sldChg chg="modNotesTx">
        <pc:chgData name="Jack Schwartz" userId="891bdf3a3da27c76" providerId="LiveId" clId="{CC7C669E-3E66-45E3-BC67-5748D396A822}" dt="2026-07-30T18:20:08.003" v="609" actId="20577"/>
        <pc:sldMkLst>
          <pc:docMk/>
          <pc:sldMk cId="986915771" sldId="289"/>
        </pc:sldMkLst>
      </pc:sldChg>
      <pc:sldChg chg="modNotesTx">
        <pc:chgData name="Jack Schwartz" userId="891bdf3a3da27c76" providerId="LiveId" clId="{CC7C669E-3E66-45E3-BC67-5748D396A822}" dt="2026-07-30T18:20:10.262" v="610" actId="20577"/>
        <pc:sldMkLst>
          <pc:docMk/>
          <pc:sldMk cId="986915771" sldId="291"/>
        </pc:sldMkLst>
      </pc:sldChg>
      <pc:sldChg chg="modNotesTx">
        <pc:chgData name="Jack Schwartz" userId="891bdf3a3da27c76" providerId="LiveId" clId="{CC7C669E-3E66-45E3-BC67-5748D396A822}" dt="2026-07-30T18:20:12.192" v="611" actId="20577"/>
        <pc:sldMkLst>
          <pc:docMk/>
          <pc:sldMk cId="986915771" sldId="292"/>
        </pc:sldMkLst>
      </pc:sldChg>
      <pc:sldChg chg="modSp mod modNotesTx">
        <pc:chgData name="Jack Schwartz" userId="891bdf3a3da27c76" providerId="LiveId" clId="{CC7C669E-3E66-45E3-BC67-5748D396A822}" dt="2026-07-30T18:20:14.366" v="612" actId="20577"/>
        <pc:sldMkLst>
          <pc:docMk/>
          <pc:sldMk cId="1237891218" sldId="293"/>
        </pc:sldMkLst>
        <pc:spChg chg="mod">
          <ac:chgData name="Jack Schwartz" userId="891bdf3a3da27c76" providerId="LiveId" clId="{CC7C669E-3E66-45E3-BC67-5748D396A822}" dt="2026-07-24T02:29:18.476" v="525" actId="20577"/>
          <ac:spMkLst>
            <pc:docMk/>
            <pc:sldMk cId="1237891218" sldId="293"/>
            <ac:spMk id="12" creationId="{91730671-F08E-4503-A7E0-4BF2AAE5BCDA}"/>
          </ac:spMkLst>
        </pc:spChg>
      </pc:sldChg>
      <pc:sldChg chg="modSp mod modNotesTx">
        <pc:chgData name="Jack Schwartz" userId="891bdf3a3da27c76" providerId="LiveId" clId="{CC7C669E-3E66-45E3-BC67-5748D396A822}" dt="2026-07-30T18:20:16.151" v="613" actId="20577"/>
        <pc:sldMkLst>
          <pc:docMk/>
          <pc:sldMk cId="1050208941" sldId="294"/>
        </pc:sldMkLst>
        <pc:spChg chg="mod">
          <ac:chgData name="Jack Schwartz" userId="891bdf3a3da27c76" providerId="LiveId" clId="{CC7C669E-3E66-45E3-BC67-5748D396A822}" dt="2026-07-24T02:29:23.714" v="526" actId="403"/>
          <ac:spMkLst>
            <pc:docMk/>
            <pc:sldMk cId="1050208941" sldId="294"/>
            <ac:spMk id="8" creationId="{8B728959-7C54-4EB3-A5B3-25811DC12A42}"/>
          </ac:spMkLst>
        </pc:spChg>
        <pc:spChg chg="mod">
          <ac:chgData name="Jack Schwartz" userId="891bdf3a3da27c76" providerId="LiveId" clId="{CC7C669E-3E66-45E3-BC67-5748D396A822}" dt="2026-07-24T02:29:25.700" v="527" actId="403"/>
          <ac:spMkLst>
            <pc:docMk/>
            <pc:sldMk cId="1050208941" sldId="294"/>
            <ac:spMk id="13" creationId="{50C1DB88-8DBD-4503-9F6D-0E9FD1434BF2}"/>
          </ac:spMkLst>
        </pc:spChg>
        <pc:spChg chg="mod">
          <ac:chgData name="Jack Schwartz" userId="891bdf3a3da27c76" providerId="LiveId" clId="{CC7C669E-3E66-45E3-BC67-5748D396A822}" dt="2026-07-24T02:29:28.842" v="528" actId="403"/>
          <ac:spMkLst>
            <pc:docMk/>
            <pc:sldMk cId="1050208941" sldId="294"/>
            <ac:spMk id="18" creationId="{3D95A7E8-34A1-481F-90CC-5058AD5AF871}"/>
          </ac:spMkLst>
        </pc:spChg>
      </pc:sldChg>
      <pc:sldChg chg="modNotesTx">
        <pc:chgData name="Jack Schwartz" userId="891bdf3a3da27c76" providerId="LiveId" clId="{CC7C669E-3E66-45E3-BC67-5748D396A822}" dt="2026-07-30T18:20:18.294" v="614" actId="20577"/>
        <pc:sldMkLst>
          <pc:docMk/>
          <pc:sldMk cId="1069452067" sldId="295"/>
        </pc:sldMkLst>
      </pc:sldChg>
      <pc:sldChg chg="modSp add mod modNotesTx">
        <pc:chgData name="Jack Schwartz" userId="891bdf3a3da27c76" providerId="LiveId" clId="{CC7C669E-3E66-45E3-BC67-5748D396A822}" dt="2026-07-30T18:19:33.826" v="594" actId="20577"/>
        <pc:sldMkLst>
          <pc:docMk/>
          <pc:sldMk cId="1909708160" sldId="296"/>
        </pc:sldMkLst>
        <pc:spChg chg="mod">
          <ac:chgData name="Jack Schwartz" userId="891bdf3a3da27c76" providerId="LiveId" clId="{CC7C669E-3E66-45E3-BC67-5748D396A822}" dt="2026-07-24T00:39:58.543" v="467" actId="1076"/>
          <ac:spMkLst>
            <pc:docMk/>
            <pc:sldMk cId="1909708160" sldId="296"/>
            <ac:spMk id="5" creationId="{ABFAC673-A25A-4055-B43E-821DDBEA4757}"/>
          </ac:spMkLst>
        </pc:spChg>
        <pc:spChg chg="mod">
          <ac:chgData name="Jack Schwartz" userId="891bdf3a3da27c76" providerId="LiveId" clId="{CC7C669E-3E66-45E3-BC67-5748D396A822}" dt="2026-07-24T00:40:00.991" v="468" actId="1076"/>
          <ac:spMkLst>
            <pc:docMk/>
            <pc:sldMk cId="1909708160" sldId="296"/>
            <ac:spMk id="6" creationId="{8C03335C-90D0-48DE-918E-553E4CC1CBC0}"/>
          </ac:spMkLst>
        </pc:spChg>
        <pc:spChg chg="mod">
          <ac:chgData name="Jack Schwartz" userId="891bdf3a3da27c76" providerId="LiveId" clId="{CC7C669E-3E66-45E3-BC67-5748D396A822}" dt="2026-07-24T00:39:53.998" v="466" actId="403"/>
          <ac:spMkLst>
            <pc:docMk/>
            <pc:sldMk cId="1909708160" sldId="296"/>
            <ac:spMk id="7" creationId="{34306231-8C8C-4AAF-960D-2416265C46AB}"/>
          </ac:spMkLst>
        </pc:spChg>
        <pc:spChg chg="mod">
          <ac:chgData name="Jack Schwartz" userId="891bdf3a3da27c76" providerId="LiveId" clId="{CC7C669E-3E66-45E3-BC67-5748D396A822}" dt="2026-07-24T00:39:49.273" v="465" actId="403"/>
          <ac:spMkLst>
            <pc:docMk/>
            <pc:sldMk cId="1909708160" sldId="296"/>
            <ac:spMk id="10" creationId="{64B8CC4D-5866-4D63-90F3-EB45CA563C9F}"/>
          </ac:spMkLst>
        </pc:spChg>
        <pc:spChg chg="mod">
          <ac:chgData name="Jack Schwartz" userId="891bdf3a3da27c76" providerId="LiveId" clId="{CC7C669E-3E66-45E3-BC67-5748D396A822}" dt="2026-07-24T00:40:04.219" v="469" actId="403"/>
          <ac:spMkLst>
            <pc:docMk/>
            <pc:sldMk cId="1909708160" sldId="296"/>
            <ac:spMk id="13" creationId="{613DDA21-7EE2-43B3-89B1-906DBBA3BA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At one local grid box, every ensemble member produces predicted observations. </a:t>
                </a:r>
                <a:r>
                  <a:rPr lang="en-US" sz="1200" i="0" kern="1200"/>
                  <a:t>𝑌^′</a:t>
                </a:r>
                <a:r>
                  <a:rPr lang="en-US" dirty="0"/>
                  <a:t>records how those predicted observations differ across the ensemble. If the ensemble members produce very different observation predictions, the real observation can help determine which members or ensemble directions are more plausible.</a:t>
                </a:r>
              </a:p>
              <a:p>
                <a:r>
                  <a:rPr lang="en-US" sz="1200" i="0" kern="1200"/>
                  <a:t>𝑅^(−1)</a:t>
                </a:r>
                <a:r>
                  <a:rPr lang="en-US" dirty="0"/>
                  <a:t>represents observation confidence. An observation with a small error receives more weight, while a noisy observation receives less.</a:t>
                </a:r>
              </a:p>
              <a:p>
                <a:r>
                  <a:rPr lang="en-US" dirty="0"/>
                  <a:t>The identity-matrix term represents resistance to changing too far from the background ensemble. Inflation adjusts that resistance and helps prevent the ensemble spread from collapsing.</a:t>
                </a:r>
              </a:p>
              <a:p>
                <a:r>
                  <a:rPr lang="en-US" dirty="0"/>
                  <a:t>These two sources of information are combined: the background tells us what changes are plausible, and the observations tell us which changes improve the fit.</a:t>
                </a:r>
              </a:p>
              <a:p>
                <a:r>
                  <a:rPr lang="en-US" dirty="0"/>
                  <a:t>The major computational advantage is that the matrix being inverted is only 80 by 80 because there are 80 ensemble members. We are not inverting a matrix with one row and column for every atmospheric state variable.</a:t>
                </a:r>
              </a:p>
              <a:p>
                <a:r>
                  <a:rPr lang="en-US" dirty="0"/>
                  <a:t>The result is uncertainty in the ensemble weights, not a full physical atmospheric covariance matrix.</a:t>
                </a:r>
              </a:p>
              <a:p>
                <a:endParaRPr lang="en-US" dirty="0"/>
              </a:p>
              <a:p>
                <a:r>
                  <a:rPr lang="en-US" dirty="0"/>
                  <a:t>If asked why the entire expression is inverted:</a:t>
                </a:r>
              </a:p>
              <a:p>
                <a:r>
                  <a:rPr lang="en-US" dirty="0"/>
                  <a:t>The terms inside the brackets measure constraint strength, or precision. Inverting precision gives the remaining covariance or uncertainty.</a:t>
                </a:r>
              </a:p>
              <a:p>
                <a:endParaRPr lang="en-US" dirty="0"/>
              </a:p>
            </p:txBody>
          </p:sp>
        </mc:Fallback>
      </mc:AlternateContent>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Timing: about 45 seconds.</a:t>
            </a:r>
          </a:p>
          <a:p>
            <a:endParaRPr sz="1200"/>
          </a:p>
          <a:p>
            <a:r>
              <a:rPr sz="1200"/>
              <a:t>U, V, temperature, and humidity are unobserved. In the original EnSF implementation used here, the score update replaces observed components but does not use a regression or localized forecast covariance to spread the correction into unobserved components at analysis time.</a:t>
            </a:r>
          </a:p>
          <a:p>
            <a:endParaRPr sz="1200"/>
          </a:p>
          <a:p>
            <a:r>
              <a:rPr sz="1200"/>
              <a:t>Those fields can respond only through subsequent model evolution. LETKF can update them immediately through ensemble cross-covariances, which explains its broader advantage.</a:t>
            </a:r>
          </a:p>
          <a:p>
            <a:endParaRPr sz="1200"/>
          </a:p>
          <a:p>
            <a:r>
              <a:rPr sz="1200"/>
              <a:t>[Sources]</a:t>
            </a:r>
          </a:p>
          <a:p>
            <a:r>
              <a:rPr sz="1200"/>
              <a:t>- Jack Schwartz, "Evaluating an Ensemble Score Filter Against the LETKF in the SPEEDY Atmospheric General Circulation Model," master's project manuscript and project-generated figures (2026).</a:t>
            </a:r>
          </a:p>
          <a:p>
            <a:r>
              <a:rPr sz="1200"/>
              <a:t>- Xiong et al. (2026), "A two-step ensemble score filter for data assimilation in partially observed systems," https://doi.org/10.48550/arXiv.2606.28264.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C92A7D1-9C96-4A0D-825F-AE5FF9AAC3AE}"/>
              </a:ext>
            </a:extLst>
          </p:cNvPr>
          <p:cNvSpPr>
            <a:spLocks noGrp="1"/>
          </p:cNvSpPr>
          <p:nvPr/>
        </p:nvSpPr>
        <p:spPr>
          <a:xfrm>
            <a:off x="0" y="0"/>
            <a:ext cx="12191695" cy="320040"/>
          </a:xfrm>
          <a:prstGeom prst="rect">
            <a:avLst/>
          </a:prstGeom>
          <a:solidFill>
            <a:srgbClr val="12263A"/>
          </a:solidFill>
          <a:ln w="12700">
            <a:solidFill>
              <a:srgbClr val="12263A"/>
            </a:solidFill>
            <a:prstDash val="solid"/>
          </a:ln>
        </p:spPr>
        <p:txBody>
          <a:bodyPr/>
          <a:lstStyle/>
          <a:p>
            <a:endParaRPr lang="en-US"/>
          </a:p>
        </p:txBody>
      </p:sp>
      <p:sp>
        <p:nvSpPr>
          <p:cNvPr id="3" name="Shape 1">
            <a:extLst>
              <a:ext uri="{FF2B5EF4-FFF2-40B4-BE49-F238E27FC236}">
                <a16:creationId xmlns:a16="http://schemas.microsoft.com/office/drawing/2014/main" id="{E2E50EA6-CDF2-4AA6-9398-9FF245FBD145}"/>
              </a:ext>
            </a:extLst>
          </p:cNvPr>
          <p:cNvSpPr>
            <a:spLocks noGrp="1"/>
          </p:cNvSpPr>
          <p:nvPr/>
        </p:nvSpPr>
        <p:spPr>
          <a:xfrm>
            <a:off x="0" y="6537960"/>
            <a:ext cx="12191695" cy="320040"/>
          </a:xfrm>
          <a:prstGeom prst="rect">
            <a:avLst/>
          </a:prstGeom>
          <a:solidFill>
            <a:srgbClr val="12263A"/>
          </a:solidFill>
          <a:ln w="12700">
            <a:solidFill>
              <a:srgbClr val="12263A"/>
            </a:solidFill>
            <a:prstDash val="solid"/>
          </a:ln>
        </p:spPr>
        <p:txBody>
          <a:bodyPr/>
          <a:lstStyle/>
          <a:p>
            <a:endParaRPr lang="en-US"/>
          </a:p>
        </p:txBody>
      </p:sp>
      <p:sp>
        <p:nvSpPr>
          <p:cNvPr id="25" name="Slide Number Placeholder 0">
            <a:extLst>
              <a:ext uri="{FF2B5EF4-FFF2-40B4-BE49-F238E27FC236}">
                <a16:creationId xmlns:a16="http://schemas.microsoft.com/office/drawing/2014/main" id="{25752526-2183-41EA-9DC6-22A6487BAEED}"/>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F7021451-1387-4CA6-816F-3879F97B5CBC}" type="slidenum">
              <a:rPr b="0"/>
              <a:t>‹#›</a:t>
            </a:fld>
            <a:endParaRPr b="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5794C110-0EB8-444C-BE6F-9C4C391DB8A2}"/>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F7021451-1387-4CA6-816F-3879F97B5CBC}" type="slidenum">
              <a:rPr b="0"/>
              <a:t>‹#›</a:t>
            </a:fld>
            <a:endParaRPr b="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A29"/>
        </a:solid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D15164-6B56-4B25-9418-020D44C28206}"/>
              </a:ext>
            </a:extLst>
          </p:cNvPr>
          <p:cNvSpPr>
            <a:spLocks noGrp="1"/>
          </p:cNvSpPr>
          <p:nvPr/>
        </p:nvSpPr>
        <p:spPr>
          <a:xfrm>
            <a:off x="731520" y="4297680"/>
            <a:ext cx="5943600" cy="640080"/>
          </a:xfrm>
          <a:prstGeom prst="rect">
            <a:avLst/>
          </a:prstGeom>
          <a:noFill/>
        </p:spPr>
        <p:txBody>
          <a:bodyPr wrap="square" lIns="0" tIns="0" rIns="0" bIns="0" anchor="ctr"/>
          <a:lstStyle/>
          <a:p>
            <a:pPr marL="0" indent="0" algn="l">
              <a:buNone/>
              <a:defRPr sz="2550" b="1">
                <a:solidFill>
                  <a:srgbClr val="F6F8FC"/>
                </a:solidFill>
                <a:latin typeface="Aptos Display"/>
                <a:ea typeface="Aptos Display"/>
                <a:cs typeface="Aptos Display"/>
              </a:defRPr>
            </a:pPr>
            <a:r>
              <a:rPr sz="2550" b="1">
                <a:solidFill>
                  <a:srgbClr val="F6F8FC"/>
                </a:solidFill>
                <a:latin typeface="Aptos Display"/>
                <a:ea typeface="Aptos Display"/>
                <a:cs typeface="Aptos Display"/>
              </a:rPr>
              <a:t>Evaluating an Ensemble Score Filter Against the LETKF</a:t>
            </a:r>
          </a:p>
        </p:txBody>
      </p:sp>
      <p:sp>
        <p:nvSpPr>
          <p:cNvPr id="4" name="Text 1">
            <a:extLst>
              <a:ext uri="{FF2B5EF4-FFF2-40B4-BE49-F238E27FC236}">
                <a16:creationId xmlns:a16="http://schemas.microsoft.com/office/drawing/2014/main" id="{4F981A98-6F34-487D-87BF-ED6F454D0BA6}"/>
              </a:ext>
            </a:extLst>
          </p:cNvPr>
          <p:cNvSpPr>
            <a:spLocks noGrp="1"/>
          </p:cNvSpPr>
          <p:nvPr/>
        </p:nvSpPr>
        <p:spPr>
          <a:xfrm>
            <a:off x="749808" y="4956048"/>
            <a:ext cx="7955280" cy="320040"/>
          </a:xfrm>
          <a:prstGeom prst="rect">
            <a:avLst/>
          </a:prstGeom>
          <a:noFill/>
        </p:spPr>
        <p:txBody>
          <a:bodyPr wrap="square" lIns="0" tIns="0" rIns="0" bIns="0" anchor="ctr"/>
          <a:lstStyle/>
          <a:p>
            <a:pPr marL="0" indent="0" algn="l">
              <a:buNone/>
              <a:defRPr sz="1650" b="0">
                <a:solidFill>
                  <a:srgbClr val="E0A63A"/>
                </a:solidFill>
                <a:latin typeface="Aptos Display"/>
                <a:ea typeface="Aptos Display"/>
                <a:cs typeface="Aptos Display"/>
              </a:defRPr>
            </a:pPr>
            <a:r>
              <a:rPr sz="1650" b="0">
                <a:solidFill>
                  <a:srgbClr val="E0A63A"/>
                </a:solidFill>
                <a:latin typeface="Aptos Display"/>
                <a:ea typeface="Aptos Display"/>
                <a:cs typeface="Aptos Display"/>
              </a:rPr>
              <a:t>in the SPEEDY Atmospheric General Circulation Model</a:t>
            </a:r>
          </a:p>
        </p:txBody>
      </p:sp>
      <p:sp>
        <p:nvSpPr>
          <p:cNvPr id="5" name="Text 2">
            <a:extLst>
              <a:ext uri="{FF2B5EF4-FFF2-40B4-BE49-F238E27FC236}">
                <a16:creationId xmlns:a16="http://schemas.microsoft.com/office/drawing/2014/main" id="{9B87051F-1489-459F-ADD2-234EA1A84A28}"/>
              </a:ext>
            </a:extLst>
          </p:cNvPr>
          <p:cNvSpPr>
            <a:spLocks noGrp="1"/>
          </p:cNvSpPr>
          <p:nvPr/>
        </p:nvSpPr>
        <p:spPr>
          <a:xfrm>
            <a:off x="742950" y="5334000"/>
            <a:ext cx="5715000" cy="742950"/>
          </a:xfrm>
          <a:prstGeom prst="rect">
            <a:avLst/>
          </a:prstGeom>
          <a:noFill/>
        </p:spPr>
        <p:txBody>
          <a:bodyPr wrap="square" lIns="0" tIns="0" rIns="0" bIns="0" anchor="ctr"/>
          <a:lstStyle/>
          <a:p>
            <a:pPr marL="0" indent="0" algn="l">
              <a:buNone/>
              <a:defRPr sz="1200" b="0">
                <a:solidFill>
                  <a:srgbClr val="D9E5EC"/>
                </a:solidFill>
                <a:latin typeface="Aptos"/>
                <a:ea typeface="Aptos"/>
                <a:cs typeface="Aptos"/>
              </a:defRPr>
            </a:pPr>
            <a:r>
              <a:rPr sz="1200" b="0">
                <a:solidFill>
                  <a:srgbClr val="D9E5EC"/>
                </a:solidFill>
                <a:latin typeface="Aptos"/>
                <a:ea typeface="Aptos"/>
                <a:cs typeface="Aptos"/>
              </a:rPr>
              <a:t>Master's Project Defense | Jack Schwartz</a:t>
            </a:r>
          </a:p>
          <a:p>
            <a:pPr marL="0" indent="0" algn="l">
              <a:buNone/>
              <a:defRPr sz="1200" b="0">
                <a:solidFill>
                  <a:srgbClr val="D9E5EC"/>
                </a:solidFill>
                <a:latin typeface="Aptos"/>
                <a:ea typeface="Aptos"/>
                <a:cs typeface="Aptos"/>
              </a:defRPr>
            </a:pPr>
            <a:r>
              <a:rPr sz="1200" b="0">
                <a:solidFill>
                  <a:srgbClr val="D9E5EC"/>
                </a:solidFill>
                <a:latin typeface="Aptos"/>
                <a:ea typeface="Aptos"/>
                <a:cs typeface="Aptos"/>
              </a:rPr>
              <a:t>July 2026</a:t>
            </a:r>
          </a:p>
        </p:txBody>
      </p:sp>
      <p:sp>
        <p:nvSpPr>
          <p:cNvPr id="7" name="TextBox 6">
            <a:extLst>
              <a:ext uri="{FF2B5EF4-FFF2-40B4-BE49-F238E27FC236}">
                <a16:creationId xmlns:a16="http://schemas.microsoft.com/office/drawing/2014/main" id="{995ADB58-9334-42CA-AFF8-92933D244A77}"/>
              </a:ext>
            </a:extLst>
          </p:cNvPr>
          <p:cNvSpPr>
            <a:spLocks noGrp="1"/>
          </p:cNvSpPr>
          <p:nvPr/>
        </p:nvSpPr>
        <p:spPr>
          <a:xfrm>
            <a:off x="8458200" y="5486400"/>
            <a:ext cx="2926080" cy="320040"/>
          </a:xfrm>
          <a:prstGeom prst="rect">
            <a:avLst/>
          </a:prstGeom>
          <a:noFill/>
        </p:spPr>
        <p:txBody>
          <a:bodyPr wrap="none" anchor="ctr">
            <a:spAutoFit/>
          </a:bodyPr>
          <a:lstStyle/>
          <a:p>
            <a:pPr algn="l">
              <a:buNone/>
              <a:defRPr sz="1200" b="0">
                <a:solidFill>
                  <a:srgbClr val="D9E5EC"/>
                </a:solidFill>
                <a:latin typeface="Aptos"/>
                <a:ea typeface="Aptos"/>
                <a:cs typeface="Aptos"/>
              </a:defRPr>
            </a:pPr>
            <a:r>
              <a:rPr sz="1200" b="0">
                <a:solidFill>
                  <a:srgbClr val="D9E5EC"/>
                </a:solidFill>
                <a:latin typeface="Aptos"/>
                <a:ea typeface="Aptos"/>
                <a:cs typeface="Aptos"/>
              </a:rPr>
              <a:t>EnSF and LETKF in a global atmospheric testbed</a:t>
            </a:r>
          </a:p>
        </p:txBody>
      </p:sp>
      <p:pic>
        <p:nvPicPr>
          <p:cNvPr id="13" name="Graphic 12"/>
          <p:cNvPicPr>
            <a:picLocks noChangeAspect="1"/>
          </p:cNvPicPr>
          <p:nvPr/>
        </p:nvPicPr>
        <p:blipFill>
          <a:blip>
            <a:extLst>
              <a:ext uri="{96DAC541-7B7A-43D3-8B79-37D633B846F1}">
                <asvg:svgBlip xmlns:asvg="http://schemas.microsoft.com/office/drawing/2016/SVG/main" r:embed="rId3"/>
              </a:ext>
            </a:extLst>
          </a:blip>
          <a:srcRect/>
          <a:stretch/>
        </p:blipFill>
        <p:spPr>
          <a:xfrm>
            <a:off x="8366760" y="838200"/>
            <a:ext cx="3028950" cy="4476750"/>
          </a:xfrm>
          <a:prstGeom prst="rect">
            <a:avLst/>
          </a:prstGeom>
        </p:spPr>
      </p:pic>
    </p:spTree>
    <p:extLst>
      <p:ext uri="{BB962C8B-B14F-4D97-AF65-F5344CB8AC3E}">
        <p14:creationId xmlns:p14="http://schemas.microsoft.com/office/powerpoint/2010/main" val="954092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70BFD0A-B4E3-4600-A3BA-C3F8001EA0F2}"/>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A promising nonlinear filter needs an atmospheric test</a:t>
            </a:r>
          </a:p>
        </p:txBody>
      </p:sp>
      <p:sp>
        <p:nvSpPr>
          <p:cNvPr id="3" name="Shape 1">
            <a:extLst>
              <a:ext uri="{FF2B5EF4-FFF2-40B4-BE49-F238E27FC236}">
                <a16:creationId xmlns:a16="http://schemas.microsoft.com/office/drawing/2014/main" id="{E6DC057F-5928-458C-858A-DDC07862C7C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85028710-F39E-49B6-9327-23ED4346BA90}"/>
              </a:ext>
            </a:extLst>
          </p:cNvPr>
          <p:cNvSpPr>
            <a:spLocks noGrp="1"/>
          </p:cNvSpPr>
          <p:nvPr/>
        </p:nvSpPr>
        <p:spPr>
          <a:xfrm>
            <a:off x="742950" y="1381125"/>
            <a:ext cx="10668000" cy="571500"/>
          </a:xfrm>
          <a:prstGeom prst="rect">
            <a:avLst/>
          </a:prstGeom>
          <a:noFill/>
        </p:spPr>
        <p:txBody>
          <a:bodyPr wrap="square" lIns="0" tIns="0" rIns="0" bIns="0" anchor="ctr"/>
          <a:lstStyle/>
          <a:p>
            <a:pPr marL="0" indent="0" algn="l">
              <a:buNone/>
              <a:defRPr sz="1575" b="0">
                <a:solidFill>
                  <a:srgbClr val="4D5B6A"/>
                </a:solidFill>
                <a:latin typeface="Aptos"/>
                <a:ea typeface="Aptos"/>
                <a:cs typeface="Aptos"/>
              </a:defRPr>
            </a:pPr>
            <a:r>
              <a:rPr sz="1575" b="0">
                <a:solidFill>
                  <a:srgbClr val="4D5B6A"/>
                </a:solidFill>
                <a:latin typeface="Aptos"/>
                <a:ea typeface="Aptos"/>
                <a:cs typeface="Aptos"/>
              </a:rPr>
              <a:t>Score filters have shown promise in idealized settings. This project asks whether that promise survives in a global, multivariable atmosphere.</a:t>
            </a:r>
          </a:p>
        </p:txBody>
      </p:sp>
      <p:sp>
        <p:nvSpPr>
          <p:cNvPr id="5" name="Text 3">
            <a:extLst>
              <a:ext uri="{FF2B5EF4-FFF2-40B4-BE49-F238E27FC236}">
                <a16:creationId xmlns:a16="http://schemas.microsoft.com/office/drawing/2014/main" id="{ADFE51B7-5785-4708-92F8-F5EAB412EE0C}"/>
              </a:ext>
            </a:extLst>
          </p:cNvPr>
          <p:cNvSpPr>
            <a:spLocks noGrp="1"/>
          </p:cNvSpPr>
          <p:nvPr/>
        </p:nvSpPr>
        <p:spPr>
          <a:xfrm>
            <a:off x="742950" y="2095500"/>
            <a:ext cx="10668000" cy="628650"/>
          </a:xfrm>
          <a:prstGeom prst="rect">
            <a:avLst/>
          </a:prstGeom>
          <a:noFill/>
        </p:spPr>
        <p:txBody>
          <a:bodyPr wrap="square" lIns="1016" tIns="1016" rIns="1016" bIns="1016" anchor="ctr"/>
          <a:lstStyle/>
          <a:p>
            <a:pPr marL="177800" indent="-177800" algn="l">
              <a:buChar char="•"/>
              <a:defRPr sz="1425" b="0">
                <a:solidFill>
                  <a:srgbClr val="334252"/>
                </a:solidFill>
                <a:latin typeface="Aptos"/>
                <a:ea typeface="Aptos"/>
                <a:cs typeface="Aptos"/>
              </a:defRPr>
            </a:pPr>
            <a:r>
              <a:rPr sz="1600" b="0" dirty="0">
                <a:solidFill>
                  <a:srgbClr val="334252"/>
                </a:solidFill>
                <a:latin typeface="Aptos"/>
                <a:ea typeface="Aptos"/>
                <a:cs typeface="Aptos"/>
              </a:rPr>
              <a:t>The goal is not to assume that </a:t>
            </a:r>
            <a:r>
              <a:rPr sz="1600" b="0" dirty="0" err="1">
                <a:solidFill>
                  <a:srgbClr val="334252"/>
                </a:solidFill>
                <a:latin typeface="Aptos"/>
                <a:ea typeface="Aptos"/>
                <a:cs typeface="Aptos"/>
              </a:rPr>
              <a:t>EnSF</a:t>
            </a:r>
            <a:r>
              <a:rPr sz="1600" b="0" dirty="0">
                <a:solidFill>
                  <a:srgbClr val="334252"/>
                </a:solidFill>
                <a:latin typeface="Aptos"/>
                <a:ea typeface="Aptos"/>
                <a:cs typeface="Aptos"/>
              </a:rPr>
              <a:t> should win. It is to compare </a:t>
            </a:r>
            <a:r>
              <a:rPr sz="1600" b="0" dirty="0" err="1">
                <a:solidFill>
                  <a:srgbClr val="334252"/>
                </a:solidFill>
                <a:latin typeface="Aptos"/>
                <a:ea typeface="Aptos"/>
                <a:cs typeface="Aptos"/>
              </a:rPr>
              <a:t>EnSF</a:t>
            </a:r>
            <a:r>
              <a:rPr sz="1600" b="0" dirty="0">
                <a:solidFill>
                  <a:srgbClr val="334252"/>
                </a:solidFill>
                <a:latin typeface="Aptos"/>
                <a:ea typeface="Aptos"/>
                <a:cs typeface="Aptos"/>
              </a:rPr>
              <a:t> with an established atmospheric baseline under controlled changes in the observation system.</a:t>
            </a:r>
          </a:p>
        </p:txBody>
      </p:sp>
      <p:sp>
        <p:nvSpPr>
          <p:cNvPr id="6" name="Shape 4">
            <a:extLst>
              <a:ext uri="{FF2B5EF4-FFF2-40B4-BE49-F238E27FC236}">
                <a16:creationId xmlns:a16="http://schemas.microsoft.com/office/drawing/2014/main" id="{2C243893-503A-4234-B6E6-05ACCF3228F1}"/>
              </a:ext>
            </a:extLst>
          </p:cNvPr>
          <p:cNvSpPr>
            <a:spLocks noGrp="1"/>
          </p:cNvSpPr>
          <p:nvPr/>
        </p:nvSpPr>
        <p:spPr>
          <a:xfrm>
            <a:off x="742950" y="2933700"/>
            <a:ext cx="5095875" cy="2324100"/>
          </a:xfrm>
          <a:prstGeom prst="roundRect">
            <a:avLst>
              <a:gd name="adj" fmla="val 296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7" name="Text 5">
            <a:extLst>
              <a:ext uri="{FF2B5EF4-FFF2-40B4-BE49-F238E27FC236}">
                <a16:creationId xmlns:a16="http://schemas.microsoft.com/office/drawing/2014/main" id="{DD4ECE90-86BE-46A1-A950-1ED4F44F1110}"/>
              </a:ext>
            </a:extLst>
          </p:cNvPr>
          <p:cNvSpPr>
            <a:spLocks noGrp="1"/>
          </p:cNvSpPr>
          <p:nvPr/>
        </p:nvSpPr>
        <p:spPr>
          <a:xfrm>
            <a:off x="1028700" y="3133725"/>
            <a:ext cx="4524375" cy="323850"/>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Why this matters</a:t>
            </a:r>
          </a:p>
        </p:txBody>
      </p:sp>
      <p:sp>
        <p:nvSpPr>
          <p:cNvPr id="8" name="Text 6">
            <a:extLst>
              <a:ext uri="{FF2B5EF4-FFF2-40B4-BE49-F238E27FC236}">
                <a16:creationId xmlns:a16="http://schemas.microsoft.com/office/drawing/2014/main" id="{97CD3288-EF43-4082-BBFD-96CD3FD47E09}"/>
              </a:ext>
            </a:extLst>
          </p:cNvPr>
          <p:cNvSpPr>
            <a:spLocks noGrp="1"/>
          </p:cNvSpPr>
          <p:nvPr/>
        </p:nvSpPr>
        <p:spPr>
          <a:xfrm>
            <a:off x="1028700" y="3581400"/>
            <a:ext cx="4524375" cy="140970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Forecast uncertainty can be non-Gaussian, and observations can depend nonlinearly on the state. A score-based update is designed to follow that more complex probability structure.</a:t>
            </a:r>
          </a:p>
        </p:txBody>
      </p:sp>
      <p:sp>
        <p:nvSpPr>
          <p:cNvPr id="9" name="Shape 7">
            <a:extLst>
              <a:ext uri="{FF2B5EF4-FFF2-40B4-BE49-F238E27FC236}">
                <a16:creationId xmlns:a16="http://schemas.microsoft.com/office/drawing/2014/main" id="{4C41DF6C-B96B-401A-ABC7-99B1DCB9DB08}"/>
              </a:ext>
            </a:extLst>
          </p:cNvPr>
          <p:cNvSpPr>
            <a:spLocks noGrp="1"/>
          </p:cNvSpPr>
          <p:nvPr/>
        </p:nvSpPr>
        <p:spPr>
          <a:xfrm>
            <a:off x="6334125" y="2933700"/>
            <a:ext cx="5095875" cy="2324100"/>
          </a:xfrm>
          <a:prstGeom prst="roundRect">
            <a:avLst>
              <a:gd name="adj" fmla="val 2667"/>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0" name="Text 8">
            <a:extLst>
              <a:ext uri="{FF2B5EF4-FFF2-40B4-BE49-F238E27FC236}">
                <a16:creationId xmlns:a16="http://schemas.microsoft.com/office/drawing/2014/main" id="{E19680E6-7DED-4ECD-9CA8-44185722BE92}"/>
              </a:ext>
            </a:extLst>
          </p:cNvPr>
          <p:cNvSpPr>
            <a:spLocks noGrp="1"/>
          </p:cNvSpPr>
          <p:nvPr/>
        </p:nvSpPr>
        <p:spPr>
          <a:xfrm>
            <a:off x="6619875" y="3133725"/>
            <a:ext cx="4524375" cy="323850"/>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What this project does</a:t>
            </a:r>
          </a:p>
        </p:txBody>
      </p:sp>
      <p:sp>
        <p:nvSpPr>
          <p:cNvPr id="11" name="Text 9">
            <a:extLst>
              <a:ext uri="{FF2B5EF4-FFF2-40B4-BE49-F238E27FC236}">
                <a16:creationId xmlns:a16="http://schemas.microsoft.com/office/drawing/2014/main" id="{F9C73EF5-7DFA-4206-8F7F-2D0DF2368F00}"/>
              </a:ext>
            </a:extLst>
          </p:cNvPr>
          <p:cNvSpPr>
            <a:spLocks noGrp="1"/>
          </p:cNvSpPr>
          <p:nvPr/>
        </p:nvSpPr>
        <p:spPr>
          <a:xfrm>
            <a:off x="6619875" y="3581400"/>
            <a:ext cx="4524375" cy="140970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err="1">
                <a:solidFill>
                  <a:srgbClr val="4D5B6A"/>
                </a:solidFill>
                <a:latin typeface="Aptos"/>
                <a:ea typeface="Aptos"/>
                <a:cs typeface="Aptos"/>
              </a:rPr>
              <a:t>EnSF</a:t>
            </a:r>
            <a:r>
              <a:rPr sz="1600" b="0" dirty="0">
                <a:solidFill>
                  <a:srgbClr val="4D5B6A"/>
                </a:solidFill>
                <a:latin typeface="Aptos"/>
                <a:ea typeface="Aptos"/>
                <a:cs typeface="Aptos"/>
              </a:rPr>
              <a:t> and LETKF use the same SPEEDY model, initial ensembles, synthetic truth, observations, and verification. Only the analysis method changes.</a:t>
            </a:r>
          </a:p>
        </p:txBody>
      </p:sp>
      <p:sp>
        <p:nvSpPr>
          <p:cNvPr id="13" name="Text 10">
            <a:extLst>
              <a:ext uri="{FF2B5EF4-FFF2-40B4-BE49-F238E27FC236}">
                <a16:creationId xmlns:a16="http://schemas.microsoft.com/office/drawing/2014/main" id="{03495735-2210-4808-A931-F39713508E9F}"/>
              </a:ext>
            </a:extLst>
          </p:cNvPr>
          <p:cNvSpPr>
            <a:spLocks noGrp="1"/>
          </p:cNvSpPr>
          <p:nvPr/>
        </p:nvSpPr>
        <p:spPr>
          <a:xfrm>
            <a:off x="1047750" y="5524500"/>
            <a:ext cx="10096500" cy="495300"/>
          </a:xfrm>
          <a:prstGeom prst="rect">
            <a:avLst/>
          </a:prstGeom>
          <a:noFill/>
        </p:spPr>
        <p:txBody>
          <a:bodyPr wrap="square" anchor="ctr"/>
          <a:lstStyle/>
          <a:p>
            <a:pPr marL="0" indent="0" algn="ctr">
              <a:buNone/>
              <a:defRPr sz="1575" b="1">
                <a:solidFill>
                  <a:srgbClr val="C9891D"/>
                </a:solidFill>
                <a:latin typeface="Aptos"/>
                <a:ea typeface="Aptos"/>
                <a:cs typeface="Aptos"/>
              </a:defRPr>
            </a:pPr>
            <a:r>
              <a:rPr sz="1575" b="1">
                <a:solidFill>
                  <a:srgbClr val="C9891D"/>
                </a:solidFill>
                <a:latin typeface="Aptos"/>
                <a:ea typeface="Aptos"/>
                <a:cs typeface="Aptos"/>
              </a:rPr>
              <a:t>Research question: How does EnSF compare with a carefully tuned LETKF as observation geometry changes?</a:t>
            </a:r>
          </a:p>
        </p:txBody>
      </p:sp>
      <p:sp>
        <p:nvSpPr>
          <p:cNvPr id="25" name="Slide Number Placeholder 0">
            <a:extLst>
              <a:ext uri="{FF2B5EF4-FFF2-40B4-BE49-F238E27FC236}">
                <a16:creationId xmlns:a16="http://schemas.microsoft.com/office/drawing/2014/main" id="{6042903E-DEF8-4DC2-83A7-57D712456771}"/>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E2598689-54C9-18A7-3A19-ED76AA08988F}" type="slidenum">
              <a:rPr b="0"/>
              <a:t>2</a:t>
            </a:fld>
            <a:endParaRPr b="0"/>
          </a:p>
        </p:txBody>
      </p:sp>
    </p:spTree>
    <p:extLst>
      <p:ext uri="{BB962C8B-B14F-4D97-AF65-F5344CB8AC3E}">
        <p14:creationId xmlns:p14="http://schemas.microsoft.com/office/powerpoint/2010/main" val="1421011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47449D6-84B4-4F4C-8613-9B370F7937B6}"/>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lang="en-US" sz="2250" b="1" dirty="0">
                <a:solidFill>
                  <a:srgbClr val="12263A"/>
                </a:solidFill>
                <a:latin typeface="Aptos Display"/>
                <a:ea typeface="Aptos Display"/>
                <a:cs typeface="Aptos Display"/>
              </a:rPr>
              <a:t>Roadmap</a:t>
            </a:r>
            <a:endParaRPr sz="2250" b="1" dirty="0">
              <a:solidFill>
                <a:srgbClr val="12263A"/>
              </a:solidFill>
              <a:latin typeface="Aptos Display"/>
              <a:ea typeface="Aptos Display"/>
              <a:cs typeface="Aptos Display"/>
            </a:endParaRPr>
          </a:p>
        </p:txBody>
      </p:sp>
      <p:sp>
        <p:nvSpPr>
          <p:cNvPr id="3" name="Shape 1">
            <a:extLst>
              <a:ext uri="{FF2B5EF4-FFF2-40B4-BE49-F238E27FC236}">
                <a16:creationId xmlns:a16="http://schemas.microsoft.com/office/drawing/2014/main" id="{D22E39E7-1918-42E3-AF70-05626682B5C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4FBC0A83-34CD-4937-AA3C-4C02D8D1B7BD}"/>
              </a:ext>
            </a:extLst>
          </p:cNvPr>
          <p:cNvSpPr>
            <a:spLocks noGrp="1"/>
          </p:cNvSpPr>
          <p:nvPr/>
        </p:nvSpPr>
        <p:spPr>
          <a:xfrm>
            <a:off x="685800" y="1619250"/>
            <a:ext cx="3333750" cy="3333750"/>
          </a:xfrm>
          <a:prstGeom prst="roundRect">
            <a:avLst/>
          </a:prstGeom>
          <a:solidFill>
            <a:srgbClr val="FFFFFF"/>
          </a:solidFill>
          <a:ln w="12700">
            <a:solidFill>
              <a:srgbClr val="D7E0EA"/>
            </a:solidFill>
            <a:prstDash val="solid"/>
          </a:ln>
        </p:spPr>
        <p:txBody>
          <a:bodyPr/>
          <a:lstStyle/>
          <a:p>
            <a:endParaRPr/>
          </a:p>
        </p:txBody>
      </p:sp>
      <p:sp>
        <p:nvSpPr>
          <p:cNvPr id="5" name="Shape 3">
            <a:extLst>
              <a:ext uri="{FF2B5EF4-FFF2-40B4-BE49-F238E27FC236}">
                <a16:creationId xmlns:a16="http://schemas.microsoft.com/office/drawing/2014/main" id="{84B5F200-49DC-4D15-8A0F-213DAB20224A}"/>
              </a:ext>
            </a:extLst>
          </p:cNvPr>
          <p:cNvSpPr>
            <a:spLocks noGrp="1"/>
          </p:cNvSpPr>
          <p:nvPr/>
        </p:nvSpPr>
        <p:spPr>
          <a:xfrm>
            <a:off x="857250" y="1790700"/>
            <a:ext cx="95250" cy="2990850"/>
          </a:xfrm>
          <a:prstGeom prst="rect">
            <a:avLst/>
          </a:prstGeom>
          <a:solidFill>
            <a:srgbClr val="D8A24A"/>
          </a:solidFill>
          <a:ln w="12700">
            <a:solidFill>
              <a:srgbClr val="D8A24A"/>
            </a:solidFill>
            <a:prstDash val="solid"/>
          </a:ln>
        </p:spPr>
        <p:txBody>
          <a:bodyPr/>
          <a:lstStyle/>
          <a:p>
            <a:endParaRPr/>
          </a:p>
        </p:txBody>
      </p:sp>
      <p:sp>
        <p:nvSpPr>
          <p:cNvPr id="6" name="Text 4">
            <a:extLst>
              <a:ext uri="{FF2B5EF4-FFF2-40B4-BE49-F238E27FC236}">
                <a16:creationId xmlns:a16="http://schemas.microsoft.com/office/drawing/2014/main" id="{D5B2100F-5BBD-4F2C-87DB-11A420C61645}"/>
              </a:ext>
            </a:extLst>
          </p:cNvPr>
          <p:cNvSpPr>
            <a:spLocks noGrp="1"/>
          </p:cNvSpPr>
          <p:nvPr/>
        </p:nvSpPr>
        <p:spPr>
          <a:xfrm>
            <a:off x="1143000" y="1905000"/>
            <a:ext cx="2619375" cy="609600"/>
          </a:xfrm>
          <a:prstGeom prst="rect">
            <a:avLst/>
          </a:prstGeom>
          <a:noFill/>
        </p:spPr>
        <p:txBody>
          <a:bodyPr wrap="square" lIns="0" tIns="0" rIns="0" bIns="0" anchor="ctr"/>
          <a:lstStyle/>
          <a:p>
            <a:pPr marL="0" indent="0" algn="l">
              <a:buNone/>
              <a:defRPr sz="1725" b="1">
                <a:solidFill>
                  <a:srgbClr val="214B69"/>
                </a:solidFill>
                <a:latin typeface="Aptos"/>
                <a:ea typeface="Aptos"/>
                <a:cs typeface="Aptos"/>
              </a:defRPr>
            </a:pPr>
            <a:r>
              <a:rPr sz="1725" b="1">
                <a:solidFill>
                  <a:srgbClr val="214B69"/>
                </a:solidFill>
                <a:latin typeface="Aptos"/>
                <a:ea typeface="Aptos"/>
                <a:cs typeface="Aptos"/>
              </a:rPr>
              <a:t>1. Atmospheric testbed</a:t>
            </a:r>
          </a:p>
        </p:txBody>
      </p:sp>
      <p:sp>
        <p:nvSpPr>
          <p:cNvPr id="7" name="Text 5">
            <a:extLst>
              <a:ext uri="{FF2B5EF4-FFF2-40B4-BE49-F238E27FC236}">
                <a16:creationId xmlns:a16="http://schemas.microsoft.com/office/drawing/2014/main" id="{6E4AF7B0-0136-46A4-80A2-FC091A8983F3}"/>
              </a:ext>
            </a:extLst>
          </p:cNvPr>
          <p:cNvSpPr>
            <a:spLocks noGrp="1"/>
          </p:cNvSpPr>
          <p:nvPr/>
        </p:nvSpPr>
        <p:spPr>
          <a:xfrm>
            <a:off x="1143000" y="2628900"/>
            <a:ext cx="2619375" cy="285750"/>
          </a:xfrm>
          <a:prstGeom prst="rect">
            <a:avLst/>
          </a:prstGeom>
          <a:noFill/>
        </p:spPr>
        <p:txBody>
          <a:bodyPr wrap="square" lIns="0" tIns="0" rIns="0" bIns="0" anchor="ctr"/>
          <a:lstStyle/>
          <a:p>
            <a:pPr marL="0" indent="0" algn="l">
              <a:buNone/>
              <a:defRPr sz="1275" b="1">
                <a:solidFill>
                  <a:srgbClr val="C9891D"/>
                </a:solidFill>
                <a:latin typeface="Aptos"/>
                <a:ea typeface="Aptos"/>
                <a:cs typeface="Aptos"/>
              </a:defRPr>
            </a:pPr>
            <a:r>
              <a:rPr sz="1275" b="1">
                <a:solidFill>
                  <a:srgbClr val="C9891D"/>
                </a:solidFill>
                <a:latin typeface="Aptos"/>
                <a:ea typeface="Aptos"/>
                <a:cs typeface="Aptos"/>
              </a:rPr>
              <a:t>Problem</a:t>
            </a:r>
          </a:p>
        </p:txBody>
      </p:sp>
      <p:sp>
        <p:nvSpPr>
          <p:cNvPr id="8" name="Text 6">
            <a:extLst>
              <a:ext uri="{FF2B5EF4-FFF2-40B4-BE49-F238E27FC236}">
                <a16:creationId xmlns:a16="http://schemas.microsoft.com/office/drawing/2014/main" id="{8D57CFD9-22B5-4012-94E4-247BF064D662}"/>
              </a:ext>
            </a:extLst>
          </p:cNvPr>
          <p:cNvSpPr>
            <a:spLocks noGrp="1"/>
          </p:cNvSpPr>
          <p:nvPr/>
        </p:nvSpPr>
        <p:spPr>
          <a:xfrm>
            <a:off x="1143000" y="3124200"/>
            <a:ext cx="2619375" cy="1428750"/>
          </a:xfrm>
          <a:prstGeom prst="rect">
            <a:avLst/>
          </a:prstGeom>
          <a:noFill/>
        </p:spPr>
        <p:txBody>
          <a:bodyPr wrap="square" lIns="254" tIns="254" rIns="254" bIns="254" anchor="t"/>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SPEEDY, state variables, observing systems, and controlled experiment design.</a:t>
            </a:r>
          </a:p>
        </p:txBody>
      </p:sp>
      <p:sp>
        <p:nvSpPr>
          <p:cNvPr id="9" name="Shape 7">
            <a:extLst>
              <a:ext uri="{FF2B5EF4-FFF2-40B4-BE49-F238E27FC236}">
                <a16:creationId xmlns:a16="http://schemas.microsoft.com/office/drawing/2014/main" id="{25BC546A-7030-4AE8-B7AC-DBE43830C060}"/>
              </a:ext>
            </a:extLst>
          </p:cNvPr>
          <p:cNvSpPr>
            <a:spLocks noGrp="1"/>
          </p:cNvSpPr>
          <p:nvPr/>
        </p:nvSpPr>
        <p:spPr>
          <a:xfrm>
            <a:off x="4429125" y="1619250"/>
            <a:ext cx="3333750" cy="3333750"/>
          </a:xfrm>
          <a:prstGeom prst="roundRect">
            <a:avLst/>
          </a:prstGeom>
          <a:solidFill>
            <a:srgbClr val="FFFFFF"/>
          </a:solidFill>
          <a:ln w="12700">
            <a:solidFill>
              <a:srgbClr val="D7E0EA"/>
            </a:solidFill>
            <a:prstDash val="solid"/>
          </a:ln>
        </p:spPr>
        <p:txBody>
          <a:bodyPr/>
          <a:lstStyle/>
          <a:p>
            <a:endParaRPr/>
          </a:p>
        </p:txBody>
      </p:sp>
      <p:sp>
        <p:nvSpPr>
          <p:cNvPr id="10" name="Shape 8">
            <a:extLst>
              <a:ext uri="{FF2B5EF4-FFF2-40B4-BE49-F238E27FC236}">
                <a16:creationId xmlns:a16="http://schemas.microsoft.com/office/drawing/2014/main" id="{824502D0-022A-498E-9869-BFEB9E53291D}"/>
              </a:ext>
            </a:extLst>
          </p:cNvPr>
          <p:cNvSpPr>
            <a:spLocks noGrp="1"/>
          </p:cNvSpPr>
          <p:nvPr/>
        </p:nvSpPr>
        <p:spPr>
          <a:xfrm>
            <a:off x="4600575" y="1790700"/>
            <a:ext cx="95250" cy="2990850"/>
          </a:xfrm>
          <a:prstGeom prst="rect">
            <a:avLst/>
          </a:prstGeom>
          <a:solidFill>
            <a:srgbClr val="D8A24A"/>
          </a:solidFill>
          <a:ln w="12700">
            <a:solidFill>
              <a:srgbClr val="D8A24A"/>
            </a:solidFill>
            <a:prstDash val="solid"/>
          </a:ln>
        </p:spPr>
        <p:txBody>
          <a:bodyPr/>
          <a:lstStyle/>
          <a:p>
            <a:endParaRPr/>
          </a:p>
        </p:txBody>
      </p:sp>
      <p:sp>
        <p:nvSpPr>
          <p:cNvPr id="11" name="Text 9">
            <a:extLst>
              <a:ext uri="{FF2B5EF4-FFF2-40B4-BE49-F238E27FC236}">
                <a16:creationId xmlns:a16="http://schemas.microsoft.com/office/drawing/2014/main" id="{3685D068-F3ED-48B9-BD3D-FE9935CCE05C}"/>
              </a:ext>
            </a:extLst>
          </p:cNvPr>
          <p:cNvSpPr>
            <a:spLocks noGrp="1"/>
          </p:cNvSpPr>
          <p:nvPr/>
        </p:nvSpPr>
        <p:spPr>
          <a:xfrm>
            <a:off x="4886325" y="1905000"/>
            <a:ext cx="2619375" cy="609600"/>
          </a:xfrm>
          <a:prstGeom prst="rect">
            <a:avLst/>
          </a:prstGeom>
          <a:noFill/>
        </p:spPr>
        <p:txBody>
          <a:bodyPr wrap="square" lIns="0" tIns="0" rIns="0" bIns="0" anchor="ctr"/>
          <a:lstStyle/>
          <a:p>
            <a:pPr marL="0" indent="0" algn="l">
              <a:buNone/>
              <a:defRPr sz="1725" b="1">
                <a:solidFill>
                  <a:srgbClr val="214B69"/>
                </a:solidFill>
                <a:latin typeface="Aptos"/>
                <a:ea typeface="Aptos"/>
                <a:cs typeface="Aptos"/>
              </a:defRPr>
            </a:pPr>
            <a:r>
              <a:rPr sz="1725" b="1" dirty="0">
                <a:solidFill>
                  <a:srgbClr val="214B69"/>
                </a:solidFill>
                <a:latin typeface="Aptos"/>
                <a:ea typeface="Aptos"/>
                <a:cs typeface="Aptos"/>
              </a:rPr>
              <a:t>2. Two ensemble filters</a:t>
            </a:r>
          </a:p>
        </p:txBody>
      </p:sp>
      <p:sp>
        <p:nvSpPr>
          <p:cNvPr id="12" name="Text 10">
            <a:extLst>
              <a:ext uri="{FF2B5EF4-FFF2-40B4-BE49-F238E27FC236}">
                <a16:creationId xmlns:a16="http://schemas.microsoft.com/office/drawing/2014/main" id="{484C60A5-DF3D-4036-B3E4-D6CC52BDA337}"/>
              </a:ext>
            </a:extLst>
          </p:cNvPr>
          <p:cNvSpPr>
            <a:spLocks noGrp="1"/>
          </p:cNvSpPr>
          <p:nvPr/>
        </p:nvSpPr>
        <p:spPr>
          <a:xfrm>
            <a:off x="4886325" y="2628900"/>
            <a:ext cx="2619375" cy="285750"/>
          </a:xfrm>
          <a:prstGeom prst="rect">
            <a:avLst/>
          </a:prstGeom>
          <a:noFill/>
        </p:spPr>
        <p:txBody>
          <a:bodyPr wrap="square" lIns="0" tIns="0" rIns="0" bIns="0" anchor="ctr"/>
          <a:lstStyle/>
          <a:p>
            <a:pPr marL="0" indent="0" algn="l">
              <a:buNone/>
              <a:defRPr sz="1275" b="1">
                <a:solidFill>
                  <a:srgbClr val="C9891D"/>
                </a:solidFill>
                <a:latin typeface="Aptos"/>
                <a:ea typeface="Aptos"/>
                <a:cs typeface="Aptos"/>
              </a:defRPr>
            </a:pPr>
            <a:r>
              <a:rPr sz="1275" b="1">
                <a:solidFill>
                  <a:srgbClr val="C9891D"/>
                </a:solidFill>
                <a:latin typeface="Aptos"/>
                <a:ea typeface="Aptos"/>
                <a:cs typeface="Aptos"/>
              </a:rPr>
              <a:t>Methods</a:t>
            </a:r>
          </a:p>
        </p:txBody>
      </p:sp>
      <p:sp>
        <p:nvSpPr>
          <p:cNvPr id="13" name="Text 11">
            <a:extLst>
              <a:ext uri="{FF2B5EF4-FFF2-40B4-BE49-F238E27FC236}">
                <a16:creationId xmlns:a16="http://schemas.microsoft.com/office/drawing/2014/main" id="{5BB6B970-2F0A-4A3B-A17D-3E9E4A91A1C3}"/>
              </a:ext>
            </a:extLst>
          </p:cNvPr>
          <p:cNvSpPr>
            <a:spLocks noGrp="1"/>
          </p:cNvSpPr>
          <p:nvPr/>
        </p:nvSpPr>
        <p:spPr>
          <a:xfrm>
            <a:off x="4886325" y="3124200"/>
            <a:ext cx="2619375" cy="1428750"/>
          </a:xfrm>
          <a:prstGeom prst="rect">
            <a:avLst/>
          </a:prstGeom>
          <a:noFill/>
        </p:spPr>
        <p:txBody>
          <a:bodyPr wrap="square" lIns="254" tIns="254" rIns="254" bIns="254" anchor="t"/>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LETKF from local ensemble weights; EnSF from posterior scores and a reverse SDE.</a:t>
            </a:r>
          </a:p>
        </p:txBody>
      </p:sp>
      <p:sp>
        <p:nvSpPr>
          <p:cNvPr id="14" name="Shape 12">
            <a:extLst>
              <a:ext uri="{FF2B5EF4-FFF2-40B4-BE49-F238E27FC236}">
                <a16:creationId xmlns:a16="http://schemas.microsoft.com/office/drawing/2014/main" id="{15A693BC-6489-4CFB-B2D1-A33FBBF8E8C0}"/>
              </a:ext>
            </a:extLst>
          </p:cNvPr>
          <p:cNvSpPr>
            <a:spLocks noGrp="1"/>
          </p:cNvSpPr>
          <p:nvPr/>
        </p:nvSpPr>
        <p:spPr>
          <a:xfrm>
            <a:off x="8172450" y="1619250"/>
            <a:ext cx="3333750" cy="3333750"/>
          </a:xfrm>
          <a:prstGeom prst="roundRect">
            <a:avLst/>
          </a:prstGeom>
          <a:solidFill>
            <a:srgbClr val="FFFFFF"/>
          </a:solidFill>
          <a:ln w="12700">
            <a:solidFill>
              <a:srgbClr val="D7E0EA"/>
            </a:solidFill>
            <a:prstDash val="solid"/>
          </a:ln>
        </p:spPr>
        <p:txBody>
          <a:bodyPr/>
          <a:lstStyle/>
          <a:p>
            <a:endParaRPr/>
          </a:p>
        </p:txBody>
      </p:sp>
      <p:sp>
        <p:nvSpPr>
          <p:cNvPr id="15" name="Shape 13">
            <a:extLst>
              <a:ext uri="{FF2B5EF4-FFF2-40B4-BE49-F238E27FC236}">
                <a16:creationId xmlns:a16="http://schemas.microsoft.com/office/drawing/2014/main" id="{A81DEB84-3408-4A71-837D-479DBBF14905}"/>
              </a:ext>
            </a:extLst>
          </p:cNvPr>
          <p:cNvSpPr>
            <a:spLocks noGrp="1"/>
          </p:cNvSpPr>
          <p:nvPr/>
        </p:nvSpPr>
        <p:spPr>
          <a:xfrm>
            <a:off x="8343900" y="1790700"/>
            <a:ext cx="95250" cy="2990850"/>
          </a:xfrm>
          <a:prstGeom prst="rect">
            <a:avLst/>
          </a:prstGeom>
          <a:solidFill>
            <a:srgbClr val="D8A24A"/>
          </a:solidFill>
          <a:ln w="12700">
            <a:solidFill>
              <a:srgbClr val="D8A24A"/>
            </a:solidFill>
            <a:prstDash val="solid"/>
          </a:ln>
        </p:spPr>
        <p:txBody>
          <a:bodyPr/>
          <a:lstStyle/>
          <a:p>
            <a:endParaRPr/>
          </a:p>
        </p:txBody>
      </p:sp>
      <p:sp>
        <p:nvSpPr>
          <p:cNvPr id="16" name="Text 14">
            <a:extLst>
              <a:ext uri="{FF2B5EF4-FFF2-40B4-BE49-F238E27FC236}">
                <a16:creationId xmlns:a16="http://schemas.microsoft.com/office/drawing/2014/main" id="{CEE76E9B-76E7-4270-B47B-D6A596FCAA47}"/>
              </a:ext>
            </a:extLst>
          </p:cNvPr>
          <p:cNvSpPr>
            <a:spLocks noGrp="1"/>
          </p:cNvSpPr>
          <p:nvPr/>
        </p:nvSpPr>
        <p:spPr>
          <a:xfrm>
            <a:off x="8629650" y="1905000"/>
            <a:ext cx="2619375" cy="609600"/>
          </a:xfrm>
          <a:prstGeom prst="rect">
            <a:avLst/>
          </a:prstGeom>
          <a:noFill/>
        </p:spPr>
        <p:txBody>
          <a:bodyPr wrap="square" lIns="0" tIns="0" rIns="0" bIns="0" anchor="ctr"/>
          <a:lstStyle/>
          <a:p>
            <a:pPr marL="0" indent="0" algn="l">
              <a:buNone/>
              <a:defRPr sz="1725" b="1">
                <a:solidFill>
                  <a:srgbClr val="214B69"/>
                </a:solidFill>
                <a:latin typeface="Aptos"/>
                <a:ea typeface="Aptos"/>
                <a:cs typeface="Aptos"/>
              </a:defRPr>
            </a:pPr>
            <a:r>
              <a:rPr sz="1725" b="1">
                <a:solidFill>
                  <a:srgbClr val="214B69"/>
                </a:solidFill>
                <a:latin typeface="Aptos"/>
                <a:ea typeface="Aptos"/>
                <a:cs typeface="Aptos"/>
              </a:rPr>
              <a:t>3. Four experiments</a:t>
            </a:r>
          </a:p>
        </p:txBody>
      </p:sp>
      <p:sp>
        <p:nvSpPr>
          <p:cNvPr id="17" name="Text 15">
            <a:extLst>
              <a:ext uri="{FF2B5EF4-FFF2-40B4-BE49-F238E27FC236}">
                <a16:creationId xmlns:a16="http://schemas.microsoft.com/office/drawing/2014/main" id="{BC8B8548-5A31-42FA-8435-7BAC7BA17227}"/>
              </a:ext>
            </a:extLst>
          </p:cNvPr>
          <p:cNvSpPr>
            <a:spLocks noGrp="1"/>
          </p:cNvSpPr>
          <p:nvPr/>
        </p:nvSpPr>
        <p:spPr>
          <a:xfrm>
            <a:off x="8629650" y="2628900"/>
            <a:ext cx="2619375" cy="285750"/>
          </a:xfrm>
          <a:prstGeom prst="rect">
            <a:avLst/>
          </a:prstGeom>
          <a:noFill/>
        </p:spPr>
        <p:txBody>
          <a:bodyPr wrap="square" lIns="0" tIns="0" rIns="0" bIns="0" anchor="ctr"/>
          <a:lstStyle/>
          <a:p>
            <a:pPr marL="0" indent="0" algn="l">
              <a:buNone/>
              <a:defRPr sz="1275" b="1">
                <a:solidFill>
                  <a:srgbClr val="C9891D"/>
                </a:solidFill>
                <a:latin typeface="Aptos"/>
                <a:ea typeface="Aptos"/>
                <a:cs typeface="Aptos"/>
              </a:defRPr>
            </a:pPr>
            <a:r>
              <a:rPr sz="1275" b="1">
                <a:solidFill>
                  <a:srgbClr val="C9891D"/>
                </a:solidFill>
                <a:latin typeface="Aptos"/>
                <a:ea typeface="Aptos"/>
                <a:cs typeface="Aptos"/>
              </a:rPr>
              <a:t>Results</a:t>
            </a:r>
          </a:p>
        </p:txBody>
      </p:sp>
      <p:sp>
        <p:nvSpPr>
          <p:cNvPr id="18" name="Text 16">
            <a:extLst>
              <a:ext uri="{FF2B5EF4-FFF2-40B4-BE49-F238E27FC236}">
                <a16:creationId xmlns:a16="http://schemas.microsoft.com/office/drawing/2014/main" id="{72913563-DDF1-4DA4-A261-6421126AB1F3}"/>
              </a:ext>
            </a:extLst>
          </p:cNvPr>
          <p:cNvSpPr>
            <a:spLocks noGrp="1"/>
          </p:cNvSpPr>
          <p:nvPr/>
        </p:nvSpPr>
        <p:spPr>
          <a:xfrm>
            <a:off x="8629650" y="3124200"/>
            <a:ext cx="2619375" cy="1428750"/>
          </a:xfrm>
          <a:prstGeom prst="rect">
            <a:avLst/>
          </a:prstGeom>
          <a:noFill/>
        </p:spPr>
        <p:txBody>
          <a:bodyPr wrap="square" lIns="254" tIns="254" rIns="254" bIns="254" anchor="t"/>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Linear, arctangent, nonlinear wind, pressure only, and the implications.</a:t>
            </a:r>
          </a:p>
        </p:txBody>
      </p:sp>
      <p:sp>
        <p:nvSpPr>
          <p:cNvPr id="20" name="Shape 17">
            <a:extLst>
              <a:ext uri="{FF2B5EF4-FFF2-40B4-BE49-F238E27FC236}">
                <a16:creationId xmlns:a16="http://schemas.microsoft.com/office/drawing/2014/main" id="{0458BC63-C33E-40A0-9AAB-EBF1B865A946}"/>
              </a:ext>
            </a:extLst>
          </p:cNvPr>
          <p:cNvSpPr>
            <a:spLocks noGrp="1"/>
          </p:cNvSpPr>
          <p:nvPr/>
        </p:nvSpPr>
        <p:spPr>
          <a:xfrm>
            <a:off x="1476375" y="5295900"/>
            <a:ext cx="9239250" cy="704850"/>
          </a:xfrm>
          <a:prstGeom prst="roundRect">
            <a:avLst/>
          </a:prstGeom>
          <a:solidFill>
            <a:srgbClr val="FFFFFF">
              <a:alpha val="90000"/>
            </a:srgbClr>
          </a:solidFill>
          <a:ln w="12700">
            <a:solidFill>
              <a:srgbClr val="FFFFFF">
                <a:alpha val="0"/>
              </a:srgbClr>
            </a:solidFill>
            <a:prstDash val="solid"/>
          </a:ln>
        </p:spPr>
        <p:txBody>
          <a:bodyPr/>
          <a:lstStyle/>
          <a:p>
            <a:endParaRPr/>
          </a:p>
        </p:txBody>
      </p:sp>
      <p:sp>
        <p:nvSpPr>
          <p:cNvPr id="21" name="Text 18">
            <a:extLst>
              <a:ext uri="{FF2B5EF4-FFF2-40B4-BE49-F238E27FC236}">
                <a16:creationId xmlns:a16="http://schemas.microsoft.com/office/drawing/2014/main" id="{1F829138-D74D-4E88-9575-8E535BF41DB6}"/>
              </a:ext>
            </a:extLst>
          </p:cNvPr>
          <p:cNvSpPr>
            <a:spLocks noGrp="1"/>
          </p:cNvSpPr>
          <p:nvPr/>
        </p:nvSpPr>
        <p:spPr>
          <a:xfrm>
            <a:off x="1714500" y="5429250"/>
            <a:ext cx="8763000" cy="438150"/>
          </a:xfrm>
          <a:prstGeom prst="rect">
            <a:avLst/>
          </a:prstGeom>
          <a:noFill/>
        </p:spPr>
        <p:txBody>
          <a:bodyPr wrap="square" lIns="0" tIns="0" rIns="0" bIns="0" anchor="ctr"/>
          <a:lstStyle/>
          <a:p>
            <a:pPr marL="0" indent="0" algn="ctr">
              <a:buNone/>
              <a:defRPr sz="1350" b="1">
                <a:solidFill>
                  <a:srgbClr val="214B69"/>
                </a:solidFill>
                <a:latin typeface="Aptos"/>
                <a:ea typeface="Aptos"/>
                <a:cs typeface="Aptos"/>
              </a:defRPr>
            </a:pPr>
            <a:r>
              <a:rPr sz="1350" b="1">
                <a:solidFill>
                  <a:srgbClr val="214B69"/>
                </a:solidFill>
                <a:latin typeface="Aptos"/>
                <a:ea typeface="Aptos"/>
                <a:cs typeface="Aptos"/>
              </a:rPr>
              <a:t>Atmospheric testbed  →  filter mechanics  →  controlled experiments  →  synthesis</a:t>
            </a:r>
          </a:p>
        </p:txBody>
      </p:sp>
      <p:sp>
        <p:nvSpPr>
          <p:cNvPr id="25" name="Slide Number Placeholder 0">
            <a:extLst>
              <a:ext uri="{FF2B5EF4-FFF2-40B4-BE49-F238E27FC236}">
                <a16:creationId xmlns:a16="http://schemas.microsoft.com/office/drawing/2014/main" id="{14C47774-E781-4A65-96D8-F3BA88381DA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202359C0-8A7A-196E-DD58-8E6569619F09}" type="slidenum">
              <a:rPr b="0"/>
              <a:t>3</a:t>
            </a:fld>
            <a:endParaRPr b="0"/>
          </a:p>
        </p:txBody>
      </p:sp>
    </p:spTree>
    <p:extLst>
      <p:ext uri="{BB962C8B-B14F-4D97-AF65-F5344CB8AC3E}">
        <p14:creationId xmlns:p14="http://schemas.microsoft.com/office/powerpoint/2010/main" val="1078956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CA35B01-72B3-4A02-A05F-56066D252947}"/>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Sequential data assimilation is a repeated Bayesian update</a:t>
            </a:r>
          </a:p>
        </p:txBody>
      </p:sp>
      <p:sp>
        <p:nvSpPr>
          <p:cNvPr id="3" name="Shape 1">
            <a:extLst>
              <a:ext uri="{FF2B5EF4-FFF2-40B4-BE49-F238E27FC236}">
                <a16:creationId xmlns:a16="http://schemas.microsoft.com/office/drawing/2014/main" id="{7C1AA806-9282-42EB-A326-856FF10D7C01}"/>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C43BAEAB-549A-4292-9779-49A7465EFDD3}"/>
              </a:ext>
            </a:extLst>
          </p:cNvPr>
          <p:cNvSpPr>
            <a:spLocks noGrp="1"/>
          </p:cNvSpPr>
          <p:nvPr/>
        </p:nvSpPr>
        <p:spPr>
          <a:xfrm>
            <a:off x="922476" y="1905000"/>
            <a:ext cx="4286250" cy="3333750"/>
          </a:xfrm>
          <a:prstGeom prst="rect">
            <a:avLst/>
          </a:prstGeom>
          <a:solidFill>
            <a:srgbClr val="EAF1F8"/>
          </a:solidFill>
          <a:ln w="12700">
            <a:solidFill>
              <a:srgbClr val="D7E0EA"/>
            </a:solidFill>
            <a:prstDash val="solid"/>
          </a:ln>
        </p:spPr>
        <p:txBody>
          <a:bodyPr/>
          <a:lstStyle/>
          <a:p>
            <a:endParaRPr/>
          </a:p>
        </p:txBody>
      </p:sp>
      <p:sp>
        <p:nvSpPr>
          <p:cNvPr id="5" name="Shape 3">
            <a:extLst>
              <a:ext uri="{FF2B5EF4-FFF2-40B4-BE49-F238E27FC236}">
                <a16:creationId xmlns:a16="http://schemas.microsoft.com/office/drawing/2014/main" id="{3FDB8CDC-A6D5-41BE-B287-1FC653226B6C}"/>
              </a:ext>
            </a:extLst>
          </p:cNvPr>
          <p:cNvSpPr>
            <a:spLocks noGrp="1"/>
          </p:cNvSpPr>
          <p:nvPr/>
        </p:nvSpPr>
        <p:spPr>
          <a:xfrm>
            <a:off x="6983274" y="1905000"/>
            <a:ext cx="4286250" cy="3333750"/>
          </a:xfrm>
          <a:prstGeom prst="rect">
            <a:avLst/>
          </a:prstGeom>
          <a:solidFill>
            <a:srgbClr val="FFF4E5"/>
          </a:solidFill>
          <a:ln w="12700">
            <a:solidFill>
              <a:srgbClr val="E7D2A9"/>
            </a:solidFill>
            <a:prstDash val="solid"/>
          </a:ln>
        </p:spPr>
        <p:txBody>
          <a:bodyPr/>
          <a:lstStyle/>
          <a:p>
            <a:endParaRPr/>
          </a:p>
        </p:txBody>
      </p:sp>
      <p:sp>
        <p:nvSpPr>
          <p:cNvPr id="6" name="Text 4">
            <a:extLst>
              <a:ext uri="{FF2B5EF4-FFF2-40B4-BE49-F238E27FC236}">
                <a16:creationId xmlns:a16="http://schemas.microsoft.com/office/drawing/2014/main" id="{D7396BFD-3DEE-41D1-91C5-914383374936}"/>
              </a:ext>
            </a:extLst>
          </p:cNvPr>
          <p:cNvSpPr>
            <a:spLocks noGrp="1"/>
          </p:cNvSpPr>
          <p:nvPr/>
        </p:nvSpPr>
        <p:spPr>
          <a:xfrm>
            <a:off x="2286000" y="1981200"/>
            <a:ext cx="1619250" cy="400050"/>
          </a:xfrm>
          <a:prstGeom prst="rect">
            <a:avLst/>
          </a:prstGeom>
          <a:noFill/>
        </p:spPr>
        <p:txBody>
          <a:bodyPr wrap="square" anchor="ctr"/>
          <a:lstStyle/>
          <a:p>
            <a:pPr marL="0" indent="0" algn="ctr">
              <a:buNone/>
              <a:defRPr sz="1725" b="1">
                <a:solidFill>
                  <a:srgbClr val="214B69"/>
                </a:solidFill>
                <a:latin typeface="Aptos"/>
                <a:ea typeface="Aptos"/>
                <a:cs typeface="Aptos"/>
              </a:defRPr>
            </a:pPr>
            <a:r>
              <a:rPr sz="1725" b="1">
                <a:solidFill>
                  <a:srgbClr val="214B69"/>
                </a:solidFill>
                <a:latin typeface="Aptos"/>
                <a:ea typeface="Aptos"/>
                <a:cs typeface="Aptos"/>
              </a:rPr>
              <a:t>Prior</a:t>
            </a:r>
          </a:p>
        </p:txBody>
      </p:sp>
      <p:sp>
        <p:nvSpPr>
          <p:cNvPr id="7" name="Text 5">
            <a:extLst>
              <a:ext uri="{FF2B5EF4-FFF2-40B4-BE49-F238E27FC236}">
                <a16:creationId xmlns:a16="http://schemas.microsoft.com/office/drawing/2014/main" id="{204A74E2-EBAA-4917-8AFA-9C7A3B24B9DB}"/>
              </a:ext>
            </a:extLst>
          </p:cNvPr>
          <p:cNvSpPr>
            <a:spLocks noGrp="1"/>
          </p:cNvSpPr>
          <p:nvPr/>
        </p:nvSpPr>
        <p:spPr>
          <a:xfrm>
            <a:off x="1381125" y="2571749"/>
            <a:ext cx="3429000" cy="2391189"/>
          </a:xfrm>
          <a:prstGeom prst="rect">
            <a:avLst/>
          </a:prstGeom>
          <a:noFill/>
        </p:spPr>
        <p:txBody>
          <a:bodyPr wrap="square" anchor="ctr"/>
          <a:lstStyle/>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Forecast ensemble</a:t>
            </a:r>
          </a:p>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p(xₖ | y₁:ₖ₋₁)</a:t>
            </a:r>
          </a:p>
          <a:p>
            <a:pPr marL="0" indent="0" algn="ctr">
              <a:buNone/>
            </a:pPr>
            <a:endParaRPr sz="2800" b="0" dirty="0">
              <a:solidFill>
                <a:srgbClr val="334252"/>
              </a:solidFill>
              <a:latin typeface="Aptos"/>
              <a:ea typeface="Aptos"/>
              <a:cs typeface="Aptos"/>
            </a:endParaRPr>
          </a:p>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Model dynamics</a:t>
            </a:r>
          </a:p>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Flow-dependent uncertainty</a:t>
            </a:r>
          </a:p>
        </p:txBody>
      </p:sp>
      <p:sp>
        <p:nvSpPr>
          <p:cNvPr id="8" name="Text 6">
            <a:extLst>
              <a:ext uri="{FF2B5EF4-FFF2-40B4-BE49-F238E27FC236}">
                <a16:creationId xmlns:a16="http://schemas.microsoft.com/office/drawing/2014/main" id="{DEC1E73A-E789-4460-B6F4-FD2DFDDD583B}"/>
              </a:ext>
            </a:extLst>
          </p:cNvPr>
          <p:cNvSpPr>
            <a:spLocks noGrp="1"/>
          </p:cNvSpPr>
          <p:nvPr/>
        </p:nvSpPr>
        <p:spPr>
          <a:xfrm>
            <a:off x="8191500" y="1981200"/>
            <a:ext cx="1809750" cy="400050"/>
          </a:xfrm>
          <a:prstGeom prst="rect">
            <a:avLst/>
          </a:prstGeom>
          <a:noFill/>
        </p:spPr>
        <p:txBody>
          <a:bodyPr wrap="square" anchor="ctr"/>
          <a:lstStyle/>
          <a:p>
            <a:pPr marL="0" indent="0" algn="ctr">
              <a:buNone/>
              <a:defRPr sz="1725" b="1">
                <a:solidFill>
                  <a:srgbClr val="C9891D"/>
                </a:solidFill>
                <a:latin typeface="Aptos"/>
                <a:ea typeface="Aptos"/>
                <a:cs typeface="Aptos"/>
              </a:defRPr>
            </a:pPr>
            <a:r>
              <a:rPr sz="1725" b="1">
                <a:solidFill>
                  <a:srgbClr val="C9891D"/>
                </a:solidFill>
                <a:latin typeface="Aptos"/>
                <a:ea typeface="Aptos"/>
                <a:cs typeface="Aptos"/>
              </a:rPr>
              <a:t>Posterior</a:t>
            </a:r>
          </a:p>
        </p:txBody>
      </p:sp>
      <p:sp>
        <p:nvSpPr>
          <p:cNvPr id="9" name="Text 7">
            <a:extLst>
              <a:ext uri="{FF2B5EF4-FFF2-40B4-BE49-F238E27FC236}">
                <a16:creationId xmlns:a16="http://schemas.microsoft.com/office/drawing/2014/main" id="{820D915D-D391-411E-BBBC-878AC15FAF7C}"/>
              </a:ext>
            </a:extLst>
          </p:cNvPr>
          <p:cNvSpPr>
            <a:spLocks noGrp="1"/>
          </p:cNvSpPr>
          <p:nvPr/>
        </p:nvSpPr>
        <p:spPr>
          <a:xfrm>
            <a:off x="7381875" y="2571750"/>
            <a:ext cx="3429000" cy="2000250"/>
          </a:xfrm>
          <a:prstGeom prst="rect">
            <a:avLst/>
          </a:prstGeom>
          <a:noFill/>
        </p:spPr>
        <p:txBody>
          <a:bodyPr wrap="square" anchor="ctr"/>
          <a:lstStyle/>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Posterior ensemble</a:t>
            </a:r>
          </a:p>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p(xₖ | y₁:ₖ)</a:t>
            </a:r>
          </a:p>
          <a:p>
            <a:pPr marL="0" indent="0" algn="ctr">
              <a:buNone/>
            </a:pPr>
            <a:endParaRPr sz="1600" b="0" dirty="0">
              <a:solidFill>
                <a:srgbClr val="334252"/>
              </a:solidFill>
              <a:latin typeface="Aptos"/>
              <a:ea typeface="Aptos"/>
              <a:cs typeface="Aptos"/>
            </a:endParaRPr>
          </a:p>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Observation likelihood</a:t>
            </a:r>
          </a:p>
          <a:p>
            <a:pPr marL="0" indent="0" algn="ctr">
              <a:buNone/>
              <a:defRPr sz="1500" b="0">
                <a:solidFill>
                  <a:srgbClr val="334252"/>
                </a:solidFill>
                <a:latin typeface="Aptos"/>
                <a:ea typeface="Aptos"/>
                <a:cs typeface="Aptos"/>
              </a:defRPr>
            </a:pPr>
            <a:r>
              <a:rPr sz="1600" b="0" dirty="0">
                <a:solidFill>
                  <a:srgbClr val="334252"/>
                </a:solidFill>
                <a:latin typeface="Aptos"/>
                <a:ea typeface="Aptos"/>
                <a:cs typeface="Aptos"/>
              </a:rPr>
              <a:t>Reduced state uncertainty</a:t>
            </a:r>
          </a:p>
        </p:txBody>
      </p:sp>
      <p:sp>
        <p:nvSpPr>
          <p:cNvPr id="10" name="Shape 8">
            <a:extLst>
              <a:ext uri="{FF2B5EF4-FFF2-40B4-BE49-F238E27FC236}">
                <a16:creationId xmlns:a16="http://schemas.microsoft.com/office/drawing/2014/main" id="{F8CA1571-A7E3-40AA-8CC2-120A0A5DA37E}"/>
              </a:ext>
            </a:extLst>
          </p:cNvPr>
          <p:cNvSpPr>
            <a:spLocks noGrp="1"/>
          </p:cNvSpPr>
          <p:nvPr/>
        </p:nvSpPr>
        <p:spPr>
          <a:xfrm>
            <a:off x="5429250" y="2800350"/>
            <a:ext cx="1333500" cy="904875"/>
          </a:xfrm>
          <a:prstGeom prst="chevron">
            <a:avLst/>
          </a:prstGeom>
          <a:solidFill>
            <a:srgbClr val="2A7F97"/>
          </a:solidFill>
          <a:ln w="12700">
            <a:solidFill>
              <a:srgbClr val="2A7F97"/>
            </a:solidFill>
            <a:prstDash val="solid"/>
          </a:ln>
        </p:spPr>
        <p:txBody>
          <a:bodyPr/>
          <a:lstStyle/>
          <a:p>
            <a:endParaRPr/>
          </a:p>
        </p:txBody>
      </p:sp>
      <p:sp>
        <p:nvSpPr>
          <p:cNvPr id="11" name="Text 9">
            <a:extLst>
              <a:ext uri="{FF2B5EF4-FFF2-40B4-BE49-F238E27FC236}">
                <a16:creationId xmlns:a16="http://schemas.microsoft.com/office/drawing/2014/main" id="{3B039756-AEBC-47A2-ACC2-849E4DF1D26A}"/>
              </a:ext>
            </a:extLst>
          </p:cNvPr>
          <p:cNvSpPr>
            <a:spLocks noGrp="1"/>
          </p:cNvSpPr>
          <p:nvPr/>
        </p:nvSpPr>
        <p:spPr>
          <a:xfrm>
            <a:off x="4333875" y="5334000"/>
            <a:ext cx="3524250" cy="400050"/>
          </a:xfrm>
          <a:prstGeom prst="rect">
            <a:avLst/>
          </a:prstGeom>
          <a:noFill/>
        </p:spPr>
        <p:txBody>
          <a:bodyPr wrap="square" anchor="ctr"/>
          <a:lstStyle/>
          <a:p>
            <a:pPr marL="0" indent="0" algn="ctr">
              <a:buNone/>
              <a:defRPr sz="1575" b="1">
                <a:solidFill>
                  <a:srgbClr val="214B69"/>
                </a:solidFill>
                <a:latin typeface="Aptos"/>
                <a:ea typeface="Aptos"/>
                <a:cs typeface="Aptos"/>
              </a:defRPr>
            </a:pPr>
            <a:r>
              <a:rPr sz="1575" b="1">
                <a:solidFill>
                  <a:srgbClr val="214B69"/>
                </a:solidFill>
                <a:latin typeface="Aptos"/>
                <a:ea typeface="Aptos"/>
                <a:cs typeface="Aptos"/>
              </a:rPr>
              <a:t>likelihood × prior → posterior</a:t>
            </a:r>
          </a:p>
        </p:txBody>
      </p:sp>
      <p:sp>
        <p:nvSpPr>
          <p:cNvPr id="25" name="Slide Number Placeholder 0">
            <a:extLst>
              <a:ext uri="{FF2B5EF4-FFF2-40B4-BE49-F238E27FC236}">
                <a16:creationId xmlns:a16="http://schemas.microsoft.com/office/drawing/2014/main" id="{26641B17-4ED9-4F08-BE05-2427060FC13F}"/>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EFD6AB9A-5F9E-5F59-51AB-3C8734130965}" type="slidenum">
              <a:rPr b="0"/>
              <a:t>4</a:t>
            </a:fld>
            <a:endParaRPr b="0"/>
          </a:p>
        </p:txBody>
      </p:sp>
    </p:spTree>
    <p:extLst>
      <p:ext uri="{BB962C8B-B14F-4D97-AF65-F5344CB8AC3E}">
        <p14:creationId xmlns:p14="http://schemas.microsoft.com/office/powerpoint/2010/main" val="282127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205621-9933-4235-AB1E-FCF9EE895DF3}"/>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Why move beyond low-dimensional benchmark systems?</a:t>
            </a:r>
          </a:p>
        </p:txBody>
      </p:sp>
      <p:sp>
        <p:nvSpPr>
          <p:cNvPr id="3" name="Shape 1">
            <a:extLst>
              <a:ext uri="{FF2B5EF4-FFF2-40B4-BE49-F238E27FC236}">
                <a16:creationId xmlns:a16="http://schemas.microsoft.com/office/drawing/2014/main" id="{5141B92F-54EE-4D74-8F40-B2C2E6E0770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DAD3A7E4-7723-48EF-A8B2-A64C1ABEC2C1}"/>
              </a:ext>
            </a:extLst>
          </p:cNvPr>
          <p:cNvSpPr>
            <a:spLocks noGrp="1"/>
          </p:cNvSpPr>
          <p:nvPr/>
        </p:nvSpPr>
        <p:spPr>
          <a:xfrm>
            <a:off x="8686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5" name="Text 3">
            <a:extLst>
              <a:ext uri="{FF2B5EF4-FFF2-40B4-BE49-F238E27FC236}">
                <a16:creationId xmlns:a16="http://schemas.microsoft.com/office/drawing/2014/main" id="{6DDD8ED3-31B1-4042-9AEE-1DD0E37BE554}"/>
              </a:ext>
            </a:extLst>
          </p:cNvPr>
          <p:cNvSpPr>
            <a:spLocks noGrp="1"/>
          </p:cNvSpPr>
          <p:nvPr/>
        </p:nvSpPr>
        <p:spPr>
          <a:xfrm>
            <a:off x="10515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Toy models</a:t>
            </a:r>
          </a:p>
        </p:txBody>
      </p:sp>
      <p:sp>
        <p:nvSpPr>
          <p:cNvPr id="6" name="Text 4">
            <a:extLst>
              <a:ext uri="{FF2B5EF4-FFF2-40B4-BE49-F238E27FC236}">
                <a16:creationId xmlns:a16="http://schemas.microsoft.com/office/drawing/2014/main" id="{C68221B3-1B26-4A27-9494-F7466761E037}"/>
              </a:ext>
            </a:extLst>
          </p:cNvPr>
          <p:cNvSpPr>
            <a:spLocks noGrp="1"/>
          </p:cNvSpPr>
          <p:nvPr/>
        </p:nvSpPr>
        <p:spPr>
          <a:xfrm>
            <a:off x="10515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2400" b="0" dirty="0">
                <a:solidFill>
                  <a:srgbClr val="4D5B6A"/>
                </a:solidFill>
                <a:latin typeface="Aptos"/>
                <a:ea typeface="Aptos"/>
                <a:cs typeface="Aptos"/>
              </a:rPr>
              <a:t>Excellent for isolating mechanisms and testing algorithms cheaply.</a:t>
            </a:r>
          </a:p>
        </p:txBody>
      </p:sp>
      <p:sp>
        <p:nvSpPr>
          <p:cNvPr id="7" name="Shape 5">
            <a:extLst>
              <a:ext uri="{FF2B5EF4-FFF2-40B4-BE49-F238E27FC236}">
                <a16:creationId xmlns:a16="http://schemas.microsoft.com/office/drawing/2014/main" id="{29592638-E0EF-41FD-8B2B-ACF1659AD6CE}"/>
              </a:ext>
            </a:extLst>
          </p:cNvPr>
          <p:cNvSpPr>
            <a:spLocks noGrp="1"/>
          </p:cNvSpPr>
          <p:nvPr/>
        </p:nvSpPr>
        <p:spPr>
          <a:xfrm>
            <a:off x="450342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8" name="Text 6">
            <a:extLst>
              <a:ext uri="{FF2B5EF4-FFF2-40B4-BE49-F238E27FC236}">
                <a16:creationId xmlns:a16="http://schemas.microsoft.com/office/drawing/2014/main" id="{AAD23D41-5ACA-435E-A285-D12ACA3345E5}"/>
              </a:ext>
            </a:extLst>
          </p:cNvPr>
          <p:cNvSpPr>
            <a:spLocks noGrp="1"/>
          </p:cNvSpPr>
          <p:nvPr/>
        </p:nvSpPr>
        <p:spPr>
          <a:xfrm>
            <a:off x="47091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Operational NWP</a:t>
            </a:r>
          </a:p>
        </p:txBody>
      </p:sp>
      <p:sp>
        <p:nvSpPr>
          <p:cNvPr id="9" name="Text 7">
            <a:extLst>
              <a:ext uri="{FF2B5EF4-FFF2-40B4-BE49-F238E27FC236}">
                <a16:creationId xmlns:a16="http://schemas.microsoft.com/office/drawing/2014/main" id="{91FE0FB4-B9F7-47FE-9131-E5E5CE74EC82}"/>
              </a:ext>
            </a:extLst>
          </p:cNvPr>
          <p:cNvSpPr>
            <a:spLocks noGrp="1"/>
          </p:cNvSpPr>
          <p:nvPr/>
        </p:nvSpPr>
        <p:spPr>
          <a:xfrm>
            <a:off x="47091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2400" b="0" dirty="0">
                <a:solidFill>
                  <a:srgbClr val="4D5B6A"/>
                </a:solidFill>
                <a:latin typeface="Aptos"/>
                <a:ea typeface="Aptos"/>
                <a:cs typeface="Aptos"/>
              </a:rPr>
              <a:t>Realistic, high-dimensional, and expensive to modify or sweep systematically</a:t>
            </a:r>
            <a:r>
              <a:rPr sz="1650" b="0" dirty="0">
                <a:solidFill>
                  <a:srgbClr val="4D5B6A"/>
                </a:solidFill>
                <a:latin typeface="Aptos"/>
                <a:ea typeface="Aptos"/>
                <a:cs typeface="Aptos"/>
              </a:rPr>
              <a:t>.</a:t>
            </a:r>
          </a:p>
        </p:txBody>
      </p:sp>
      <p:sp>
        <p:nvSpPr>
          <p:cNvPr id="10" name="Shape 8">
            <a:extLst>
              <a:ext uri="{FF2B5EF4-FFF2-40B4-BE49-F238E27FC236}">
                <a16:creationId xmlns:a16="http://schemas.microsoft.com/office/drawing/2014/main" id="{4764E90F-B822-4AEE-971B-C8D61756354C}"/>
              </a:ext>
            </a:extLst>
          </p:cNvPr>
          <p:cNvSpPr>
            <a:spLocks noGrp="1"/>
          </p:cNvSpPr>
          <p:nvPr/>
        </p:nvSpPr>
        <p:spPr>
          <a:xfrm>
            <a:off x="8183880" y="1554480"/>
            <a:ext cx="3154680" cy="4023360"/>
          </a:xfrm>
          <a:prstGeom prst="roundRect">
            <a:avLst>
              <a:gd name="adj" fmla="val 2319"/>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1" name="Text 9">
            <a:extLst>
              <a:ext uri="{FF2B5EF4-FFF2-40B4-BE49-F238E27FC236}">
                <a16:creationId xmlns:a16="http://schemas.microsoft.com/office/drawing/2014/main" id="{2B252323-9534-4F37-9000-D34220568FA4}"/>
              </a:ext>
            </a:extLst>
          </p:cNvPr>
          <p:cNvSpPr>
            <a:spLocks noGrp="1"/>
          </p:cNvSpPr>
          <p:nvPr/>
        </p:nvSpPr>
        <p:spPr>
          <a:xfrm>
            <a:off x="8366760" y="1691640"/>
            <a:ext cx="278892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SPEEDY bridge</a:t>
            </a:r>
          </a:p>
        </p:txBody>
      </p:sp>
      <p:sp>
        <p:nvSpPr>
          <p:cNvPr id="12" name="Text 10">
            <a:extLst>
              <a:ext uri="{FF2B5EF4-FFF2-40B4-BE49-F238E27FC236}">
                <a16:creationId xmlns:a16="http://schemas.microsoft.com/office/drawing/2014/main" id="{91730671-F08E-4503-A7E0-4BF2AAE5BCDA}"/>
              </a:ext>
            </a:extLst>
          </p:cNvPr>
          <p:cNvSpPr>
            <a:spLocks noGrp="1"/>
          </p:cNvSpPr>
          <p:nvPr/>
        </p:nvSpPr>
        <p:spPr>
          <a:xfrm>
            <a:off x="8366760" y="1993392"/>
            <a:ext cx="278892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2400" b="0" dirty="0">
                <a:solidFill>
                  <a:srgbClr val="4D5B6A"/>
                </a:solidFill>
                <a:latin typeface="Aptos"/>
                <a:ea typeface="Aptos"/>
                <a:cs typeface="Aptos"/>
              </a:rPr>
              <a:t>Global, multivariable primitive-equation dynamics at intermediate computational cost.</a:t>
            </a:r>
          </a:p>
        </p:txBody>
      </p:sp>
      <p:sp>
        <p:nvSpPr>
          <p:cNvPr id="25" name="Slide Number Placeholder 0">
            <a:extLst>
              <a:ext uri="{FF2B5EF4-FFF2-40B4-BE49-F238E27FC236}">
                <a16:creationId xmlns:a16="http://schemas.microsoft.com/office/drawing/2014/main" id="{00F72CA8-F846-4BBA-BF83-9A465D979E0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EE5B3003-2C54-13C6-9832-7637201064DE}" type="slidenum">
              <a:rPr b="0"/>
              <a:t>5</a:t>
            </a:fld>
            <a:endParaRPr b="0"/>
          </a:p>
        </p:txBody>
      </p:sp>
    </p:spTree>
    <p:extLst>
      <p:ext uri="{BB962C8B-B14F-4D97-AF65-F5344CB8AC3E}">
        <p14:creationId xmlns:p14="http://schemas.microsoft.com/office/powerpoint/2010/main" val="1237891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1B36FD0-8BFD-48FC-AAD1-2B4817C8DB04}"/>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SPEEDY and AMLCS-DA provide the controlled atmospheric testbed</a:t>
            </a:r>
          </a:p>
        </p:txBody>
      </p:sp>
      <p:sp>
        <p:nvSpPr>
          <p:cNvPr id="3" name="Shape 1">
            <a:extLst>
              <a:ext uri="{FF2B5EF4-FFF2-40B4-BE49-F238E27FC236}">
                <a16:creationId xmlns:a16="http://schemas.microsoft.com/office/drawing/2014/main" id="{671B9771-0597-4AE5-872B-47273879961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DBB211A0-77CB-47A0-99E1-8350E5522924}"/>
              </a:ext>
            </a:extLst>
          </p:cNvPr>
          <p:cNvSpPr>
            <a:spLocks noGrp="1"/>
          </p:cNvSpPr>
          <p:nvPr/>
        </p:nvSpPr>
        <p:spPr>
          <a:xfrm>
            <a:off x="777240" y="1508760"/>
            <a:ext cx="4846320" cy="4023360"/>
          </a:xfrm>
          <a:prstGeom prst="rect">
            <a:avLst/>
          </a:prstGeom>
          <a:noFill/>
        </p:spPr>
        <p:txBody>
          <a:bodyPr wrap="square" lIns="1016" tIns="1016" rIns="1016" bIns="1016" anchor="ctr"/>
          <a:lstStyle/>
          <a:p>
            <a:pPr marL="177800" indent="-177800" algn="l">
              <a:buChar char="•"/>
              <a:defRPr sz="1500" b="0">
                <a:solidFill>
                  <a:srgbClr val="334252"/>
                </a:solidFill>
                <a:latin typeface="Aptos"/>
                <a:ea typeface="Aptos"/>
                <a:cs typeface="Aptos"/>
              </a:defRPr>
            </a:pPr>
            <a:r>
              <a:rPr sz="2000" b="0" dirty="0">
                <a:solidFill>
                  <a:srgbClr val="334252"/>
                </a:solidFill>
                <a:latin typeface="Aptos"/>
                <a:ea typeface="Aptos"/>
                <a:cs typeface="Aptos"/>
              </a:rPr>
              <a:t>T21 spectral resolution</a:t>
            </a:r>
            <a:endParaRPr lang="en-US" sz="2000" dirty="0">
              <a:solidFill>
                <a:srgbClr val="334252"/>
              </a:solidFill>
              <a:latin typeface="Aptos"/>
              <a:ea typeface="Aptos"/>
              <a:cs typeface="Aptos"/>
            </a:endParaRPr>
          </a:p>
          <a:p>
            <a:pPr marL="177800" indent="-177800" algn="l">
              <a:buChar char="•"/>
              <a:defRPr sz="1500" b="0">
                <a:solidFill>
                  <a:srgbClr val="334252"/>
                </a:solidFill>
                <a:latin typeface="Aptos"/>
                <a:ea typeface="Aptos"/>
                <a:cs typeface="Aptos"/>
              </a:defRPr>
            </a:pPr>
            <a:r>
              <a:rPr sz="2000" b="0" dirty="0">
                <a:solidFill>
                  <a:srgbClr val="334252"/>
                </a:solidFill>
                <a:latin typeface="Aptos"/>
                <a:ea typeface="Aptos"/>
                <a:cs typeface="Aptos"/>
              </a:rPr>
              <a:t>32 × 64 latitude-longitude grid</a:t>
            </a:r>
            <a:endParaRPr lang="en-US" sz="2000" b="0" dirty="0">
              <a:solidFill>
                <a:srgbClr val="334252"/>
              </a:solidFill>
              <a:latin typeface="Aptos"/>
              <a:ea typeface="Aptos"/>
              <a:cs typeface="Aptos"/>
            </a:endParaRPr>
          </a:p>
          <a:p>
            <a:pPr marL="177800" indent="-177800" algn="l">
              <a:buChar char="•"/>
              <a:defRPr sz="1500" b="0">
                <a:solidFill>
                  <a:srgbClr val="334252"/>
                </a:solidFill>
                <a:latin typeface="Aptos"/>
                <a:ea typeface="Aptos"/>
                <a:cs typeface="Aptos"/>
              </a:defRPr>
            </a:pPr>
            <a:r>
              <a:rPr sz="2000" b="0" dirty="0">
                <a:solidFill>
                  <a:srgbClr val="334252"/>
                </a:solidFill>
                <a:latin typeface="Aptos"/>
                <a:ea typeface="Aptos"/>
                <a:cs typeface="Aptos"/>
              </a:rPr>
              <a:t>8 vertical levels</a:t>
            </a:r>
            <a:endParaRPr lang="en-US" sz="2000" b="0" dirty="0">
              <a:solidFill>
                <a:srgbClr val="334252"/>
              </a:solidFill>
              <a:latin typeface="Aptos"/>
              <a:ea typeface="Aptos"/>
              <a:cs typeface="Aptos"/>
            </a:endParaRPr>
          </a:p>
          <a:p>
            <a:pPr marL="177800" indent="-177800" algn="l">
              <a:buChar char="•"/>
              <a:defRPr sz="1500" b="0">
                <a:solidFill>
                  <a:srgbClr val="334252"/>
                </a:solidFill>
                <a:latin typeface="Aptos"/>
                <a:ea typeface="Aptos"/>
                <a:cs typeface="Aptos"/>
              </a:defRPr>
            </a:pPr>
            <a:r>
              <a:rPr sz="2000" b="0" dirty="0">
                <a:solidFill>
                  <a:srgbClr val="334252"/>
                </a:solidFill>
                <a:latin typeface="Aptos"/>
                <a:ea typeface="Aptos"/>
                <a:cs typeface="Aptos"/>
              </a:rPr>
              <a:t>Simplified primitive-equation physics</a:t>
            </a:r>
            <a:endParaRPr lang="en-US" sz="2000" b="0" dirty="0">
              <a:solidFill>
                <a:srgbClr val="334252"/>
              </a:solidFill>
              <a:latin typeface="Aptos"/>
              <a:ea typeface="Aptos"/>
              <a:cs typeface="Aptos"/>
            </a:endParaRPr>
          </a:p>
          <a:p>
            <a:pPr marL="177800" indent="-177800" algn="l">
              <a:buChar char="•"/>
              <a:defRPr sz="1500" b="0">
                <a:solidFill>
                  <a:srgbClr val="334252"/>
                </a:solidFill>
                <a:latin typeface="Aptos"/>
                <a:ea typeface="Aptos"/>
                <a:cs typeface="Aptos"/>
              </a:defRPr>
            </a:pPr>
            <a:r>
              <a:rPr sz="2000" b="0" dirty="0">
                <a:solidFill>
                  <a:srgbClr val="334252"/>
                </a:solidFill>
                <a:latin typeface="Aptos"/>
                <a:ea typeface="Aptos"/>
                <a:cs typeface="Aptos"/>
              </a:rPr>
              <a:t>Hybrid Fortran 77 / Fortran 90 model</a:t>
            </a:r>
          </a:p>
        </p:txBody>
      </p:sp>
      <p:sp>
        <p:nvSpPr>
          <p:cNvPr id="5" name="Shape 3">
            <a:extLst>
              <a:ext uri="{FF2B5EF4-FFF2-40B4-BE49-F238E27FC236}">
                <a16:creationId xmlns:a16="http://schemas.microsoft.com/office/drawing/2014/main" id="{078E16B8-7EC6-44DB-A031-514D412FC52C}"/>
              </a:ext>
            </a:extLst>
          </p:cNvPr>
          <p:cNvSpPr>
            <a:spLocks noGrp="1"/>
          </p:cNvSpPr>
          <p:nvPr/>
        </p:nvSpPr>
        <p:spPr>
          <a:xfrm>
            <a:off x="5897880" y="1417320"/>
            <a:ext cx="4846320" cy="1325880"/>
          </a:xfrm>
          <a:prstGeom prst="roundRect">
            <a:avLst>
              <a:gd name="adj" fmla="val 5517"/>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4">
            <a:extLst>
              <a:ext uri="{FF2B5EF4-FFF2-40B4-BE49-F238E27FC236}">
                <a16:creationId xmlns:a16="http://schemas.microsoft.com/office/drawing/2014/main" id="{19A19AA5-5DB5-4573-9E4D-7BAE8B10414E}"/>
              </a:ext>
            </a:extLst>
          </p:cNvPr>
          <p:cNvSpPr>
            <a:spLocks noGrp="1"/>
          </p:cNvSpPr>
          <p:nvPr/>
        </p:nvSpPr>
        <p:spPr>
          <a:xfrm>
            <a:off x="6080760" y="1554480"/>
            <a:ext cx="4480560" cy="256032"/>
          </a:xfrm>
          <a:prstGeom prst="rect">
            <a:avLst/>
          </a:prstGeom>
          <a:noFill/>
        </p:spPr>
        <p:txBody>
          <a:bodyPr wrap="square" lIns="0" tIns="0" rIns="0" bIns="0" anchor="ctr"/>
          <a:lstStyle/>
          <a:p>
            <a:pPr marL="0" indent="0" algn="l">
              <a:buNone/>
              <a:defRPr sz="1575" b="1">
                <a:solidFill>
                  <a:srgbClr val="214B69"/>
                </a:solidFill>
                <a:latin typeface="Aptos"/>
                <a:ea typeface="Aptos"/>
                <a:cs typeface="Aptos"/>
              </a:defRPr>
            </a:pPr>
            <a:r>
              <a:rPr sz="1575" b="1">
                <a:solidFill>
                  <a:srgbClr val="214B69"/>
                </a:solidFill>
                <a:latin typeface="Aptos"/>
                <a:ea typeface="Aptos"/>
                <a:cs typeface="Aptos"/>
              </a:rPr>
              <a:t>Why SPEEDY</a:t>
            </a:r>
          </a:p>
        </p:txBody>
      </p:sp>
      <p:sp>
        <p:nvSpPr>
          <p:cNvPr id="7" name="Text 5">
            <a:extLst>
              <a:ext uri="{FF2B5EF4-FFF2-40B4-BE49-F238E27FC236}">
                <a16:creationId xmlns:a16="http://schemas.microsoft.com/office/drawing/2014/main" id="{37F99A0F-27D9-45B3-821B-EEB639AFC84E}"/>
              </a:ext>
            </a:extLst>
          </p:cNvPr>
          <p:cNvSpPr>
            <a:spLocks noGrp="1"/>
          </p:cNvSpPr>
          <p:nvPr/>
        </p:nvSpPr>
        <p:spPr>
          <a:xfrm>
            <a:off x="6080760" y="1856232"/>
            <a:ext cx="4480560" cy="77724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Global circulation and atmospheric coupling without operational-model cost</a:t>
            </a:r>
            <a:r>
              <a:rPr sz="1425" b="0" dirty="0">
                <a:solidFill>
                  <a:srgbClr val="4D5B6A"/>
                </a:solidFill>
                <a:latin typeface="Aptos"/>
                <a:ea typeface="Aptos"/>
                <a:cs typeface="Aptos"/>
              </a:rPr>
              <a:t>.</a:t>
            </a:r>
          </a:p>
        </p:txBody>
      </p:sp>
      <p:sp>
        <p:nvSpPr>
          <p:cNvPr id="8" name="Shape 6">
            <a:extLst>
              <a:ext uri="{FF2B5EF4-FFF2-40B4-BE49-F238E27FC236}">
                <a16:creationId xmlns:a16="http://schemas.microsoft.com/office/drawing/2014/main" id="{F3C45D5A-A24A-4640-95AE-7E1883F6B327}"/>
              </a:ext>
            </a:extLst>
          </p:cNvPr>
          <p:cNvSpPr>
            <a:spLocks noGrp="1"/>
          </p:cNvSpPr>
          <p:nvPr/>
        </p:nvSpPr>
        <p:spPr>
          <a:xfrm>
            <a:off x="5897880" y="2926080"/>
            <a:ext cx="4846320" cy="1325880"/>
          </a:xfrm>
          <a:prstGeom prst="roundRect">
            <a:avLst>
              <a:gd name="adj" fmla="val 5517"/>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7">
            <a:extLst>
              <a:ext uri="{FF2B5EF4-FFF2-40B4-BE49-F238E27FC236}">
                <a16:creationId xmlns:a16="http://schemas.microsoft.com/office/drawing/2014/main" id="{4342A021-0F01-47DB-A071-B26CCDCC01D1}"/>
              </a:ext>
            </a:extLst>
          </p:cNvPr>
          <p:cNvSpPr>
            <a:spLocks noGrp="1"/>
          </p:cNvSpPr>
          <p:nvPr/>
        </p:nvSpPr>
        <p:spPr>
          <a:xfrm>
            <a:off x="6080760" y="3063240"/>
            <a:ext cx="4480560" cy="256032"/>
          </a:xfrm>
          <a:prstGeom prst="rect">
            <a:avLst/>
          </a:prstGeom>
          <a:noFill/>
        </p:spPr>
        <p:txBody>
          <a:bodyPr wrap="square" lIns="0" tIns="0" rIns="0" bIns="0" anchor="ctr"/>
          <a:lstStyle/>
          <a:p>
            <a:pPr marL="0" indent="0" algn="l">
              <a:buNone/>
              <a:defRPr sz="1575" b="1">
                <a:solidFill>
                  <a:srgbClr val="214B69"/>
                </a:solidFill>
                <a:latin typeface="Aptos"/>
                <a:ea typeface="Aptos"/>
                <a:cs typeface="Aptos"/>
              </a:defRPr>
            </a:pPr>
            <a:r>
              <a:rPr sz="1575" b="1">
                <a:solidFill>
                  <a:srgbClr val="214B69"/>
                </a:solidFill>
                <a:latin typeface="Aptos"/>
                <a:ea typeface="Aptos"/>
                <a:cs typeface="Aptos"/>
              </a:rPr>
              <a:t>Why AMLCS-DA</a:t>
            </a:r>
          </a:p>
        </p:txBody>
      </p:sp>
      <p:sp>
        <p:nvSpPr>
          <p:cNvPr id="10" name="Text 8">
            <a:extLst>
              <a:ext uri="{FF2B5EF4-FFF2-40B4-BE49-F238E27FC236}">
                <a16:creationId xmlns:a16="http://schemas.microsoft.com/office/drawing/2014/main" id="{BC5C300E-5EBE-4B5A-B98A-CD3A96756C7D}"/>
              </a:ext>
            </a:extLst>
          </p:cNvPr>
          <p:cNvSpPr>
            <a:spLocks noGrp="1"/>
          </p:cNvSpPr>
          <p:nvPr/>
        </p:nvSpPr>
        <p:spPr>
          <a:xfrm>
            <a:off x="6080760" y="3364992"/>
            <a:ext cx="4480560" cy="77724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Common forecast-analysis loop, observation network, model execution, and diagnostics</a:t>
            </a:r>
            <a:r>
              <a:rPr sz="1425" b="0" dirty="0">
                <a:solidFill>
                  <a:srgbClr val="4D5B6A"/>
                </a:solidFill>
                <a:latin typeface="Aptos"/>
                <a:ea typeface="Aptos"/>
                <a:cs typeface="Aptos"/>
              </a:rPr>
              <a:t>.</a:t>
            </a:r>
          </a:p>
        </p:txBody>
      </p:sp>
      <p:sp>
        <p:nvSpPr>
          <p:cNvPr id="11" name="Shape 9">
            <a:extLst>
              <a:ext uri="{FF2B5EF4-FFF2-40B4-BE49-F238E27FC236}">
                <a16:creationId xmlns:a16="http://schemas.microsoft.com/office/drawing/2014/main" id="{B4B441B9-396A-418E-914B-1945FBB70B9C}"/>
              </a:ext>
            </a:extLst>
          </p:cNvPr>
          <p:cNvSpPr>
            <a:spLocks noGrp="1"/>
          </p:cNvSpPr>
          <p:nvPr/>
        </p:nvSpPr>
        <p:spPr>
          <a:xfrm>
            <a:off x="5897880" y="4434840"/>
            <a:ext cx="4846320" cy="1325880"/>
          </a:xfrm>
          <a:prstGeom prst="roundRect">
            <a:avLst>
              <a:gd name="adj" fmla="val 5517"/>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10">
            <a:extLst>
              <a:ext uri="{FF2B5EF4-FFF2-40B4-BE49-F238E27FC236}">
                <a16:creationId xmlns:a16="http://schemas.microsoft.com/office/drawing/2014/main" id="{713B6169-DB9E-4202-BA10-80ACE794C140}"/>
              </a:ext>
            </a:extLst>
          </p:cNvPr>
          <p:cNvSpPr>
            <a:spLocks noGrp="1"/>
          </p:cNvSpPr>
          <p:nvPr/>
        </p:nvSpPr>
        <p:spPr>
          <a:xfrm>
            <a:off x="6080760" y="4572000"/>
            <a:ext cx="4480560" cy="256032"/>
          </a:xfrm>
          <a:prstGeom prst="rect">
            <a:avLst/>
          </a:prstGeom>
          <a:noFill/>
        </p:spPr>
        <p:txBody>
          <a:bodyPr wrap="square" lIns="0" tIns="0" rIns="0" bIns="0" anchor="ctr"/>
          <a:lstStyle/>
          <a:p>
            <a:pPr marL="0" indent="0" algn="l">
              <a:buNone/>
              <a:defRPr sz="1575" b="1">
                <a:solidFill>
                  <a:srgbClr val="214B69"/>
                </a:solidFill>
                <a:latin typeface="Aptos"/>
                <a:ea typeface="Aptos"/>
                <a:cs typeface="Aptos"/>
              </a:defRPr>
            </a:pPr>
            <a:r>
              <a:rPr sz="1575" b="1">
                <a:solidFill>
                  <a:srgbClr val="214B69"/>
                </a:solidFill>
                <a:latin typeface="Aptos"/>
                <a:ea typeface="Aptos"/>
                <a:cs typeface="Aptos"/>
              </a:rPr>
              <a:t>Role in this project</a:t>
            </a:r>
          </a:p>
        </p:txBody>
      </p:sp>
      <p:sp>
        <p:nvSpPr>
          <p:cNvPr id="13" name="Text 11">
            <a:extLst>
              <a:ext uri="{FF2B5EF4-FFF2-40B4-BE49-F238E27FC236}">
                <a16:creationId xmlns:a16="http://schemas.microsoft.com/office/drawing/2014/main" id="{4D69B092-EACA-4249-AD72-B059B2D4F9A0}"/>
              </a:ext>
            </a:extLst>
          </p:cNvPr>
          <p:cNvSpPr>
            <a:spLocks noGrp="1"/>
          </p:cNvSpPr>
          <p:nvPr/>
        </p:nvSpPr>
        <p:spPr>
          <a:xfrm>
            <a:off x="6080760" y="4873752"/>
            <a:ext cx="4480560" cy="77724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A reproducible bridge from method-development benchmarks to a global AGCM.</a:t>
            </a:r>
          </a:p>
        </p:txBody>
      </p:sp>
      <p:sp>
        <p:nvSpPr>
          <p:cNvPr id="25" name="Slide Number Placeholder 0">
            <a:extLst>
              <a:ext uri="{FF2B5EF4-FFF2-40B4-BE49-F238E27FC236}">
                <a16:creationId xmlns:a16="http://schemas.microsoft.com/office/drawing/2014/main" id="{D05F6481-DFF3-4FDE-BCAD-9B3B6698B513}"/>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8C630A04-5A25-9E0C-9436-126091DB86B3}" type="slidenum">
              <a:rPr b="0"/>
              <a:t>6</a:t>
            </a:fld>
            <a:endParaRPr b="0"/>
          </a:p>
        </p:txBody>
      </p:sp>
    </p:spTree>
    <p:extLst>
      <p:ext uri="{BB962C8B-B14F-4D97-AF65-F5344CB8AC3E}">
        <p14:creationId xmlns:p14="http://schemas.microsoft.com/office/powerpoint/2010/main" val="382762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205621-9933-4235-AB1E-FCF9EE895DF3}"/>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What this project implemented</a:t>
            </a:r>
          </a:p>
        </p:txBody>
      </p:sp>
      <p:sp>
        <p:nvSpPr>
          <p:cNvPr id="3" name="Shape 1">
            <a:extLst>
              <a:ext uri="{FF2B5EF4-FFF2-40B4-BE49-F238E27FC236}">
                <a16:creationId xmlns:a16="http://schemas.microsoft.com/office/drawing/2014/main" id="{5141B92F-54EE-4D74-8F40-B2C2E6E0770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DAD3A7E4-7723-48EF-A8B2-A64C1ABEC2C1}"/>
              </a:ext>
            </a:extLst>
          </p:cNvPr>
          <p:cNvSpPr>
            <a:spLocks noGrp="1"/>
          </p:cNvSpPr>
          <p:nvPr/>
        </p:nvSpPr>
        <p:spPr>
          <a:xfrm>
            <a:off x="8686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5" name="Text 3">
            <a:extLst>
              <a:ext uri="{FF2B5EF4-FFF2-40B4-BE49-F238E27FC236}">
                <a16:creationId xmlns:a16="http://schemas.microsoft.com/office/drawing/2014/main" id="{6DDD8ED3-31B1-4042-9AEE-1DD0E37BE554}"/>
              </a:ext>
            </a:extLst>
          </p:cNvPr>
          <p:cNvSpPr>
            <a:spLocks noGrp="1"/>
          </p:cNvSpPr>
          <p:nvPr/>
        </p:nvSpPr>
        <p:spPr>
          <a:xfrm>
            <a:off x="10515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EnSF in AMLCS-DA</a:t>
            </a:r>
          </a:p>
        </p:txBody>
      </p:sp>
      <p:sp>
        <p:nvSpPr>
          <p:cNvPr id="6" name="Text 4">
            <a:extLst>
              <a:ext uri="{FF2B5EF4-FFF2-40B4-BE49-F238E27FC236}">
                <a16:creationId xmlns:a16="http://schemas.microsoft.com/office/drawing/2014/main" id="{C68221B3-1B26-4A27-9494-F7466761E037}"/>
              </a:ext>
            </a:extLst>
          </p:cNvPr>
          <p:cNvSpPr>
            <a:spLocks noGrp="1"/>
          </p:cNvSpPr>
          <p:nvPr/>
        </p:nvSpPr>
        <p:spPr>
          <a:xfrm>
            <a:off x="10515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Adapted the collaborator-provided reverse-SDE prototype into sequential_methods.py.</a:t>
            </a:r>
          </a:p>
        </p:txBody>
      </p:sp>
      <p:sp>
        <p:nvSpPr>
          <p:cNvPr id="7" name="Shape 5">
            <a:extLst>
              <a:ext uri="{FF2B5EF4-FFF2-40B4-BE49-F238E27FC236}">
                <a16:creationId xmlns:a16="http://schemas.microsoft.com/office/drawing/2014/main" id="{29592638-E0EF-41FD-8B2B-ACF1659AD6CE}"/>
              </a:ext>
            </a:extLst>
          </p:cNvPr>
          <p:cNvSpPr>
            <a:spLocks noGrp="1"/>
          </p:cNvSpPr>
          <p:nvPr/>
        </p:nvSpPr>
        <p:spPr>
          <a:xfrm>
            <a:off x="45262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8" name="Text 6">
            <a:extLst>
              <a:ext uri="{FF2B5EF4-FFF2-40B4-BE49-F238E27FC236}">
                <a16:creationId xmlns:a16="http://schemas.microsoft.com/office/drawing/2014/main" id="{AAD23D41-5ACA-435E-A285-D12ACA3345E5}"/>
              </a:ext>
            </a:extLst>
          </p:cNvPr>
          <p:cNvSpPr>
            <a:spLocks noGrp="1"/>
          </p:cNvSpPr>
          <p:nvPr/>
        </p:nvSpPr>
        <p:spPr>
          <a:xfrm>
            <a:off x="47091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dirty="0">
                <a:solidFill>
                  <a:srgbClr val="214B69"/>
                </a:solidFill>
                <a:latin typeface="Aptos"/>
                <a:ea typeface="Aptos"/>
                <a:cs typeface="Aptos"/>
              </a:rPr>
              <a:t>Nonlinear wind </a:t>
            </a:r>
            <a:r>
              <a:rPr lang="en-US" sz="1650" b="1" dirty="0">
                <a:solidFill>
                  <a:srgbClr val="214B69"/>
                </a:solidFill>
                <a:latin typeface="Aptos"/>
                <a:ea typeface="Aptos"/>
                <a:cs typeface="Aptos"/>
              </a:rPr>
              <a:t>observations</a:t>
            </a:r>
            <a:endParaRPr sz="1650" b="1" dirty="0">
              <a:solidFill>
                <a:srgbClr val="214B69"/>
              </a:solidFill>
              <a:latin typeface="Aptos"/>
              <a:ea typeface="Aptos"/>
              <a:cs typeface="Aptos"/>
            </a:endParaRPr>
          </a:p>
        </p:txBody>
      </p:sp>
      <p:sp>
        <p:nvSpPr>
          <p:cNvPr id="9" name="Text 7">
            <a:extLst>
              <a:ext uri="{FF2B5EF4-FFF2-40B4-BE49-F238E27FC236}">
                <a16:creationId xmlns:a16="http://schemas.microsoft.com/office/drawing/2014/main" id="{91FE0FB4-B9F7-47FE-9131-E5E5CE74EC82}"/>
              </a:ext>
            </a:extLst>
          </p:cNvPr>
          <p:cNvSpPr>
            <a:spLocks noGrp="1"/>
          </p:cNvSpPr>
          <p:nvPr/>
        </p:nvSpPr>
        <p:spPr>
          <a:xfrm>
            <a:off x="47091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dirty="0">
                <a:solidFill>
                  <a:srgbClr val="4D5B6A"/>
                </a:solidFill>
                <a:latin typeface="Aptos"/>
                <a:ea typeface="Aptos"/>
                <a:cs typeface="Aptos"/>
              </a:rPr>
              <a:t>Modified observation handling to assimilate wind direction and wind speed</a:t>
            </a:r>
            <a:r>
              <a:rPr lang="en-US" sz="1650" b="0" dirty="0">
                <a:solidFill>
                  <a:srgbClr val="4D5B6A"/>
                </a:solidFill>
                <a:latin typeface="Aptos"/>
                <a:ea typeface="Aptos"/>
                <a:cs typeface="Aptos"/>
              </a:rPr>
              <a:t> </a:t>
            </a:r>
            <a:r>
              <a:rPr lang="en-US" sz="1650" dirty="0">
                <a:solidFill>
                  <a:srgbClr val="4D5B6A"/>
                </a:solidFill>
                <a:latin typeface="Aptos"/>
                <a:ea typeface="Aptos"/>
                <a:cs typeface="Aptos"/>
              </a:rPr>
              <a:t>within both methods.</a:t>
            </a:r>
            <a:endParaRPr sz="1650" b="0" dirty="0">
              <a:solidFill>
                <a:srgbClr val="4D5B6A"/>
              </a:solidFill>
              <a:latin typeface="Aptos"/>
              <a:ea typeface="Aptos"/>
              <a:cs typeface="Aptos"/>
            </a:endParaRPr>
          </a:p>
        </p:txBody>
      </p:sp>
      <p:sp>
        <p:nvSpPr>
          <p:cNvPr id="10" name="Shape 8">
            <a:extLst>
              <a:ext uri="{FF2B5EF4-FFF2-40B4-BE49-F238E27FC236}">
                <a16:creationId xmlns:a16="http://schemas.microsoft.com/office/drawing/2014/main" id="{4764E90F-B822-4AEE-971B-C8D61756354C}"/>
              </a:ext>
            </a:extLst>
          </p:cNvPr>
          <p:cNvSpPr>
            <a:spLocks noGrp="1"/>
          </p:cNvSpPr>
          <p:nvPr/>
        </p:nvSpPr>
        <p:spPr>
          <a:xfrm>
            <a:off x="8183880" y="1554480"/>
            <a:ext cx="3154680" cy="4023360"/>
          </a:xfrm>
          <a:prstGeom prst="roundRect">
            <a:avLst>
              <a:gd name="adj" fmla="val 2319"/>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1" name="Text 9">
            <a:extLst>
              <a:ext uri="{FF2B5EF4-FFF2-40B4-BE49-F238E27FC236}">
                <a16:creationId xmlns:a16="http://schemas.microsoft.com/office/drawing/2014/main" id="{2B252323-9534-4F37-9000-D34220568FA4}"/>
              </a:ext>
            </a:extLst>
          </p:cNvPr>
          <p:cNvSpPr>
            <a:spLocks noGrp="1"/>
          </p:cNvSpPr>
          <p:nvPr/>
        </p:nvSpPr>
        <p:spPr>
          <a:xfrm>
            <a:off x="8366760" y="1691640"/>
            <a:ext cx="278892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Evaluation pipeline</a:t>
            </a:r>
          </a:p>
        </p:txBody>
      </p:sp>
      <p:sp>
        <p:nvSpPr>
          <p:cNvPr id="12" name="Text 10">
            <a:extLst>
              <a:ext uri="{FF2B5EF4-FFF2-40B4-BE49-F238E27FC236}">
                <a16:creationId xmlns:a16="http://schemas.microsoft.com/office/drawing/2014/main" id="{91730671-F08E-4503-A7E0-4BF2AAE5BCDA}"/>
              </a:ext>
            </a:extLst>
          </p:cNvPr>
          <p:cNvSpPr>
            <a:spLocks noGrp="1"/>
          </p:cNvSpPr>
          <p:nvPr/>
        </p:nvSpPr>
        <p:spPr>
          <a:xfrm>
            <a:off x="8366760" y="1993392"/>
            <a:ext cx="278892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Added parameter sweeps, RMSE summaries, Gaussianity tests, maps, and SDE trajectories.</a:t>
            </a:r>
          </a:p>
        </p:txBody>
      </p:sp>
      <p:sp>
        <p:nvSpPr>
          <p:cNvPr id="25" name="Slide Number Placeholder 0">
            <a:extLst>
              <a:ext uri="{FF2B5EF4-FFF2-40B4-BE49-F238E27FC236}">
                <a16:creationId xmlns:a16="http://schemas.microsoft.com/office/drawing/2014/main" id="{00F72CA8-F846-4BBA-BF83-9A465D979E0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D3D7D1C8-AE23-AA48-DF65-C742588DBE47}" type="slidenum">
              <a:rPr b="0"/>
              <a:t>7</a:t>
            </a:fld>
            <a:endParaRPr b="0"/>
          </a:p>
        </p:txBody>
      </p:sp>
    </p:spTree>
    <p:extLst>
      <p:ext uri="{BB962C8B-B14F-4D97-AF65-F5344CB8AC3E}">
        <p14:creationId xmlns:p14="http://schemas.microsoft.com/office/powerpoint/2010/main" val="1237891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94A3C5-CCF4-4894-85C8-F9F1A884594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State vector and vertical structure</a:t>
            </a:r>
          </a:p>
        </p:txBody>
      </p:sp>
      <p:sp>
        <p:nvSpPr>
          <p:cNvPr id="3" name="Shape 1">
            <a:extLst>
              <a:ext uri="{FF2B5EF4-FFF2-40B4-BE49-F238E27FC236}">
                <a16:creationId xmlns:a16="http://schemas.microsoft.com/office/drawing/2014/main" id="{E93F05CF-1964-4CF8-906A-D4AB038AA8BE}"/>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384E1590-9191-418E-A236-DE99990C743E}"/>
              </a:ext>
            </a:extLst>
          </p:cNvPr>
          <p:cNvSpPr>
            <a:spLocks noGrp="1"/>
          </p:cNvSpPr>
          <p:nvPr/>
        </p:nvSpPr>
        <p:spPr>
          <a:xfrm>
            <a:off x="914400" y="1700784"/>
            <a:ext cx="164592" cy="164592"/>
          </a:xfrm>
          <a:prstGeom prst="ellipse">
            <a:avLst/>
          </a:prstGeom>
          <a:solidFill>
            <a:srgbClr val="D8A24A"/>
          </a:solidFill>
          <a:ln w="12700">
            <a:solidFill>
              <a:srgbClr val="D8A24A"/>
            </a:solidFill>
            <a:prstDash val="solid"/>
          </a:ln>
        </p:spPr>
        <p:txBody>
          <a:bodyPr/>
          <a:lstStyle/>
          <a:p>
            <a:endParaRPr/>
          </a:p>
        </p:txBody>
      </p:sp>
      <p:sp>
        <p:nvSpPr>
          <p:cNvPr id="5" name="Text 3">
            <a:extLst>
              <a:ext uri="{FF2B5EF4-FFF2-40B4-BE49-F238E27FC236}">
                <a16:creationId xmlns:a16="http://schemas.microsoft.com/office/drawing/2014/main" id="{3ED7CD4F-9184-4C7C-B6A7-97F2B0965F33}"/>
              </a:ext>
            </a:extLst>
          </p:cNvPr>
          <p:cNvSpPr>
            <a:spLocks noGrp="1"/>
          </p:cNvSpPr>
          <p:nvPr/>
        </p:nvSpPr>
        <p:spPr>
          <a:xfrm>
            <a:off x="1234440" y="1600200"/>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UG1</a:t>
            </a:r>
          </a:p>
        </p:txBody>
      </p:sp>
      <p:sp>
        <p:nvSpPr>
          <p:cNvPr id="6" name="Text 4">
            <a:extLst>
              <a:ext uri="{FF2B5EF4-FFF2-40B4-BE49-F238E27FC236}">
                <a16:creationId xmlns:a16="http://schemas.microsoft.com/office/drawing/2014/main" id="{EA868966-9A45-404C-BEF3-1DE4BECF83FA}"/>
              </a:ext>
            </a:extLst>
          </p:cNvPr>
          <p:cNvSpPr>
            <a:spLocks noGrp="1"/>
          </p:cNvSpPr>
          <p:nvPr/>
        </p:nvSpPr>
        <p:spPr>
          <a:xfrm>
            <a:off x="1874520" y="1581912"/>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dirty="0">
                <a:solidFill>
                  <a:srgbClr val="334252"/>
                </a:solidFill>
                <a:latin typeface="Aptos"/>
                <a:ea typeface="Aptos"/>
                <a:cs typeface="Aptos"/>
              </a:rPr>
              <a:t>Zonal wind | m s⁻¹ | levels 0-7</a:t>
            </a:r>
          </a:p>
        </p:txBody>
      </p:sp>
      <p:sp>
        <p:nvSpPr>
          <p:cNvPr id="7" name="Shape 5">
            <a:extLst>
              <a:ext uri="{FF2B5EF4-FFF2-40B4-BE49-F238E27FC236}">
                <a16:creationId xmlns:a16="http://schemas.microsoft.com/office/drawing/2014/main" id="{E8C9E9FB-DE8D-4B26-A252-B5F0656CE651}"/>
              </a:ext>
            </a:extLst>
          </p:cNvPr>
          <p:cNvSpPr>
            <a:spLocks noGrp="1"/>
          </p:cNvSpPr>
          <p:nvPr/>
        </p:nvSpPr>
        <p:spPr>
          <a:xfrm>
            <a:off x="914400" y="2450592"/>
            <a:ext cx="164592" cy="164592"/>
          </a:xfrm>
          <a:prstGeom prst="ellipse">
            <a:avLst/>
          </a:prstGeom>
          <a:solidFill>
            <a:srgbClr val="D8A24A"/>
          </a:solidFill>
          <a:ln w="12700">
            <a:solidFill>
              <a:srgbClr val="D8A24A"/>
            </a:solidFill>
            <a:prstDash val="solid"/>
          </a:ln>
        </p:spPr>
        <p:txBody>
          <a:bodyPr/>
          <a:lstStyle/>
          <a:p>
            <a:endParaRPr/>
          </a:p>
        </p:txBody>
      </p:sp>
      <p:sp>
        <p:nvSpPr>
          <p:cNvPr id="8" name="Text 6">
            <a:extLst>
              <a:ext uri="{FF2B5EF4-FFF2-40B4-BE49-F238E27FC236}">
                <a16:creationId xmlns:a16="http://schemas.microsoft.com/office/drawing/2014/main" id="{EB09599A-0BDC-4D2C-8CEB-04CD023B87B1}"/>
              </a:ext>
            </a:extLst>
          </p:cNvPr>
          <p:cNvSpPr>
            <a:spLocks noGrp="1"/>
          </p:cNvSpPr>
          <p:nvPr/>
        </p:nvSpPr>
        <p:spPr>
          <a:xfrm>
            <a:off x="1234440" y="2350008"/>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VG1</a:t>
            </a:r>
          </a:p>
        </p:txBody>
      </p:sp>
      <p:sp>
        <p:nvSpPr>
          <p:cNvPr id="9" name="Text 7">
            <a:extLst>
              <a:ext uri="{FF2B5EF4-FFF2-40B4-BE49-F238E27FC236}">
                <a16:creationId xmlns:a16="http://schemas.microsoft.com/office/drawing/2014/main" id="{BEA3F6AC-2409-4F21-AE97-E0723865371B}"/>
              </a:ext>
            </a:extLst>
          </p:cNvPr>
          <p:cNvSpPr>
            <a:spLocks noGrp="1"/>
          </p:cNvSpPr>
          <p:nvPr/>
        </p:nvSpPr>
        <p:spPr>
          <a:xfrm>
            <a:off x="1874520" y="2331720"/>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dirty="0">
                <a:solidFill>
                  <a:srgbClr val="334252"/>
                </a:solidFill>
                <a:latin typeface="Aptos"/>
                <a:ea typeface="Aptos"/>
                <a:cs typeface="Aptos"/>
              </a:rPr>
              <a:t>Meridional wind | m s⁻¹ | levels 0-7</a:t>
            </a:r>
          </a:p>
        </p:txBody>
      </p:sp>
      <p:sp>
        <p:nvSpPr>
          <p:cNvPr id="10" name="Shape 8">
            <a:extLst>
              <a:ext uri="{FF2B5EF4-FFF2-40B4-BE49-F238E27FC236}">
                <a16:creationId xmlns:a16="http://schemas.microsoft.com/office/drawing/2014/main" id="{8BC5C28F-FCD2-411C-B31D-4327CBECB2BA}"/>
              </a:ext>
            </a:extLst>
          </p:cNvPr>
          <p:cNvSpPr>
            <a:spLocks noGrp="1"/>
          </p:cNvSpPr>
          <p:nvPr/>
        </p:nvSpPr>
        <p:spPr>
          <a:xfrm>
            <a:off x="914400" y="3200400"/>
            <a:ext cx="164592" cy="164592"/>
          </a:xfrm>
          <a:prstGeom prst="ellipse">
            <a:avLst/>
          </a:prstGeom>
          <a:solidFill>
            <a:srgbClr val="D8A24A"/>
          </a:solidFill>
          <a:ln w="12700">
            <a:solidFill>
              <a:srgbClr val="D8A24A"/>
            </a:solidFill>
            <a:prstDash val="solid"/>
          </a:ln>
        </p:spPr>
        <p:txBody>
          <a:bodyPr/>
          <a:lstStyle/>
          <a:p>
            <a:endParaRPr/>
          </a:p>
        </p:txBody>
      </p:sp>
      <p:sp>
        <p:nvSpPr>
          <p:cNvPr id="11" name="Text 9">
            <a:extLst>
              <a:ext uri="{FF2B5EF4-FFF2-40B4-BE49-F238E27FC236}">
                <a16:creationId xmlns:a16="http://schemas.microsoft.com/office/drawing/2014/main" id="{E237F5B5-6A40-4BDC-BAB7-9A3B6E478052}"/>
              </a:ext>
            </a:extLst>
          </p:cNvPr>
          <p:cNvSpPr>
            <a:spLocks noGrp="1"/>
          </p:cNvSpPr>
          <p:nvPr/>
        </p:nvSpPr>
        <p:spPr>
          <a:xfrm>
            <a:off x="1234440" y="3099816"/>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TG1</a:t>
            </a:r>
          </a:p>
        </p:txBody>
      </p:sp>
      <p:sp>
        <p:nvSpPr>
          <p:cNvPr id="12" name="Text 10">
            <a:extLst>
              <a:ext uri="{FF2B5EF4-FFF2-40B4-BE49-F238E27FC236}">
                <a16:creationId xmlns:a16="http://schemas.microsoft.com/office/drawing/2014/main" id="{2787C92D-5922-4F22-AD22-00F358BA5A80}"/>
              </a:ext>
            </a:extLst>
          </p:cNvPr>
          <p:cNvSpPr>
            <a:spLocks noGrp="1"/>
          </p:cNvSpPr>
          <p:nvPr/>
        </p:nvSpPr>
        <p:spPr>
          <a:xfrm>
            <a:off x="1874520" y="3081528"/>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dirty="0">
                <a:solidFill>
                  <a:srgbClr val="334252"/>
                </a:solidFill>
                <a:latin typeface="Aptos"/>
                <a:ea typeface="Aptos"/>
                <a:cs typeface="Aptos"/>
              </a:rPr>
              <a:t>Temperature | K | levels 0-7</a:t>
            </a:r>
          </a:p>
        </p:txBody>
      </p:sp>
      <p:sp>
        <p:nvSpPr>
          <p:cNvPr id="13" name="Shape 11">
            <a:extLst>
              <a:ext uri="{FF2B5EF4-FFF2-40B4-BE49-F238E27FC236}">
                <a16:creationId xmlns:a16="http://schemas.microsoft.com/office/drawing/2014/main" id="{49B6C25D-80AD-4BCA-B581-206AF7870DC7}"/>
              </a:ext>
            </a:extLst>
          </p:cNvPr>
          <p:cNvSpPr>
            <a:spLocks noGrp="1"/>
          </p:cNvSpPr>
          <p:nvPr/>
        </p:nvSpPr>
        <p:spPr>
          <a:xfrm>
            <a:off x="914400" y="3950208"/>
            <a:ext cx="164592" cy="164592"/>
          </a:xfrm>
          <a:prstGeom prst="ellipse">
            <a:avLst/>
          </a:prstGeom>
          <a:solidFill>
            <a:srgbClr val="D8A24A"/>
          </a:solidFill>
          <a:ln w="12700">
            <a:solidFill>
              <a:srgbClr val="D8A24A"/>
            </a:solidFill>
            <a:prstDash val="solid"/>
          </a:ln>
        </p:spPr>
        <p:txBody>
          <a:bodyPr/>
          <a:lstStyle/>
          <a:p>
            <a:endParaRPr/>
          </a:p>
        </p:txBody>
      </p:sp>
      <p:sp>
        <p:nvSpPr>
          <p:cNvPr id="14" name="Text 12">
            <a:extLst>
              <a:ext uri="{FF2B5EF4-FFF2-40B4-BE49-F238E27FC236}">
                <a16:creationId xmlns:a16="http://schemas.microsoft.com/office/drawing/2014/main" id="{CAFFD34A-E05D-4599-A221-03E3928C1008}"/>
              </a:ext>
            </a:extLst>
          </p:cNvPr>
          <p:cNvSpPr>
            <a:spLocks noGrp="1"/>
          </p:cNvSpPr>
          <p:nvPr/>
        </p:nvSpPr>
        <p:spPr>
          <a:xfrm>
            <a:off x="1234440" y="3849624"/>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TRG1</a:t>
            </a:r>
          </a:p>
        </p:txBody>
      </p:sp>
      <p:sp>
        <p:nvSpPr>
          <p:cNvPr id="15" name="Text 13">
            <a:extLst>
              <a:ext uri="{FF2B5EF4-FFF2-40B4-BE49-F238E27FC236}">
                <a16:creationId xmlns:a16="http://schemas.microsoft.com/office/drawing/2014/main" id="{1DD7AC32-EE11-4BCF-B835-8552A27230AE}"/>
              </a:ext>
            </a:extLst>
          </p:cNvPr>
          <p:cNvSpPr>
            <a:spLocks noGrp="1"/>
          </p:cNvSpPr>
          <p:nvPr/>
        </p:nvSpPr>
        <p:spPr>
          <a:xfrm>
            <a:off x="1874520" y="3831336"/>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dirty="0">
                <a:solidFill>
                  <a:srgbClr val="334252"/>
                </a:solidFill>
                <a:latin typeface="Aptos"/>
                <a:ea typeface="Aptos"/>
                <a:cs typeface="Aptos"/>
              </a:rPr>
              <a:t>Specific humidity | g kg⁻¹ | levels 2-7</a:t>
            </a:r>
          </a:p>
        </p:txBody>
      </p:sp>
      <p:sp>
        <p:nvSpPr>
          <p:cNvPr id="16" name="Shape 14">
            <a:extLst>
              <a:ext uri="{FF2B5EF4-FFF2-40B4-BE49-F238E27FC236}">
                <a16:creationId xmlns:a16="http://schemas.microsoft.com/office/drawing/2014/main" id="{02C8B668-DF5F-49E8-A501-235E7ADEE147}"/>
              </a:ext>
            </a:extLst>
          </p:cNvPr>
          <p:cNvSpPr>
            <a:spLocks noGrp="1"/>
          </p:cNvSpPr>
          <p:nvPr/>
        </p:nvSpPr>
        <p:spPr>
          <a:xfrm>
            <a:off x="914400" y="4700016"/>
            <a:ext cx="164592" cy="164592"/>
          </a:xfrm>
          <a:prstGeom prst="ellipse">
            <a:avLst/>
          </a:prstGeom>
          <a:solidFill>
            <a:srgbClr val="D8A24A"/>
          </a:solidFill>
          <a:ln w="12700">
            <a:solidFill>
              <a:srgbClr val="D8A24A"/>
            </a:solidFill>
            <a:prstDash val="solid"/>
          </a:ln>
        </p:spPr>
        <p:txBody>
          <a:bodyPr/>
          <a:lstStyle/>
          <a:p>
            <a:endParaRPr/>
          </a:p>
        </p:txBody>
      </p:sp>
      <p:sp>
        <p:nvSpPr>
          <p:cNvPr id="17" name="Text 15">
            <a:extLst>
              <a:ext uri="{FF2B5EF4-FFF2-40B4-BE49-F238E27FC236}">
                <a16:creationId xmlns:a16="http://schemas.microsoft.com/office/drawing/2014/main" id="{516D8B01-CDD6-471B-BEA4-18C3A1785070}"/>
              </a:ext>
            </a:extLst>
          </p:cNvPr>
          <p:cNvSpPr>
            <a:spLocks noGrp="1"/>
          </p:cNvSpPr>
          <p:nvPr/>
        </p:nvSpPr>
        <p:spPr>
          <a:xfrm>
            <a:off x="1234440" y="4599432"/>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PSG1</a:t>
            </a:r>
          </a:p>
        </p:txBody>
      </p:sp>
      <p:sp>
        <p:nvSpPr>
          <p:cNvPr id="18" name="Text 16">
            <a:extLst>
              <a:ext uri="{FF2B5EF4-FFF2-40B4-BE49-F238E27FC236}">
                <a16:creationId xmlns:a16="http://schemas.microsoft.com/office/drawing/2014/main" id="{E389CF33-784D-41B3-A466-381C67CFABE9}"/>
              </a:ext>
            </a:extLst>
          </p:cNvPr>
          <p:cNvSpPr>
            <a:spLocks noGrp="1"/>
          </p:cNvSpPr>
          <p:nvPr/>
        </p:nvSpPr>
        <p:spPr>
          <a:xfrm>
            <a:off x="1874520" y="4581144"/>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dirty="0">
                <a:solidFill>
                  <a:srgbClr val="334252"/>
                </a:solidFill>
                <a:latin typeface="Aptos"/>
                <a:ea typeface="Aptos"/>
                <a:cs typeface="Aptos"/>
              </a:rPr>
              <a:t>Log surface pressure | log(</a:t>
            </a:r>
            <a:r>
              <a:rPr sz="1600" b="0" dirty="0" err="1">
                <a:solidFill>
                  <a:srgbClr val="334252"/>
                </a:solidFill>
                <a:latin typeface="Aptos"/>
                <a:ea typeface="Aptos"/>
                <a:cs typeface="Aptos"/>
              </a:rPr>
              <a:t>ps</a:t>
            </a:r>
            <a:r>
              <a:rPr sz="1600" b="0" dirty="0">
                <a:solidFill>
                  <a:srgbClr val="334252"/>
                </a:solidFill>
                <a:latin typeface="Aptos"/>
                <a:ea typeface="Aptos"/>
                <a:cs typeface="Aptos"/>
              </a:rPr>
              <a:t>/P₀)</a:t>
            </a:r>
          </a:p>
        </p:txBody>
      </p:sp>
      <p:sp>
        <p:nvSpPr>
          <p:cNvPr id="19" name="Shape 17">
            <a:extLst>
              <a:ext uri="{FF2B5EF4-FFF2-40B4-BE49-F238E27FC236}">
                <a16:creationId xmlns:a16="http://schemas.microsoft.com/office/drawing/2014/main" id="{F9FD5DAA-782A-4A52-B94E-6845F2BE58A1}"/>
              </a:ext>
            </a:extLst>
          </p:cNvPr>
          <p:cNvSpPr>
            <a:spLocks noGrp="1"/>
          </p:cNvSpPr>
          <p:nvPr/>
        </p:nvSpPr>
        <p:spPr>
          <a:xfrm>
            <a:off x="914400" y="5449824"/>
            <a:ext cx="164592" cy="164592"/>
          </a:xfrm>
          <a:prstGeom prst="ellipse">
            <a:avLst/>
          </a:prstGeom>
          <a:solidFill>
            <a:srgbClr val="D8A24A"/>
          </a:solidFill>
          <a:ln w="12700">
            <a:solidFill>
              <a:srgbClr val="D8A24A"/>
            </a:solidFill>
            <a:prstDash val="solid"/>
          </a:ln>
        </p:spPr>
        <p:txBody>
          <a:bodyPr/>
          <a:lstStyle/>
          <a:p>
            <a:endParaRPr/>
          </a:p>
        </p:txBody>
      </p:sp>
      <p:sp>
        <p:nvSpPr>
          <p:cNvPr id="20" name="Text 18">
            <a:extLst>
              <a:ext uri="{FF2B5EF4-FFF2-40B4-BE49-F238E27FC236}">
                <a16:creationId xmlns:a16="http://schemas.microsoft.com/office/drawing/2014/main" id="{4A3A4EE0-C1F0-41FE-AAE6-6644B9E37E3A}"/>
              </a:ext>
            </a:extLst>
          </p:cNvPr>
          <p:cNvSpPr>
            <a:spLocks noGrp="1"/>
          </p:cNvSpPr>
          <p:nvPr/>
        </p:nvSpPr>
        <p:spPr>
          <a:xfrm>
            <a:off x="1234440" y="5349240"/>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Grid</a:t>
            </a:r>
          </a:p>
        </p:txBody>
      </p:sp>
      <p:sp>
        <p:nvSpPr>
          <p:cNvPr id="21" name="Text 19">
            <a:extLst>
              <a:ext uri="{FF2B5EF4-FFF2-40B4-BE49-F238E27FC236}">
                <a16:creationId xmlns:a16="http://schemas.microsoft.com/office/drawing/2014/main" id="{438E1AF1-44CE-42E9-9902-206034EACB81}"/>
              </a:ext>
            </a:extLst>
          </p:cNvPr>
          <p:cNvSpPr>
            <a:spLocks noGrp="1"/>
          </p:cNvSpPr>
          <p:nvPr/>
        </p:nvSpPr>
        <p:spPr>
          <a:xfrm>
            <a:off x="1874520" y="5330952"/>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dirty="0">
                <a:solidFill>
                  <a:srgbClr val="334252"/>
                </a:solidFill>
                <a:latin typeface="Aptos"/>
                <a:ea typeface="Aptos"/>
                <a:cs typeface="Aptos"/>
              </a:rPr>
              <a:t>32 latitudes × 64 longitudes at T21</a:t>
            </a:r>
          </a:p>
        </p:txBody>
      </p:sp>
      <p:sp>
        <p:nvSpPr>
          <p:cNvPr id="22" name="Shape 20">
            <a:extLst>
              <a:ext uri="{FF2B5EF4-FFF2-40B4-BE49-F238E27FC236}">
                <a16:creationId xmlns:a16="http://schemas.microsoft.com/office/drawing/2014/main" id="{628409CD-4109-4335-888A-65A9EC1729EC}"/>
              </a:ext>
            </a:extLst>
          </p:cNvPr>
          <p:cNvSpPr>
            <a:spLocks noGrp="1"/>
          </p:cNvSpPr>
          <p:nvPr/>
        </p:nvSpPr>
        <p:spPr>
          <a:xfrm>
            <a:off x="6492240" y="1828800"/>
            <a:ext cx="4389120" cy="2743200"/>
          </a:xfrm>
          <a:prstGeom prst="roundRect">
            <a:avLst>
              <a:gd name="adj" fmla="val 2667"/>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23" name="Text 21">
            <a:extLst>
              <a:ext uri="{FF2B5EF4-FFF2-40B4-BE49-F238E27FC236}">
                <a16:creationId xmlns:a16="http://schemas.microsoft.com/office/drawing/2014/main" id="{A536E135-0684-4F2C-9C46-E2E86B132BF0}"/>
              </a:ext>
            </a:extLst>
          </p:cNvPr>
          <p:cNvSpPr>
            <a:spLocks noGrp="1"/>
          </p:cNvSpPr>
          <p:nvPr/>
        </p:nvSpPr>
        <p:spPr>
          <a:xfrm>
            <a:off x="6675120" y="1965960"/>
            <a:ext cx="402336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600" b="1" dirty="0">
                <a:solidFill>
                  <a:srgbClr val="214B69"/>
                </a:solidFill>
                <a:latin typeface="Aptos"/>
                <a:ea typeface="Aptos"/>
                <a:cs typeface="Aptos"/>
              </a:rPr>
              <a:t>Vertical indexing</a:t>
            </a:r>
          </a:p>
        </p:txBody>
      </p:sp>
      <p:sp>
        <p:nvSpPr>
          <p:cNvPr id="24" name="Text 22">
            <a:extLst>
              <a:ext uri="{FF2B5EF4-FFF2-40B4-BE49-F238E27FC236}">
                <a16:creationId xmlns:a16="http://schemas.microsoft.com/office/drawing/2014/main" id="{BE8C9E08-7D01-4198-8821-D80CE480C444}"/>
              </a:ext>
            </a:extLst>
          </p:cNvPr>
          <p:cNvSpPr>
            <a:spLocks noGrp="1"/>
          </p:cNvSpPr>
          <p:nvPr/>
        </p:nvSpPr>
        <p:spPr>
          <a:xfrm>
            <a:off x="6675120" y="2267712"/>
            <a:ext cx="4023360" cy="219456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For 3D variables, level 0 is highest and level 7 is the lowest, nearest-surface level. PSG1 is a separate surface field indexed at 0.</a:t>
            </a:r>
          </a:p>
        </p:txBody>
      </p:sp>
      <p:sp>
        <p:nvSpPr>
          <p:cNvPr id="25" name="Slide Number Placeholder 0">
            <a:extLst>
              <a:ext uri="{FF2B5EF4-FFF2-40B4-BE49-F238E27FC236}">
                <a16:creationId xmlns:a16="http://schemas.microsoft.com/office/drawing/2014/main" id="{C95BDCE7-7440-49F7-8193-7ECC38BDFD08}"/>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BA58DA2A-B818-18A9-29C1-B697728D5BCE}" type="slidenum">
              <a:rPr b="0"/>
              <a:t>8</a:t>
            </a:fld>
            <a:endParaRPr b="0"/>
          </a:p>
        </p:txBody>
      </p:sp>
    </p:spTree>
    <p:extLst>
      <p:ext uri="{BB962C8B-B14F-4D97-AF65-F5344CB8AC3E}">
        <p14:creationId xmlns:p14="http://schemas.microsoft.com/office/powerpoint/2010/main" val="218772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94A3C5-CCF4-4894-85C8-F9F1A884594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Common configuration across every comparison</a:t>
            </a:r>
          </a:p>
        </p:txBody>
      </p:sp>
      <p:sp>
        <p:nvSpPr>
          <p:cNvPr id="3" name="Shape 1">
            <a:extLst>
              <a:ext uri="{FF2B5EF4-FFF2-40B4-BE49-F238E27FC236}">
                <a16:creationId xmlns:a16="http://schemas.microsoft.com/office/drawing/2014/main" id="{E93F05CF-1964-4CF8-906A-D4AB038AA8BE}"/>
              </a:ext>
            </a:extLst>
          </p:cNvPr>
          <p:cNvSpPr>
            <a:spLocks noGrp="1"/>
          </p:cNvSpPr>
          <p:nvPr/>
        </p:nvSpPr>
        <p:spPr>
          <a:xfrm>
            <a:off x="548639" y="1216152"/>
            <a:ext cx="1617831" cy="0"/>
          </a:xfrm>
          <a:prstGeom prst="line">
            <a:avLst/>
          </a:prstGeom>
          <a:noFill/>
          <a:ln w="12700">
            <a:solidFill>
              <a:srgbClr val="D8A24A"/>
            </a:solidFill>
            <a:prstDash val="solid"/>
          </a:ln>
        </p:spPr>
        <p:txBody>
          <a:bodyPr/>
          <a:lstStyle/>
          <a:p>
            <a:endParaRPr sz="2400"/>
          </a:p>
        </p:txBody>
      </p:sp>
      <p:sp>
        <p:nvSpPr>
          <p:cNvPr id="4" name="Shape 2">
            <a:extLst>
              <a:ext uri="{FF2B5EF4-FFF2-40B4-BE49-F238E27FC236}">
                <a16:creationId xmlns:a16="http://schemas.microsoft.com/office/drawing/2014/main" id="{384E1590-9191-418E-A236-DE99990C743E}"/>
              </a:ext>
            </a:extLst>
          </p:cNvPr>
          <p:cNvSpPr>
            <a:spLocks noGrp="1"/>
          </p:cNvSpPr>
          <p:nvPr/>
        </p:nvSpPr>
        <p:spPr>
          <a:xfrm>
            <a:off x="914399" y="1700784"/>
            <a:ext cx="224007" cy="79175"/>
          </a:xfrm>
          <a:prstGeom prst="ellipse">
            <a:avLst/>
          </a:prstGeom>
          <a:solidFill>
            <a:srgbClr val="D8A24A"/>
          </a:solidFill>
          <a:ln w="12700">
            <a:solidFill>
              <a:srgbClr val="D8A24A"/>
            </a:solidFill>
            <a:prstDash val="solid"/>
          </a:ln>
        </p:spPr>
        <p:txBody>
          <a:bodyPr/>
          <a:lstStyle/>
          <a:p>
            <a:endParaRPr sz="2400"/>
          </a:p>
        </p:txBody>
      </p:sp>
      <p:sp>
        <p:nvSpPr>
          <p:cNvPr id="5" name="Text 3">
            <a:extLst>
              <a:ext uri="{FF2B5EF4-FFF2-40B4-BE49-F238E27FC236}">
                <a16:creationId xmlns:a16="http://schemas.microsoft.com/office/drawing/2014/main" id="{3ED7CD4F-9184-4C7C-B6A7-97F2B0965F33}"/>
              </a:ext>
            </a:extLst>
          </p:cNvPr>
          <p:cNvSpPr>
            <a:spLocks noGrp="1"/>
          </p:cNvSpPr>
          <p:nvPr/>
        </p:nvSpPr>
        <p:spPr>
          <a:xfrm>
            <a:off x="1234439" y="1644290"/>
            <a:ext cx="3066153" cy="128293"/>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600" b="1" dirty="0">
                <a:solidFill>
                  <a:srgbClr val="C9891D"/>
                </a:solidFill>
                <a:latin typeface="Aptos"/>
                <a:ea typeface="Aptos"/>
                <a:cs typeface="Aptos"/>
              </a:rPr>
              <a:t>80</a:t>
            </a:r>
            <a:r>
              <a:rPr lang="en-US" sz="1600" b="1" dirty="0">
                <a:solidFill>
                  <a:srgbClr val="C9891D"/>
                </a:solidFill>
                <a:latin typeface="Aptos"/>
                <a:ea typeface="Aptos"/>
                <a:cs typeface="Aptos"/>
              </a:rPr>
              <a:t> ensemble members</a:t>
            </a:r>
            <a:endParaRPr sz="1600" b="1" dirty="0">
              <a:solidFill>
                <a:srgbClr val="C9891D"/>
              </a:solidFill>
              <a:latin typeface="Aptos"/>
              <a:ea typeface="Aptos"/>
              <a:cs typeface="Aptos"/>
            </a:endParaRPr>
          </a:p>
        </p:txBody>
      </p:sp>
      <p:sp>
        <p:nvSpPr>
          <p:cNvPr id="7" name="Shape 5">
            <a:extLst>
              <a:ext uri="{FF2B5EF4-FFF2-40B4-BE49-F238E27FC236}">
                <a16:creationId xmlns:a16="http://schemas.microsoft.com/office/drawing/2014/main" id="{E8C9E9FB-DE8D-4B26-A252-B5F0656CE651}"/>
              </a:ext>
            </a:extLst>
          </p:cNvPr>
          <p:cNvSpPr>
            <a:spLocks noGrp="1"/>
          </p:cNvSpPr>
          <p:nvPr/>
        </p:nvSpPr>
        <p:spPr>
          <a:xfrm>
            <a:off x="914399" y="2450592"/>
            <a:ext cx="224007" cy="79175"/>
          </a:xfrm>
          <a:prstGeom prst="ellipse">
            <a:avLst/>
          </a:prstGeom>
          <a:solidFill>
            <a:srgbClr val="D8A24A"/>
          </a:solidFill>
          <a:ln w="12700">
            <a:solidFill>
              <a:srgbClr val="D8A24A"/>
            </a:solidFill>
            <a:prstDash val="solid"/>
          </a:ln>
        </p:spPr>
        <p:txBody>
          <a:bodyPr/>
          <a:lstStyle/>
          <a:p>
            <a:endParaRPr sz="2400"/>
          </a:p>
        </p:txBody>
      </p:sp>
      <p:sp>
        <p:nvSpPr>
          <p:cNvPr id="8" name="Text 6">
            <a:extLst>
              <a:ext uri="{FF2B5EF4-FFF2-40B4-BE49-F238E27FC236}">
                <a16:creationId xmlns:a16="http://schemas.microsoft.com/office/drawing/2014/main" id="{EB09599A-0BDC-4D2C-8CEB-04CD023B87B1}"/>
              </a:ext>
            </a:extLst>
          </p:cNvPr>
          <p:cNvSpPr>
            <a:spLocks noGrp="1"/>
          </p:cNvSpPr>
          <p:nvPr/>
        </p:nvSpPr>
        <p:spPr>
          <a:xfrm>
            <a:off x="1234439" y="2435508"/>
            <a:ext cx="2353793" cy="93282"/>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600" b="1" dirty="0">
                <a:solidFill>
                  <a:srgbClr val="C9891D"/>
                </a:solidFill>
                <a:latin typeface="Aptos"/>
                <a:ea typeface="Aptos"/>
                <a:cs typeface="Aptos"/>
              </a:rPr>
              <a:t>30</a:t>
            </a:r>
            <a:r>
              <a:rPr lang="en-US" sz="1600" b="1" dirty="0">
                <a:solidFill>
                  <a:srgbClr val="C9891D"/>
                </a:solidFill>
                <a:latin typeface="Aptos"/>
                <a:ea typeface="Aptos"/>
                <a:cs typeface="Aptos"/>
              </a:rPr>
              <a:t> assimilation cycles</a:t>
            </a:r>
            <a:endParaRPr sz="1600" b="1" dirty="0">
              <a:solidFill>
                <a:srgbClr val="C9891D"/>
              </a:solidFill>
              <a:latin typeface="Aptos"/>
              <a:ea typeface="Aptos"/>
              <a:cs typeface="Aptos"/>
            </a:endParaRPr>
          </a:p>
        </p:txBody>
      </p:sp>
      <p:sp>
        <p:nvSpPr>
          <p:cNvPr id="10" name="Shape 8">
            <a:extLst>
              <a:ext uri="{FF2B5EF4-FFF2-40B4-BE49-F238E27FC236}">
                <a16:creationId xmlns:a16="http://schemas.microsoft.com/office/drawing/2014/main" id="{8BC5C28F-FCD2-411C-B31D-4327CBECB2BA}"/>
              </a:ext>
            </a:extLst>
          </p:cNvPr>
          <p:cNvSpPr>
            <a:spLocks noGrp="1"/>
          </p:cNvSpPr>
          <p:nvPr/>
        </p:nvSpPr>
        <p:spPr>
          <a:xfrm>
            <a:off x="914399" y="3200400"/>
            <a:ext cx="224007" cy="79175"/>
          </a:xfrm>
          <a:prstGeom prst="ellipse">
            <a:avLst/>
          </a:prstGeom>
          <a:solidFill>
            <a:srgbClr val="D8A24A"/>
          </a:solidFill>
          <a:ln w="12700">
            <a:solidFill>
              <a:srgbClr val="D8A24A"/>
            </a:solidFill>
            <a:prstDash val="solid"/>
          </a:ln>
        </p:spPr>
        <p:txBody>
          <a:bodyPr/>
          <a:lstStyle/>
          <a:p>
            <a:endParaRPr sz="2400"/>
          </a:p>
        </p:txBody>
      </p:sp>
      <p:sp>
        <p:nvSpPr>
          <p:cNvPr id="11" name="Text 9">
            <a:extLst>
              <a:ext uri="{FF2B5EF4-FFF2-40B4-BE49-F238E27FC236}">
                <a16:creationId xmlns:a16="http://schemas.microsoft.com/office/drawing/2014/main" id="{E237F5B5-6A40-4BDC-BAB7-9A3B6E478052}"/>
              </a:ext>
            </a:extLst>
          </p:cNvPr>
          <p:cNvSpPr>
            <a:spLocks noGrp="1"/>
          </p:cNvSpPr>
          <p:nvPr/>
        </p:nvSpPr>
        <p:spPr>
          <a:xfrm>
            <a:off x="1234440" y="3218373"/>
            <a:ext cx="3759560" cy="65980"/>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600" b="1" dirty="0">
                <a:solidFill>
                  <a:srgbClr val="C9891D"/>
                </a:solidFill>
                <a:latin typeface="Aptos"/>
                <a:ea typeface="Aptos"/>
                <a:cs typeface="Aptos"/>
              </a:rPr>
              <a:t>2 days</a:t>
            </a:r>
            <a:r>
              <a:rPr lang="en-US" sz="1600" b="1" dirty="0">
                <a:solidFill>
                  <a:srgbClr val="C9891D"/>
                </a:solidFill>
                <a:latin typeface="Aptos"/>
                <a:ea typeface="Aptos"/>
                <a:cs typeface="Aptos"/>
              </a:rPr>
              <a:t> between observation times</a:t>
            </a:r>
            <a:endParaRPr sz="1600" b="1" dirty="0">
              <a:solidFill>
                <a:srgbClr val="C9891D"/>
              </a:solidFill>
              <a:latin typeface="Aptos"/>
              <a:ea typeface="Aptos"/>
              <a:cs typeface="Aptos"/>
            </a:endParaRPr>
          </a:p>
        </p:txBody>
      </p:sp>
      <p:sp>
        <p:nvSpPr>
          <p:cNvPr id="13" name="Shape 11">
            <a:extLst>
              <a:ext uri="{FF2B5EF4-FFF2-40B4-BE49-F238E27FC236}">
                <a16:creationId xmlns:a16="http://schemas.microsoft.com/office/drawing/2014/main" id="{49B6C25D-80AD-4BCA-B581-206AF7870DC7}"/>
              </a:ext>
            </a:extLst>
          </p:cNvPr>
          <p:cNvSpPr>
            <a:spLocks noGrp="1"/>
          </p:cNvSpPr>
          <p:nvPr/>
        </p:nvSpPr>
        <p:spPr>
          <a:xfrm>
            <a:off x="914399" y="3950208"/>
            <a:ext cx="224007" cy="79175"/>
          </a:xfrm>
          <a:prstGeom prst="ellipse">
            <a:avLst/>
          </a:prstGeom>
          <a:solidFill>
            <a:srgbClr val="D8A24A"/>
          </a:solidFill>
          <a:ln w="12700">
            <a:solidFill>
              <a:srgbClr val="D8A24A"/>
            </a:solidFill>
            <a:prstDash val="solid"/>
          </a:ln>
        </p:spPr>
        <p:txBody>
          <a:bodyPr/>
          <a:lstStyle/>
          <a:p>
            <a:endParaRPr sz="2400"/>
          </a:p>
        </p:txBody>
      </p:sp>
      <p:sp>
        <p:nvSpPr>
          <p:cNvPr id="14" name="Text 12">
            <a:extLst>
              <a:ext uri="{FF2B5EF4-FFF2-40B4-BE49-F238E27FC236}">
                <a16:creationId xmlns:a16="http://schemas.microsoft.com/office/drawing/2014/main" id="{CAFFD34A-E05D-4599-A221-03E3928C1008}"/>
              </a:ext>
            </a:extLst>
          </p:cNvPr>
          <p:cNvSpPr>
            <a:spLocks noGrp="1"/>
          </p:cNvSpPr>
          <p:nvPr/>
        </p:nvSpPr>
        <p:spPr>
          <a:xfrm>
            <a:off x="1234439" y="3950208"/>
            <a:ext cx="4053159" cy="8459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600" b="1" dirty="0">
                <a:solidFill>
                  <a:srgbClr val="C9891D"/>
                </a:solidFill>
                <a:latin typeface="Aptos"/>
                <a:ea typeface="Aptos"/>
                <a:cs typeface="Aptos"/>
              </a:rPr>
              <a:t>60</a:t>
            </a:r>
            <a:r>
              <a:rPr lang="en-US" sz="1600" b="1" dirty="0">
                <a:solidFill>
                  <a:srgbClr val="C9891D"/>
                </a:solidFill>
                <a:latin typeface="Aptos"/>
                <a:ea typeface="Aptos"/>
                <a:cs typeface="Aptos"/>
              </a:rPr>
              <a:t>-</a:t>
            </a:r>
            <a:r>
              <a:rPr sz="1600" b="1" dirty="0">
                <a:solidFill>
                  <a:srgbClr val="C9891D"/>
                </a:solidFill>
                <a:latin typeface="Aptos"/>
                <a:ea typeface="Aptos"/>
                <a:cs typeface="Aptos"/>
              </a:rPr>
              <a:t>day</a:t>
            </a:r>
            <a:r>
              <a:rPr lang="en-US" sz="1600" b="1" dirty="0">
                <a:solidFill>
                  <a:srgbClr val="C9891D"/>
                </a:solidFill>
                <a:latin typeface="Aptos"/>
                <a:ea typeface="Aptos"/>
                <a:cs typeface="Aptos"/>
              </a:rPr>
              <a:t> total assimilation window</a:t>
            </a:r>
            <a:endParaRPr sz="1600" b="1" dirty="0">
              <a:solidFill>
                <a:srgbClr val="C9891D"/>
              </a:solidFill>
              <a:latin typeface="Aptos"/>
              <a:ea typeface="Aptos"/>
              <a:cs typeface="Aptos"/>
            </a:endParaRPr>
          </a:p>
        </p:txBody>
      </p:sp>
      <p:sp>
        <p:nvSpPr>
          <p:cNvPr id="16" name="Shape 14">
            <a:extLst>
              <a:ext uri="{FF2B5EF4-FFF2-40B4-BE49-F238E27FC236}">
                <a16:creationId xmlns:a16="http://schemas.microsoft.com/office/drawing/2014/main" id="{02C8B668-DF5F-49E8-A501-235E7ADEE147}"/>
              </a:ext>
            </a:extLst>
          </p:cNvPr>
          <p:cNvSpPr>
            <a:spLocks noGrp="1"/>
          </p:cNvSpPr>
          <p:nvPr/>
        </p:nvSpPr>
        <p:spPr>
          <a:xfrm>
            <a:off x="914399" y="4700016"/>
            <a:ext cx="224007" cy="79175"/>
          </a:xfrm>
          <a:prstGeom prst="ellipse">
            <a:avLst/>
          </a:prstGeom>
          <a:solidFill>
            <a:srgbClr val="D8A24A"/>
          </a:solidFill>
          <a:ln w="12700">
            <a:solidFill>
              <a:srgbClr val="D8A24A"/>
            </a:solidFill>
            <a:prstDash val="solid"/>
          </a:ln>
        </p:spPr>
        <p:txBody>
          <a:bodyPr/>
          <a:lstStyle/>
          <a:p>
            <a:endParaRPr sz="2400"/>
          </a:p>
        </p:txBody>
      </p:sp>
      <p:sp>
        <p:nvSpPr>
          <p:cNvPr id="17" name="Text 15">
            <a:extLst>
              <a:ext uri="{FF2B5EF4-FFF2-40B4-BE49-F238E27FC236}">
                <a16:creationId xmlns:a16="http://schemas.microsoft.com/office/drawing/2014/main" id="{516D8B01-CDD6-471B-BEA4-18C3A1785070}"/>
              </a:ext>
            </a:extLst>
          </p:cNvPr>
          <p:cNvSpPr>
            <a:spLocks noGrp="1"/>
          </p:cNvSpPr>
          <p:nvPr/>
        </p:nvSpPr>
        <p:spPr>
          <a:xfrm>
            <a:off x="1234439" y="4668012"/>
            <a:ext cx="4390698" cy="111179"/>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600" b="1" dirty="0">
                <a:solidFill>
                  <a:srgbClr val="C9891D"/>
                </a:solidFill>
                <a:latin typeface="Aptos"/>
                <a:ea typeface="Aptos"/>
                <a:cs typeface="Aptos"/>
              </a:rPr>
              <a:t>100%</a:t>
            </a:r>
            <a:r>
              <a:rPr lang="en-US" sz="1600" b="1" dirty="0">
                <a:solidFill>
                  <a:srgbClr val="C9891D"/>
                </a:solidFill>
                <a:latin typeface="Aptos"/>
                <a:ea typeface="Aptos"/>
                <a:cs typeface="Aptos"/>
              </a:rPr>
              <a:t> eligible horizontal grid points observed </a:t>
            </a:r>
            <a:endParaRPr sz="1600" b="1" dirty="0">
              <a:solidFill>
                <a:srgbClr val="C9891D"/>
              </a:solidFill>
              <a:latin typeface="Aptos"/>
              <a:ea typeface="Aptos"/>
              <a:cs typeface="Aptos"/>
            </a:endParaRPr>
          </a:p>
        </p:txBody>
      </p:sp>
      <p:sp>
        <p:nvSpPr>
          <p:cNvPr id="19" name="Shape 17">
            <a:extLst>
              <a:ext uri="{FF2B5EF4-FFF2-40B4-BE49-F238E27FC236}">
                <a16:creationId xmlns:a16="http://schemas.microsoft.com/office/drawing/2014/main" id="{F9FD5DAA-782A-4A52-B94E-6845F2BE58A1}"/>
              </a:ext>
            </a:extLst>
          </p:cNvPr>
          <p:cNvSpPr>
            <a:spLocks noGrp="1"/>
          </p:cNvSpPr>
          <p:nvPr/>
        </p:nvSpPr>
        <p:spPr>
          <a:xfrm>
            <a:off x="914399" y="5449824"/>
            <a:ext cx="224007" cy="79175"/>
          </a:xfrm>
          <a:prstGeom prst="ellipse">
            <a:avLst/>
          </a:prstGeom>
          <a:solidFill>
            <a:srgbClr val="D8A24A"/>
          </a:solidFill>
          <a:ln w="12700">
            <a:solidFill>
              <a:srgbClr val="D8A24A"/>
            </a:solidFill>
            <a:prstDash val="solid"/>
          </a:ln>
        </p:spPr>
        <p:txBody>
          <a:bodyPr/>
          <a:lstStyle/>
          <a:p>
            <a:endParaRPr sz="2400"/>
          </a:p>
        </p:txBody>
      </p:sp>
      <p:sp>
        <p:nvSpPr>
          <p:cNvPr id="20" name="Text 18">
            <a:extLst>
              <a:ext uri="{FF2B5EF4-FFF2-40B4-BE49-F238E27FC236}">
                <a16:creationId xmlns:a16="http://schemas.microsoft.com/office/drawing/2014/main" id="{4A3A4EE0-C1F0-41FE-AAE6-6644B9E37E3A}"/>
              </a:ext>
            </a:extLst>
          </p:cNvPr>
          <p:cNvSpPr>
            <a:spLocks noGrp="1"/>
          </p:cNvSpPr>
          <p:nvPr/>
        </p:nvSpPr>
        <p:spPr>
          <a:xfrm>
            <a:off x="1234439" y="5421131"/>
            <a:ext cx="3924038" cy="220717"/>
          </a:xfrm>
          <a:prstGeom prst="rect">
            <a:avLst/>
          </a:prstGeom>
          <a:noFill/>
        </p:spPr>
        <p:txBody>
          <a:bodyPr wrap="square" lIns="0" tIns="0" rIns="0" bIns="0" anchor="ctr"/>
          <a:lstStyle/>
          <a:p>
            <a:pPr>
              <a:defRPr sz="1350" b="1">
                <a:solidFill>
                  <a:srgbClr val="C9891D"/>
                </a:solidFill>
                <a:latin typeface="Aptos"/>
                <a:ea typeface="Aptos"/>
                <a:cs typeface="Aptos"/>
              </a:defRPr>
            </a:pPr>
            <a:r>
              <a:rPr sz="1600" b="1" dirty="0">
                <a:solidFill>
                  <a:srgbClr val="C9891D"/>
                </a:solidFill>
                <a:latin typeface="Aptos"/>
                <a:ea typeface="Aptos"/>
                <a:cs typeface="Aptos"/>
              </a:rPr>
              <a:t>1,000</a:t>
            </a:r>
            <a:r>
              <a:rPr lang="en-US" sz="1600" b="1" dirty="0">
                <a:solidFill>
                  <a:srgbClr val="C9891D"/>
                </a:solidFill>
                <a:latin typeface="Aptos"/>
                <a:ea typeface="Aptos"/>
                <a:cs typeface="Aptos"/>
              </a:rPr>
              <a:t> </a:t>
            </a:r>
            <a:r>
              <a:rPr lang="en-US" sz="1600" b="1" dirty="0" err="1">
                <a:solidFill>
                  <a:srgbClr val="C9891D"/>
                </a:solidFill>
                <a:latin typeface="Aptos"/>
                <a:ea typeface="Aptos"/>
                <a:cs typeface="Aptos"/>
              </a:rPr>
              <a:t>EnSF</a:t>
            </a:r>
            <a:r>
              <a:rPr lang="en-US" sz="1600" b="1" dirty="0">
                <a:solidFill>
                  <a:srgbClr val="C9891D"/>
                </a:solidFill>
                <a:latin typeface="Aptos"/>
                <a:ea typeface="Aptos"/>
                <a:cs typeface="Aptos"/>
              </a:rPr>
              <a:t> </a:t>
            </a:r>
            <a:r>
              <a:rPr lang="en-US" sz="1600" b="1" dirty="0" err="1">
                <a:solidFill>
                  <a:srgbClr val="C9891D"/>
                </a:solidFill>
                <a:latin typeface="Aptos"/>
                <a:ea typeface="Aptos"/>
                <a:cs typeface="Aptos"/>
              </a:rPr>
              <a:t>pseudotime</a:t>
            </a:r>
            <a:r>
              <a:rPr lang="en-US" sz="1600" b="1" dirty="0">
                <a:solidFill>
                  <a:srgbClr val="C9891D"/>
                </a:solidFill>
                <a:latin typeface="Aptos"/>
                <a:ea typeface="Aptos"/>
                <a:cs typeface="Aptos"/>
              </a:rPr>
              <a:t> steps per analysis</a:t>
            </a:r>
            <a:endParaRPr sz="1600" b="1" dirty="0">
              <a:solidFill>
                <a:srgbClr val="C9891D"/>
              </a:solidFill>
              <a:latin typeface="Aptos"/>
              <a:ea typeface="Aptos"/>
              <a:cs typeface="Aptos"/>
            </a:endParaRPr>
          </a:p>
        </p:txBody>
      </p:sp>
      <p:sp>
        <p:nvSpPr>
          <p:cNvPr id="21" name="Text 19">
            <a:extLst>
              <a:ext uri="{FF2B5EF4-FFF2-40B4-BE49-F238E27FC236}">
                <a16:creationId xmlns:a16="http://schemas.microsoft.com/office/drawing/2014/main" id="{438E1AF1-44CE-42E9-9902-206034EACB81}"/>
              </a:ext>
            </a:extLst>
          </p:cNvPr>
          <p:cNvSpPr>
            <a:spLocks noGrp="1"/>
          </p:cNvSpPr>
          <p:nvPr/>
        </p:nvSpPr>
        <p:spPr>
          <a:xfrm>
            <a:off x="2209800" y="5330952"/>
            <a:ext cx="3867150" cy="2667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endParaRPr lang="en-US" sz="1350" b="0" dirty="0">
              <a:solidFill>
                <a:srgbClr val="334252"/>
              </a:solidFill>
              <a:latin typeface="Aptos"/>
              <a:ea typeface="Aptos"/>
              <a:cs typeface="Aptos"/>
            </a:endParaRPr>
          </a:p>
        </p:txBody>
      </p:sp>
      <p:sp>
        <p:nvSpPr>
          <p:cNvPr id="22" name="Shape 20">
            <a:extLst>
              <a:ext uri="{FF2B5EF4-FFF2-40B4-BE49-F238E27FC236}">
                <a16:creationId xmlns:a16="http://schemas.microsoft.com/office/drawing/2014/main" id="{628409CD-4109-4335-888A-65A9EC1729EC}"/>
              </a:ext>
            </a:extLst>
          </p:cNvPr>
          <p:cNvSpPr>
            <a:spLocks noGrp="1"/>
          </p:cNvSpPr>
          <p:nvPr/>
        </p:nvSpPr>
        <p:spPr>
          <a:xfrm>
            <a:off x="6492240" y="1828800"/>
            <a:ext cx="4389120" cy="2743200"/>
          </a:xfrm>
          <a:prstGeom prst="roundRect">
            <a:avLst>
              <a:gd name="adj" fmla="val 2667"/>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23" name="Text 21">
            <a:extLst>
              <a:ext uri="{FF2B5EF4-FFF2-40B4-BE49-F238E27FC236}">
                <a16:creationId xmlns:a16="http://schemas.microsoft.com/office/drawing/2014/main" id="{A536E135-0684-4F2C-9C46-E2E86B132BF0}"/>
              </a:ext>
            </a:extLst>
          </p:cNvPr>
          <p:cNvSpPr>
            <a:spLocks noGrp="1"/>
          </p:cNvSpPr>
          <p:nvPr/>
        </p:nvSpPr>
        <p:spPr>
          <a:xfrm>
            <a:off x="6675120" y="1965960"/>
            <a:ext cx="402336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600" b="1" dirty="0">
                <a:solidFill>
                  <a:srgbClr val="214B69"/>
                </a:solidFill>
                <a:latin typeface="Aptos"/>
                <a:ea typeface="Aptos"/>
                <a:cs typeface="Aptos"/>
              </a:rPr>
              <a:t>Controlled comparison</a:t>
            </a:r>
          </a:p>
        </p:txBody>
      </p:sp>
      <p:sp>
        <p:nvSpPr>
          <p:cNvPr id="24" name="Text 22">
            <a:extLst>
              <a:ext uri="{FF2B5EF4-FFF2-40B4-BE49-F238E27FC236}">
                <a16:creationId xmlns:a16="http://schemas.microsoft.com/office/drawing/2014/main" id="{BE8C9E08-7D01-4198-8821-D80CE480C444}"/>
              </a:ext>
            </a:extLst>
          </p:cNvPr>
          <p:cNvSpPr>
            <a:spLocks noGrp="1"/>
          </p:cNvSpPr>
          <p:nvPr/>
        </p:nvSpPr>
        <p:spPr>
          <a:xfrm>
            <a:off x="6675120" y="2267712"/>
            <a:ext cx="4023360" cy="219456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Same synthetic truth, initial ensemble, observations, cycle schedule, and NoDA baseline within each experiment.</a:t>
            </a:r>
          </a:p>
        </p:txBody>
      </p:sp>
      <p:sp>
        <p:nvSpPr>
          <p:cNvPr id="25" name="Slide Number Placeholder 0">
            <a:extLst>
              <a:ext uri="{FF2B5EF4-FFF2-40B4-BE49-F238E27FC236}">
                <a16:creationId xmlns:a16="http://schemas.microsoft.com/office/drawing/2014/main" id="{C95BDCE7-7440-49F7-8193-7ECC38BDFD08}"/>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388657AE-30A1-5A7A-6A7F-315D84436430}" type="slidenum">
              <a:rPr b="0"/>
              <a:t>9</a:t>
            </a:fld>
            <a:endParaRPr b="0"/>
          </a:p>
        </p:txBody>
      </p:sp>
    </p:spTree>
    <p:extLst>
      <p:ext uri="{BB962C8B-B14F-4D97-AF65-F5344CB8AC3E}">
        <p14:creationId xmlns:p14="http://schemas.microsoft.com/office/powerpoint/2010/main" val="218772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94A3C5-CCF4-4894-85C8-F9F1A884594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Four observation systems stress different filter mechanisms</a:t>
            </a:r>
          </a:p>
        </p:txBody>
      </p:sp>
      <p:sp>
        <p:nvSpPr>
          <p:cNvPr id="3" name="Shape 1">
            <a:extLst>
              <a:ext uri="{FF2B5EF4-FFF2-40B4-BE49-F238E27FC236}">
                <a16:creationId xmlns:a16="http://schemas.microsoft.com/office/drawing/2014/main" id="{E93F05CF-1964-4CF8-906A-D4AB038AA8BE}"/>
              </a:ext>
            </a:extLst>
          </p:cNvPr>
          <p:cNvSpPr>
            <a:spLocks noGrp="1"/>
          </p:cNvSpPr>
          <p:nvPr/>
        </p:nvSpPr>
        <p:spPr>
          <a:xfrm>
            <a:off x="484632"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384E1590-9191-418E-A236-DE99990C743E}"/>
              </a:ext>
            </a:extLst>
          </p:cNvPr>
          <p:cNvSpPr>
            <a:spLocks noGrp="1"/>
          </p:cNvSpPr>
          <p:nvPr/>
        </p:nvSpPr>
        <p:spPr>
          <a:xfrm>
            <a:off x="914400" y="1700784"/>
            <a:ext cx="164592" cy="164592"/>
          </a:xfrm>
          <a:prstGeom prst="ellipse">
            <a:avLst/>
          </a:prstGeom>
          <a:solidFill>
            <a:srgbClr val="D8A24A"/>
          </a:solidFill>
          <a:ln w="12700">
            <a:solidFill>
              <a:srgbClr val="D8A24A"/>
            </a:solidFill>
            <a:prstDash val="solid"/>
          </a:ln>
        </p:spPr>
        <p:txBody>
          <a:bodyPr/>
          <a:lstStyle/>
          <a:p>
            <a:endParaRPr/>
          </a:p>
        </p:txBody>
      </p:sp>
      <p:sp>
        <p:nvSpPr>
          <p:cNvPr id="5" name="Text 3">
            <a:extLst>
              <a:ext uri="{FF2B5EF4-FFF2-40B4-BE49-F238E27FC236}">
                <a16:creationId xmlns:a16="http://schemas.microsoft.com/office/drawing/2014/main" id="{3ED7CD4F-9184-4C7C-B6A7-97F2B0965F33}"/>
              </a:ext>
            </a:extLst>
          </p:cNvPr>
          <p:cNvSpPr>
            <a:spLocks noGrp="1"/>
          </p:cNvSpPr>
          <p:nvPr/>
        </p:nvSpPr>
        <p:spPr>
          <a:xfrm>
            <a:off x="1234440" y="1600200"/>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1</a:t>
            </a:r>
          </a:p>
        </p:txBody>
      </p:sp>
      <p:sp>
        <p:nvSpPr>
          <p:cNvPr id="6" name="Text 4">
            <a:extLst>
              <a:ext uri="{FF2B5EF4-FFF2-40B4-BE49-F238E27FC236}">
                <a16:creationId xmlns:a16="http://schemas.microsoft.com/office/drawing/2014/main" id="{EA868966-9A45-404C-BEF3-1DE4BECF83FA}"/>
              </a:ext>
            </a:extLst>
          </p:cNvPr>
          <p:cNvSpPr>
            <a:spLocks noGrp="1"/>
          </p:cNvSpPr>
          <p:nvPr/>
        </p:nvSpPr>
        <p:spPr>
          <a:xfrm>
            <a:off x="1929174" y="1581912"/>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dirty="0">
                <a:solidFill>
                  <a:srgbClr val="334252"/>
                </a:solidFill>
                <a:latin typeface="Aptos"/>
                <a:ea typeface="Aptos"/>
                <a:cs typeface="Aptos"/>
              </a:rPr>
              <a:t>All linear: direct U, V, T, q, and pressure</a:t>
            </a:r>
          </a:p>
        </p:txBody>
      </p:sp>
      <p:sp>
        <p:nvSpPr>
          <p:cNvPr id="7" name="Shape 5">
            <a:extLst>
              <a:ext uri="{FF2B5EF4-FFF2-40B4-BE49-F238E27FC236}">
                <a16:creationId xmlns:a16="http://schemas.microsoft.com/office/drawing/2014/main" id="{E8C9E9FB-DE8D-4B26-A252-B5F0656CE651}"/>
              </a:ext>
            </a:extLst>
          </p:cNvPr>
          <p:cNvSpPr>
            <a:spLocks noGrp="1"/>
          </p:cNvSpPr>
          <p:nvPr/>
        </p:nvSpPr>
        <p:spPr>
          <a:xfrm>
            <a:off x="914400" y="2450592"/>
            <a:ext cx="164592" cy="164592"/>
          </a:xfrm>
          <a:prstGeom prst="ellipse">
            <a:avLst/>
          </a:prstGeom>
          <a:solidFill>
            <a:srgbClr val="D8A24A"/>
          </a:solidFill>
          <a:ln w="12700">
            <a:solidFill>
              <a:srgbClr val="D8A24A"/>
            </a:solidFill>
            <a:prstDash val="solid"/>
          </a:ln>
        </p:spPr>
        <p:txBody>
          <a:bodyPr/>
          <a:lstStyle/>
          <a:p>
            <a:endParaRPr/>
          </a:p>
        </p:txBody>
      </p:sp>
      <p:sp>
        <p:nvSpPr>
          <p:cNvPr id="8" name="Text 6">
            <a:extLst>
              <a:ext uri="{FF2B5EF4-FFF2-40B4-BE49-F238E27FC236}">
                <a16:creationId xmlns:a16="http://schemas.microsoft.com/office/drawing/2014/main" id="{EB09599A-0BDC-4D2C-8CEB-04CD023B87B1}"/>
              </a:ext>
            </a:extLst>
          </p:cNvPr>
          <p:cNvSpPr>
            <a:spLocks noGrp="1"/>
          </p:cNvSpPr>
          <p:nvPr/>
        </p:nvSpPr>
        <p:spPr>
          <a:xfrm>
            <a:off x="1234440" y="2350008"/>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2</a:t>
            </a:r>
          </a:p>
        </p:txBody>
      </p:sp>
      <p:sp>
        <p:nvSpPr>
          <p:cNvPr id="9" name="Text 7">
            <a:extLst>
              <a:ext uri="{FF2B5EF4-FFF2-40B4-BE49-F238E27FC236}">
                <a16:creationId xmlns:a16="http://schemas.microsoft.com/office/drawing/2014/main" id="{BEA3F6AC-2409-4F21-AE97-E0723865371B}"/>
              </a:ext>
            </a:extLst>
          </p:cNvPr>
          <p:cNvSpPr>
            <a:spLocks noGrp="1"/>
          </p:cNvSpPr>
          <p:nvPr/>
        </p:nvSpPr>
        <p:spPr>
          <a:xfrm>
            <a:off x="1874520" y="2331720"/>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a:solidFill>
                  <a:srgbClr val="334252"/>
                </a:solidFill>
                <a:latin typeface="Aptos"/>
                <a:ea typeface="Aptos"/>
                <a:cs typeface="Aptos"/>
              </a:rPr>
              <a:t>All arctangent: nonlinear transform for every variable</a:t>
            </a:r>
          </a:p>
        </p:txBody>
      </p:sp>
      <p:sp>
        <p:nvSpPr>
          <p:cNvPr id="10" name="Shape 8">
            <a:extLst>
              <a:ext uri="{FF2B5EF4-FFF2-40B4-BE49-F238E27FC236}">
                <a16:creationId xmlns:a16="http://schemas.microsoft.com/office/drawing/2014/main" id="{8BC5C28F-FCD2-411C-B31D-4327CBECB2BA}"/>
              </a:ext>
            </a:extLst>
          </p:cNvPr>
          <p:cNvSpPr>
            <a:spLocks noGrp="1"/>
          </p:cNvSpPr>
          <p:nvPr/>
        </p:nvSpPr>
        <p:spPr>
          <a:xfrm>
            <a:off x="914400" y="3200400"/>
            <a:ext cx="164592" cy="164592"/>
          </a:xfrm>
          <a:prstGeom prst="ellipse">
            <a:avLst/>
          </a:prstGeom>
          <a:solidFill>
            <a:srgbClr val="D8A24A"/>
          </a:solidFill>
          <a:ln w="12700">
            <a:solidFill>
              <a:srgbClr val="D8A24A"/>
            </a:solidFill>
            <a:prstDash val="solid"/>
          </a:ln>
        </p:spPr>
        <p:txBody>
          <a:bodyPr/>
          <a:lstStyle/>
          <a:p>
            <a:endParaRPr/>
          </a:p>
        </p:txBody>
      </p:sp>
      <p:sp>
        <p:nvSpPr>
          <p:cNvPr id="11" name="Text 9">
            <a:extLst>
              <a:ext uri="{FF2B5EF4-FFF2-40B4-BE49-F238E27FC236}">
                <a16:creationId xmlns:a16="http://schemas.microsoft.com/office/drawing/2014/main" id="{E237F5B5-6A40-4BDC-BAB7-9A3B6E478052}"/>
              </a:ext>
            </a:extLst>
          </p:cNvPr>
          <p:cNvSpPr>
            <a:spLocks noGrp="1"/>
          </p:cNvSpPr>
          <p:nvPr/>
        </p:nvSpPr>
        <p:spPr>
          <a:xfrm>
            <a:off x="1234440" y="3099816"/>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3</a:t>
            </a:r>
          </a:p>
        </p:txBody>
      </p:sp>
      <p:sp>
        <p:nvSpPr>
          <p:cNvPr id="12" name="Text 10">
            <a:extLst>
              <a:ext uri="{FF2B5EF4-FFF2-40B4-BE49-F238E27FC236}">
                <a16:creationId xmlns:a16="http://schemas.microsoft.com/office/drawing/2014/main" id="{2787C92D-5922-4F22-AD22-00F358BA5A80}"/>
              </a:ext>
            </a:extLst>
          </p:cNvPr>
          <p:cNvSpPr>
            <a:spLocks noGrp="1"/>
          </p:cNvSpPr>
          <p:nvPr/>
        </p:nvSpPr>
        <p:spPr>
          <a:xfrm>
            <a:off x="1874520" y="3081528"/>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a:solidFill>
                  <a:srgbClr val="334252"/>
                </a:solidFill>
                <a:latin typeface="Aptos"/>
                <a:ea typeface="Aptos"/>
                <a:cs typeface="Aptos"/>
              </a:rPr>
              <a:t>WDG/WSG/TPH: speed and direction plus direct T, q, and pressure</a:t>
            </a:r>
          </a:p>
        </p:txBody>
      </p:sp>
      <p:sp>
        <p:nvSpPr>
          <p:cNvPr id="13" name="Shape 11">
            <a:extLst>
              <a:ext uri="{FF2B5EF4-FFF2-40B4-BE49-F238E27FC236}">
                <a16:creationId xmlns:a16="http://schemas.microsoft.com/office/drawing/2014/main" id="{49B6C25D-80AD-4BCA-B581-206AF7870DC7}"/>
              </a:ext>
            </a:extLst>
          </p:cNvPr>
          <p:cNvSpPr>
            <a:spLocks noGrp="1"/>
          </p:cNvSpPr>
          <p:nvPr/>
        </p:nvSpPr>
        <p:spPr>
          <a:xfrm>
            <a:off x="914400" y="3950208"/>
            <a:ext cx="164592" cy="164592"/>
          </a:xfrm>
          <a:prstGeom prst="ellipse">
            <a:avLst/>
          </a:prstGeom>
          <a:solidFill>
            <a:srgbClr val="D8A24A"/>
          </a:solidFill>
          <a:ln w="12700">
            <a:solidFill>
              <a:srgbClr val="D8A24A"/>
            </a:solidFill>
            <a:prstDash val="solid"/>
          </a:ln>
        </p:spPr>
        <p:txBody>
          <a:bodyPr/>
          <a:lstStyle/>
          <a:p>
            <a:endParaRPr/>
          </a:p>
        </p:txBody>
      </p:sp>
      <p:sp>
        <p:nvSpPr>
          <p:cNvPr id="14" name="Text 12">
            <a:extLst>
              <a:ext uri="{FF2B5EF4-FFF2-40B4-BE49-F238E27FC236}">
                <a16:creationId xmlns:a16="http://schemas.microsoft.com/office/drawing/2014/main" id="{CAFFD34A-E05D-4599-A221-03E3928C1008}"/>
              </a:ext>
            </a:extLst>
          </p:cNvPr>
          <p:cNvSpPr>
            <a:spLocks noGrp="1"/>
          </p:cNvSpPr>
          <p:nvPr/>
        </p:nvSpPr>
        <p:spPr>
          <a:xfrm>
            <a:off x="1234440" y="3849624"/>
            <a:ext cx="640080" cy="201168"/>
          </a:xfrm>
          <a:prstGeom prst="rect">
            <a:avLst/>
          </a:prstGeom>
          <a:noFill/>
        </p:spPr>
        <p:txBody>
          <a:bodyPr wrap="square" lIns="0" tIns="0" rIns="0" bIns="0" anchor="ctr"/>
          <a:lstStyle/>
          <a:p>
            <a:pPr marL="0" indent="0" algn="l">
              <a:buNone/>
              <a:defRPr sz="1350" b="1">
                <a:solidFill>
                  <a:srgbClr val="C9891D"/>
                </a:solidFill>
                <a:latin typeface="Aptos"/>
                <a:ea typeface="Aptos"/>
                <a:cs typeface="Aptos"/>
              </a:defRPr>
            </a:pPr>
            <a:r>
              <a:rPr sz="1350" b="1">
                <a:solidFill>
                  <a:srgbClr val="C9891D"/>
                </a:solidFill>
                <a:latin typeface="Aptos"/>
                <a:ea typeface="Aptos"/>
                <a:cs typeface="Aptos"/>
              </a:rPr>
              <a:t>4</a:t>
            </a:r>
          </a:p>
        </p:txBody>
      </p:sp>
      <p:sp>
        <p:nvSpPr>
          <p:cNvPr id="15" name="Text 13">
            <a:extLst>
              <a:ext uri="{FF2B5EF4-FFF2-40B4-BE49-F238E27FC236}">
                <a16:creationId xmlns:a16="http://schemas.microsoft.com/office/drawing/2014/main" id="{1DD7AC32-EE11-4BCF-B835-8552A27230AE}"/>
              </a:ext>
            </a:extLst>
          </p:cNvPr>
          <p:cNvSpPr>
            <a:spLocks noGrp="1"/>
          </p:cNvSpPr>
          <p:nvPr/>
        </p:nvSpPr>
        <p:spPr>
          <a:xfrm>
            <a:off x="1874520" y="3831336"/>
            <a:ext cx="4206240" cy="228600"/>
          </a:xfrm>
          <a:prstGeom prst="rect">
            <a:avLst/>
          </a:prstGeom>
          <a:noFill/>
        </p:spPr>
        <p:txBody>
          <a:bodyPr wrap="square" lIns="0" tIns="0" rIns="0" bIns="0" anchor="ctr"/>
          <a:lstStyle/>
          <a:p>
            <a:pPr marL="0" indent="0" algn="l">
              <a:buNone/>
              <a:defRPr sz="1350" b="0">
                <a:solidFill>
                  <a:srgbClr val="334252"/>
                </a:solidFill>
                <a:latin typeface="Aptos"/>
                <a:ea typeface="Aptos"/>
                <a:cs typeface="Aptos"/>
              </a:defRPr>
            </a:pPr>
            <a:r>
              <a:rPr sz="1600" b="0">
                <a:solidFill>
                  <a:srgbClr val="334252"/>
                </a:solidFill>
                <a:latin typeface="Aptos"/>
                <a:ea typeface="Aptos"/>
                <a:cs typeface="Aptos"/>
              </a:rPr>
              <a:t>Pressure only: direct surface pressure and no other observations</a:t>
            </a:r>
          </a:p>
        </p:txBody>
      </p:sp>
      <p:sp>
        <p:nvSpPr>
          <p:cNvPr id="22" name="Shape 20">
            <a:extLst>
              <a:ext uri="{FF2B5EF4-FFF2-40B4-BE49-F238E27FC236}">
                <a16:creationId xmlns:a16="http://schemas.microsoft.com/office/drawing/2014/main" id="{628409CD-4109-4335-888A-65A9EC1729EC}"/>
              </a:ext>
            </a:extLst>
          </p:cNvPr>
          <p:cNvSpPr>
            <a:spLocks noGrp="1"/>
          </p:cNvSpPr>
          <p:nvPr/>
        </p:nvSpPr>
        <p:spPr>
          <a:xfrm>
            <a:off x="6492240" y="1828800"/>
            <a:ext cx="4389120" cy="2743200"/>
          </a:xfrm>
          <a:prstGeom prst="roundRect">
            <a:avLst>
              <a:gd name="adj" fmla="val 2667"/>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sz="2400"/>
          </a:p>
        </p:txBody>
      </p:sp>
      <p:sp>
        <p:nvSpPr>
          <p:cNvPr id="23" name="Text 21">
            <a:extLst>
              <a:ext uri="{FF2B5EF4-FFF2-40B4-BE49-F238E27FC236}">
                <a16:creationId xmlns:a16="http://schemas.microsoft.com/office/drawing/2014/main" id="{A536E135-0684-4F2C-9C46-E2E86B132BF0}"/>
              </a:ext>
            </a:extLst>
          </p:cNvPr>
          <p:cNvSpPr>
            <a:spLocks noGrp="1"/>
          </p:cNvSpPr>
          <p:nvPr/>
        </p:nvSpPr>
        <p:spPr>
          <a:xfrm>
            <a:off x="6675120" y="1965960"/>
            <a:ext cx="402336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b="1">
                <a:solidFill>
                  <a:srgbClr val="214B69"/>
                </a:solidFill>
                <a:latin typeface="Aptos"/>
                <a:ea typeface="Aptos"/>
                <a:cs typeface="Aptos"/>
              </a:rPr>
              <a:t>Flagship variables</a:t>
            </a:r>
          </a:p>
        </p:txBody>
      </p:sp>
      <p:sp>
        <p:nvSpPr>
          <p:cNvPr id="24" name="Text 22">
            <a:extLst>
              <a:ext uri="{FF2B5EF4-FFF2-40B4-BE49-F238E27FC236}">
                <a16:creationId xmlns:a16="http://schemas.microsoft.com/office/drawing/2014/main" id="{BE8C9E08-7D01-4198-8821-D80CE480C444}"/>
              </a:ext>
            </a:extLst>
          </p:cNvPr>
          <p:cNvSpPr>
            <a:spLocks noGrp="1"/>
          </p:cNvSpPr>
          <p:nvPr/>
        </p:nvSpPr>
        <p:spPr>
          <a:xfrm>
            <a:off x="6675119" y="2267712"/>
            <a:ext cx="4070657" cy="219456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Humidity for linear and arctangent; U and V for nonlinear wind; surface pressure for pressure only.</a:t>
            </a:r>
          </a:p>
        </p:txBody>
      </p:sp>
      <p:sp>
        <p:nvSpPr>
          <p:cNvPr id="25" name="Slide Number Placeholder 0">
            <a:extLst>
              <a:ext uri="{FF2B5EF4-FFF2-40B4-BE49-F238E27FC236}">
                <a16:creationId xmlns:a16="http://schemas.microsoft.com/office/drawing/2014/main" id="{C95BDCE7-7440-49F7-8193-7ECC38BDFD08}"/>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DB7BEEEC-A170-5376-2B6E-CB54687B0CB1}" type="slidenum">
              <a:rPr b="0"/>
              <a:t>10</a:t>
            </a:fld>
            <a:endParaRPr b="0"/>
          </a:p>
        </p:txBody>
      </p:sp>
    </p:spTree>
    <p:extLst>
      <p:ext uri="{BB962C8B-B14F-4D97-AF65-F5344CB8AC3E}">
        <p14:creationId xmlns:p14="http://schemas.microsoft.com/office/powerpoint/2010/main" val="218772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205621-9933-4235-AB1E-FCF9EE895DF3}"/>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The comparison is governed by three interacting questions</a:t>
            </a:r>
          </a:p>
        </p:txBody>
      </p:sp>
      <p:sp>
        <p:nvSpPr>
          <p:cNvPr id="3" name="Shape 1">
            <a:extLst>
              <a:ext uri="{FF2B5EF4-FFF2-40B4-BE49-F238E27FC236}">
                <a16:creationId xmlns:a16="http://schemas.microsoft.com/office/drawing/2014/main" id="{5141B92F-54EE-4D74-8F40-B2C2E6E0770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DAD3A7E4-7723-48EF-A8B2-A64C1ABEC2C1}"/>
              </a:ext>
            </a:extLst>
          </p:cNvPr>
          <p:cNvSpPr>
            <a:spLocks noGrp="1"/>
          </p:cNvSpPr>
          <p:nvPr/>
        </p:nvSpPr>
        <p:spPr>
          <a:xfrm>
            <a:off x="8686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5" name="Text 3">
            <a:extLst>
              <a:ext uri="{FF2B5EF4-FFF2-40B4-BE49-F238E27FC236}">
                <a16:creationId xmlns:a16="http://schemas.microsoft.com/office/drawing/2014/main" id="{6DDD8ED3-31B1-4042-9AEE-1DD0E37BE554}"/>
              </a:ext>
            </a:extLst>
          </p:cNvPr>
          <p:cNvSpPr>
            <a:spLocks noGrp="1"/>
          </p:cNvSpPr>
          <p:nvPr/>
        </p:nvSpPr>
        <p:spPr>
          <a:xfrm>
            <a:off x="10515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Distributional shape</a:t>
            </a:r>
          </a:p>
        </p:txBody>
      </p:sp>
      <p:sp>
        <p:nvSpPr>
          <p:cNvPr id="6" name="Text 4">
            <a:extLst>
              <a:ext uri="{FF2B5EF4-FFF2-40B4-BE49-F238E27FC236}">
                <a16:creationId xmlns:a16="http://schemas.microsoft.com/office/drawing/2014/main" id="{C68221B3-1B26-4A27-9494-F7466761E037}"/>
              </a:ext>
            </a:extLst>
          </p:cNvPr>
          <p:cNvSpPr>
            <a:spLocks noGrp="1"/>
          </p:cNvSpPr>
          <p:nvPr/>
        </p:nvSpPr>
        <p:spPr>
          <a:xfrm>
            <a:off x="10515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How close is the background ensemble to a Gaussian cloud?</a:t>
            </a:r>
          </a:p>
        </p:txBody>
      </p:sp>
      <p:sp>
        <p:nvSpPr>
          <p:cNvPr id="7" name="Shape 5">
            <a:extLst>
              <a:ext uri="{FF2B5EF4-FFF2-40B4-BE49-F238E27FC236}">
                <a16:creationId xmlns:a16="http://schemas.microsoft.com/office/drawing/2014/main" id="{29592638-E0EF-41FD-8B2B-ACF1659AD6CE}"/>
              </a:ext>
            </a:extLst>
          </p:cNvPr>
          <p:cNvSpPr>
            <a:spLocks noGrp="1"/>
          </p:cNvSpPr>
          <p:nvPr/>
        </p:nvSpPr>
        <p:spPr>
          <a:xfrm>
            <a:off x="45262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8" name="Text 6">
            <a:extLst>
              <a:ext uri="{FF2B5EF4-FFF2-40B4-BE49-F238E27FC236}">
                <a16:creationId xmlns:a16="http://schemas.microsoft.com/office/drawing/2014/main" id="{AAD23D41-5ACA-435E-A285-D12ACA3345E5}"/>
              </a:ext>
            </a:extLst>
          </p:cNvPr>
          <p:cNvSpPr>
            <a:spLocks noGrp="1"/>
          </p:cNvSpPr>
          <p:nvPr/>
        </p:nvSpPr>
        <p:spPr>
          <a:xfrm>
            <a:off x="47091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Observation geometry</a:t>
            </a:r>
          </a:p>
        </p:txBody>
      </p:sp>
      <p:sp>
        <p:nvSpPr>
          <p:cNvPr id="9" name="Text 7">
            <a:extLst>
              <a:ext uri="{FF2B5EF4-FFF2-40B4-BE49-F238E27FC236}">
                <a16:creationId xmlns:a16="http://schemas.microsoft.com/office/drawing/2014/main" id="{91FE0FB4-B9F7-47FE-9131-E5E5CE74EC82}"/>
              </a:ext>
            </a:extLst>
          </p:cNvPr>
          <p:cNvSpPr>
            <a:spLocks noGrp="1"/>
          </p:cNvSpPr>
          <p:nvPr/>
        </p:nvSpPr>
        <p:spPr>
          <a:xfrm>
            <a:off x="47091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Is H linear, componentwise nonlinear, coupled, or partial?</a:t>
            </a:r>
          </a:p>
        </p:txBody>
      </p:sp>
      <p:sp>
        <p:nvSpPr>
          <p:cNvPr id="10" name="Shape 8">
            <a:extLst>
              <a:ext uri="{FF2B5EF4-FFF2-40B4-BE49-F238E27FC236}">
                <a16:creationId xmlns:a16="http://schemas.microsoft.com/office/drawing/2014/main" id="{4764E90F-B822-4AEE-971B-C8D61756354C}"/>
              </a:ext>
            </a:extLst>
          </p:cNvPr>
          <p:cNvSpPr>
            <a:spLocks noGrp="1"/>
          </p:cNvSpPr>
          <p:nvPr/>
        </p:nvSpPr>
        <p:spPr>
          <a:xfrm>
            <a:off x="8183880" y="1554480"/>
            <a:ext cx="3154680" cy="4023360"/>
          </a:xfrm>
          <a:prstGeom prst="roundRect">
            <a:avLst>
              <a:gd name="adj" fmla="val 2319"/>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1" name="Text 9">
            <a:extLst>
              <a:ext uri="{FF2B5EF4-FFF2-40B4-BE49-F238E27FC236}">
                <a16:creationId xmlns:a16="http://schemas.microsoft.com/office/drawing/2014/main" id="{2B252323-9534-4F37-9000-D34220568FA4}"/>
              </a:ext>
            </a:extLst>
          </p:cNvPr>
          <p:cNvSpPr>
            <a:spLocks noGrp="1"/>
          </p:cNvSpPr>
          <p:nvPr/>
        </p:nvSpPr>
        <p:spPr>
          <a:xfrm>
            <a:off x="8366760" y="1691640"/>
            <a:ext cx="278892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Information transfer</a:t>
            </a:r>
          </a:p>
        </p:txBody>
      </p:sp>
      <p:sp>
        <p:nvSpPr>
          <p:cNvPr id="12" name="Text 10">
            <a:extLst>
              <a:ext uri="{FF2B5EF4-FFF2-40B4-BE49-F238E27FC236}">
                <a16:creationId xmlns:a16="http://schemas.microsoft.com/office/drawing/2014/main" id="{91730671-F08E-4503-A7E0-4BF2AAE5BCDA}"/>
              </a:ext>
            </a:extLst>
          </p:cNvPr>
          <p:cNvSpPr>
            <a:spLocks noGrp="1"/>
          </p:cNvSpPr>
          <p:nvPr/>
        </p:nvSpPr>
        <p:spPr>
          <a:xfrm>
            <a:off x="8366760" y="1993392"/>
            <a:ext cx="278892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How does an observed correction reach other variables and locations?</a:t>
            </a:r>
          </a:p>
        </p:txBody>
      </p:sp>
      <p:sp>
        <p:nvSpPr>
          <p:cNvPr id="25" name="Slide Number Placeholder 0">
            <a:extLst>
              <a:ext uri="{FF2B5EF4-FFF2-40B4-BE49-F238E27FC236}">
                <a16:creationId xmlns:a16="http://schemas.microsoft.com/office/drawing/2014/main" id="{00F72CA8-F846-4BBA-BF83-9A465D979E0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30394428-F1DC-E5F6-DB0C-7DE31F3D8A23}" type="slidenum">
              <a:rPr b="0"/>
              <a:t>11</a:t>
            </a:fld>
            <a:endParaRPr b="0"/>
          </a:p>
        </p:txBody>
      </p:sp>
    </p:spTree>
    <p:extLst>
      <p:ext uri="{BB962C8B-B14F-4D97-AF65-F5344CB8AC3E}">
        <p14:creationId xmlns:p14="http://schemas.microsoft.com/office/powerpoint/2010/main" val="1237891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2504F74-FC5E-4924-8B99-AA71599E9650}"/>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LETKF repeats one local ensemble-space update across the grid</a:t>
            </a:r>
          </a:p>
        </p:txBody>
      </p:sp>
      <p:sp>
        <p:nvSpPr>
          <p:cNvPr id="3" name="Shape 1">
            <a:extLst>
              <a:ext uri="{FF2B5EF4-FFF2-40B4-BE49-F238E27FC236}">
                <a16:creationId xmlns:a16="http://schemas.microsoft.com/office/drawing/2014/main" id="{C1873746-B1DF-4058-ABAC-FA079B772F78}"/>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62DF3460-98EE-481E-8F7B-07852CB160F7}"/>
              </a:ext>
            </a:extLst>
          </p:cNvPr>
          <p:cNvSpPr>
            <a:spLocks noGrp="1"/>
          </p:cNvSpPr>
          <p:nvPr/>
        </p:nvSpPr>
        <p:spPr>
          <a:xfrm>
            <a:off x="723900" y="1438275"/>
            <a:ext cx="10744200" cy="723900"/>
          </a:xfrm>
          <a:prstGeom prst="rect">
            <a:avLst/>
          </a:prstGeom>
          <a:noFill/>
        </p:spPr>
        <p:txBody>
          <a:bodyPr wrap="square" lIns="1016" tIns="1016" rIns="1016" bIns="1016" anchor="t"/>
          <a:lstStyle/>
          <a:p>
            <a:pPr marL="177800" indent="-177800">
              <a:buChar char="•"/>
            </a:pPr>
            <a:r>
              <a:rPr dirty="0">
                <a:solidFill>
                  <a:srgbClr val="5B6573"/>
                </a:solidFill>
              </a:rPr>
              <a:t>At each location, LETKF uses nearby observations to compute one affine transform of the background ensemble.</a:t>
            </a:r>
          </a:p>
        </p:txBody>
      </p:sp>
      <p:sp>
        <p:nvSpPr>
          <p:cNvPr id="6" name="Shape 4">
            <a:extLst>
              <a:ext uri="{FF2B5EF4-FFF2-40B4-BE49-F238E27FC236}">
                <a16:creationId xmlns:a16="http://schemas.microsoft.com/office/drawing/2014/main" id="{AE07A2F4-0BBA-4278-8838-14FB86F42CEF}"/>
              </a:ext>
            </a:extLst>
          </p:cNvPr>
          <p:cNvSpPr>
            <a:spLocks noGrp="1"/>
          </p:cNvSpPr>
          <p:nvPr/>
        </p:nvSpPr>
        <p:spPr>
          <a:xfrm>
            <a:off x="1000125" y="2609850"/>
            <a:ext cx="742950" cy="742950"/>
          </a:xfrm>
          <a:prstGeom prst="ellipse">
            <a:avLst/>
          </a:prstGeom>
          <a:solidFill>
            <a:srgbClr val="214B69"/>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1</a:t>
            </a:r>
          </a:p>
        </p:txBody>
      </p:sp>
      <p:sp>
        <p:nvSpPr>
          <p:cNvPr id="7" name="Text 5">
            <a:extLst>
              <a:ext uri="{FF2B5EF4-FFF2-40B4-BE49-F238E27FC236}">
                <a16:creationId xmlns:a16="http://schemas.microsoft.com/office/drawing/2014/main" id="{99538D64-2E3B-4DDB-BEE3-5B848354BCB1}"/>
              </a:ext>
            </a:extLst>
          </p:cNvPr>
          <p:cNvSpPr>
            <a:spLocks noGrp="1"/>
          </p:cNvSpPr>
          <p:nvPr/>
        </p:nvSpPr>
        <p:spPr>
          <a:xfrm>
            <a:off x="53340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lang="en-US" sz="1425" b="1" dirty="0">
                <a:solidFill>
                  <a:srgbClr val="12263A"/>
                </a:solidFill>
                <a:latin typeface="Aptos"/>
                <a:ea typeface="Aptos"/>
                <a:cs typeface="Aptos"/>
              </a:rPr>
              <a:t>Background</a:t>
            </a:r>
            <a:r>
              <a:rPr sz="1425" b="1" dirty="0">
                <a:solidFill>
                  <a:srgbClr val="12263A"/>
                </a:solidFill>
                <a:latin typeface="Aptos"/>
                <a:ea typeface="Aptos"/>
                <a:cs typeface="Aptos"/>
              </a:rPr>
              <a:t> ensemble</a:t>
            </a:r>
          </a:p>
          <a:p>
            <a:pPr marL="0" indent="0" algn="ctr">
              <a:buNone/>
              <a:defRPr sz="1425" b="1">
                <a:solidFill>
                  <a:srgbClr val="12263A"/>
                </a:solidFill>
                <a:latin typeface="Aptos"/>
                <a:ea typeface="Aptos"/>
                <a:cs typeface="Aptos"/>
              </a:defRPr>
            </a:pPr>
            <a:r>
              <a:rPr sz="1425" b="1" dirty="0">
                <a:solidFill>
                  <a:srgbClr val="12263A"/>
                </a:solidFill>
                <a:latin typeface="Aptos"/>
                <a:ea typeface="Aptos"/>
                <a:cs typeface="Aptos"/>
              </a:rPr>
              <a:t>xᵇ</a:t>
            </a:r>
          </a:p>
        </p:txBody>
      </p:sp>
      <p:sp>
        <p:nvSpPr>
          <p:cNvPr id="8" name="Shape 6">
            <a:extLst>
              <a:ext uri="{FF2B5EF4-FFF2-40B4-BE49-F238E27FC236}">
                <a16:creationId xmlns:a16="http://schemas.microsoft.com/office/drawing/2014/main" id="{EE278EA5-4EDD-4F24-B9A7-E2BE9F1D7583}"/>
              </a:ext>
            </a:extLst>
          </p:cNvPr>
          <p:cNvSpPr>
            <a:spLocks noGrp="1"/>
          </p:cNvSpPr>
          <p:nvPr/>
        </p:nvSpPr>
        <p:spPr>
          <a:xfrm>
            <a:off x="3190875" y="2609850"/>
            <a:ext cx="742950" cy="742950"/>
          </a:xfrm>
          <a:prstGeom prst="ellipse">
            <a:avLst/>
          </a:prstGeom>
          <a:solidFill>
            <a:srgbClr val="E0A63A"/>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2</a:t>
            </a:r>
          </a:p>
        </p:txBody>
      </p:sp>
      <p:sp>
        <p:nvSpPr>
          <p:cNvPr id="9" name="Text 7">
            <a:extLst>
              <a:ext uri="{FF2B5EF4-FFF2-40B4-BE49-F238E27FC236}">
                <a16:creationId xmlns:a16="http://schemas.microsoft.com/office/drawing/2014/main" id="{94092EE4-D82B-4FC6-989C-1E78E315484F}"/>
              </a:ext>
            </a:extLst>
          </p:cNvPr>
          <p:cNvSpPr>
            <a:spLocks noGrp="1"/>
          </p:cNvSpPr>
          <p:nvPr/>
        </p:nvSpPr>
        <p:spPr>
          <a:xfrm>
            <a:off x="272415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dirty="0">
                <a:solidFill>
                  <a:srgbClr val="12263A"/>
                </a:solidFill>
                <a:latin typeface="Aptos"/>
                <a:ea typeface="Aptos"/>
                <a:cs typeface="Aptos"/>
              </a:rPr>
              <a:t>Predict observations</a:t>
            </a:r>
          </a:p>
          <a:p>
            <a:pPr marL="0" indent="0" algn="ctr">
              <a:buNone/>
              <a:defRPr sz="1425" b="1">
                <a:solidFill>
                  <a:srgbClr val="12263A"/>
                </a:solidFill>
                <a:latin typeface="Aptos"/>
                <a:ea typeface="Aptos"/>
                <a:cs typeface="Aptos"/>
              </a:defRPr>
            </a:pPr>
            <a:r>
              <a:rPr sz="1425" b="1" dirty="0">
                <a:solidFill>
                  <a:srgbClr val="12263A"/>
                </a:solidFill>
                <a:latin typeface="Aptos"/>
                <a:ea typeface="Aptos"/>
                <a:cs typeface="Aptos"/>
              </a:rPr>
              <a:t>H(xᵇ)</a:t>
            </a:r>
          </a:p>
        </p:txBody>
      </p:sp>
      <p:sp>
        <p:nvSpPr>
          <p:cNvPr id="10" name="Shape 8">
            <a:extLst>
              <a:ext uri="{FF2B5EF4-FFF2-40B4-BE49-F238E27FC236}">
                <a16:creationId xmlns:a16="http://schemas.microsoft.com/office/drawing/2014/main" id="{8DE20577-1C2D-42DC-84FC-D13E5BFCEB91}"/>
              </a:ext>
            </a:extLst>
          </p:cNvPr>
          <p:cNvSpPr>
            <a:spLocks noGrp="1"/>
          </p:cNvSpPr>
          <p:nvPr/>
        </p:nvSpPr>
        <p:spPr>
          <a:xfrm>
            <a:off x="5381625" y="2609850"/>
            <a:ext cx="742950" cy="742950"/>
          </a:xfrm>
          <a:prstGeom prst="ellipse">
            <a:avLst/>
          </a:prstGeom>
          <a:solidFill>
            <a:srgbClr val="E0A63A"/>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3</a:t>
            </a:r>
          </a:p>
        </p:txBody>
      </p:sp>
      <p:sp>
        <p:nvSpPr>
          <p:cNvPr id="11" name="Text 9">
            <a:extLst>
              <a:ext uri="{FF2B5EF4-FFF2-40B4-BE49-F238E27FC236}">
                <a16:creationId xmlns:a16="http://schemas.microsoft.com/office/drawing/2014/main" id="{52B5A006-B58E-40C4-B886-AF1C0F2346EC}"/>
              </a:ext>
            </a:extLst>
          </p:cNvPr>
          <p:cNvSpPr>
            <a:spLocks noGrp="1"/>
          </p:cNvSpPr>
          <p:nvPr/>
        </p:nvSpPr>
        <p:spPr>
          <a:xfrm>
            <a:off x="491490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dirty="0">
                <a:solidFill>
                  <a:srgbClr val="12263A"/>
                </a:solidFill>
                <a:latin typeface="Aptos"/>
                <a:ea typeface="Aptos"/>
                <a:cs typeface="Aptos"/>
              </a:rPr>
              <a:t>Select nearby</a:t>
            </a:r>
          </a:p>
          <a:p>
            <a:pPr marL="0" indent="0" algn="ctr">
              <a:buNone/>
              <a:defRPr sz="1425" b="1">
                <a:solidFill>
                  <a:srgbClr val="12263A"/>
                </a:solidFill>
                <a:latin typeface="Aptos"/>
                <a:ea typeface="Aptos"/>
                <a:cs typeface="Aptos"/>
              </a:defRPr>
            </a:pPr>
            <a:r>
              <a:rPr sz="1425" b="1" dirty="0">
                <a:solidFill>
                  <a:srgbClr val="12263A"/>
                </a:solidFill>
                <a:latin typeface="Aptos"/>
                <a:ea typeface="Aptos"/>
                <a:cs typeface="Aptos"/>
              </a:rPr>
              <a:t>observations</a:t>
            </a:r>
          </a:p>
        </p:txBody>
      </p:sp>
      <p:sp>
        <p:nvSpPr>
          <p:cNvPr id="12" name="Shape 10">
            <a:extLst>
              <a:ext uri="{FF2B5EF4-FFF2-40B4-BE49-F238E27FC236}">
                <a16:creationId xmlns:a16="http://schemas.microsoft.com/office/drawing/2014/main" id="{628D43E2-FBDC-4C19-B6D7-3C78F1276136}"/>
              </a:ext>
            </a:extLst>
          </p:cNvPr>
          <p:cNvSpPr>
            <a:spLocks noGrp="1"/>
          </p:cNvSpPr>
          <p:nvPr/>
        </p:nvSpPr>
        <p:spPr>
          <a:xfrm>
            <a:off x="7572375" y="2609850"/>
            <a:ext cx="742950" cy="742950"/>
          </a:xfrm>
          <a:prstGeom prst="ellipse">
            <a:avLst/>
          </a:prstGeom>
          <a:solidFill>
            <a:srgbClr val="E0A63A"/>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4</a:t>
            </a:r>
          </a:p>
        </p:txBody>
      </p:sp>
      <p:sp>
        <p:nvSpPr>
          <p:cNvPr id="13" name="Text 11">
            <a:extLst>
              <a:ext uri="{FF2B5EF4-FFF2-40B4-BE49-F238E27FC236}">
                <a16:creationId xmlns:a16="http://schemas.microsoft.com/office/drawing/2014/main" id="{1F8A3112-3BCA-4CE8-92D9-97E133E45A6F}"/>
              </a:ext>
            </a:extLst>
          </p:cNvPr>
          <p:cNvSpPr>
            <a:spLocks noGrp="1"/>
          </p:cNvSpPr>
          <p:nvPr/>
        </p:nvSpPr>
        <p:spPr>
          <a:xfrm>
            <a:off x="710565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Solve weights</a:t>
            </a:r>
          </a:p>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and transform</a:t>
            </a:r>
          </a:p>
        </p:txBody>
      </p:sp>
      <p:sp>
        <p:nvSpPr>
          <p:cNvPr id="14" name="Shape 12">
            <a:extLst>
              <a:ext uri="{FF2B5EF4-FFF2-40B4-BE49-F238E27FC236}">
                <a16:creationId xmlns:a16="http://schemas.microsoft.com/office/drawing/2014/main" id="{A1BE9F79-2D45-475B-B3FB-4D1134309E99}"/>
              </a:ext>
            </a:extLst>
          </p:cNvPr>
          <p:cNvSpPr>
            <a:spLocks noGrp="1"/>
          </p:cNvSpPr>
          <p:nvPr/>
        </p:nvSpPr>
        <p:spPr>
          <a:xfrm>
            <a:off x="9763125" y="2609850"/>
            <a:ext cx="742950" cy="742950"/>
          </a:xfrm>
          <a:prstGeom prst="ellipse">
            <a:avLst/>
          </a:prstGeom>
          <a:solidFill>
            <a:srgbClr val="214B69"/>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5</a:t>
            </a:r>
          </a:p>
        </p:txBody>
      </p:sp>
      <p:sp>
        <p:nvSpPr>
          <p:cNvPr id="15" name="Text 13">
            <a:extLst>
              <a:ext uri="{FF2B5EF4-FFF2-40B4-BE49-F238E27FC236}">
                <a16:creationId xmlns:a16="http://schemas.microsoft.com/office/drawing/2014/main" id="{CA3A26FE-67FE-4E3A-B55C-78AE9D318A6F}"/>
              </a:ext>
            </a:extLst>
          </p:cNvPr>
          <p:cNvSpPr>
            <a:spLocks noGrp="1"/>
          </p:cNvSpPr>
          <p:nvPr/>
        </p:nvSpPr>
        <p:spPr>
          <a:xfrm>
            <a:off x="929640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Local analysis</a:t>
            </a:r>
          </a:p>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xᵃ</a:t>
            </a:r>
          </a:p>
        </p:txBody>
      </p:sp>
      <p:sp>
        <p:nvSpPr>
          <p:cNvPr id="22" name="Text 20">
            <a:extLst>
              <a:ext uri="{FF2B5EF4-FFF2-40B4-BE49-F238E27FC236}">
                <a16:creationId xmlns:a16="http://schemas.microsoft.com/office/drawing/2014/main" id="{50AA0CC2-1CB7-4844-B458-1C22731B0555}"/>
              </a:ext>
            </a:extLst>
          </p:cNvPr>
          <p:cNvSpPr>
            <a:spLocks noGrp="1"/>
          </p:cNvSpPr>
          <p:nvPr/>
        </p:nvSpPr>
        <p:spPr>
          <a:xfrm>
            <a:off x="1524000" y="5038725"/>
            <a:ext cx="9144000" cy="495300"/>
          </a:xfrm>
          <a:prstGeom prst="rect">
            <a:avLst/>
          </a:prstGeom>
          <a:noFill/>
        </p:spPr>
        <p:txBody>
          <a:bodyPr wrap="square" anchor="ctr"/>
          <a:lstStyle/>
          <a:p>
            <a:pPr marL="0" indent="0" algn="ctr">
              <a:buNone/>
              <a:defRPr sz="1650" b="1">
                <a:solidFill>
                  <a:srgbClr val="214B69"/>
                </a:solidFill>
                <a:latin typeface="Aptos"/>
                <a:ea typeface="Aptos"/>
                <a:cs typeface="Aptos"/>
              </a:defRPr>
            </a:pPr>
            <a:r>
              <a:rPr sz="1650" b="1">
                <a:solidFill>
                  <a:srgbClr val="214B69"/>
                </a:solidFill>
                <a:latin typeface="Aptos"/>
                <a:ea typeface="Aptos"/>
                <a:cs typeface="Aptos"/>
              </a:rPr>
              <a:t>One localized affine transform at each grid point</a:t>
            </a:r>
          </a:p>
        </p:txBody>
      </p:sp>
      <p:sp>
        <p:nvSpPr>
          <p:cNvPr id="25" name="Slide Number Placeholder 0">
            <a:extLst>
              <a:ext uri="{FF2B5EF4-FFF2-40B4-BE49-F238E27FC236}">
                <a16:creationId xmlns:a16="http://schemas.microsoft.com/office/drawing/2014/main" id="{DF0CCF3E-FB16-4694-8906-D1FA89BF8AF3}"/>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4DB16885-0D3F-A391-B669-3211DB3B26E8}" type="slidenum">
              <a:rPr b="0"/>
              <a:t>12</a:t>
            </a:fld>
            <a:endParaRPr b="0"/>
          </a:p>
        </p:txBody>
      </p:sp>
      <p:cxnSp>
        <p:nvCxnSpPr>
          <p:cNvPr id="45" name="Straight Arrow Connector 44"/>
          <p:cNvCxnSpPr>
            <a:stCxn id="6" idx="6"/>
            <a:endCxn id="8" idx="2"/>
          </p:cNvCxnSpPr>
          <p:nvPr/>
        </p:nvCxnSpPr>
        <p:spPr>
          <a:xfrm>
            <a:off x="1743075" y="2981325"/>
            <a:ext cx="1447800" cy="0"/>
          </a:xfrm>
          <a:prstGeom prst="straightConnector1">
            <a:avLst/>
          </a:prstGeom>
          <a:ln w="28575">
            <a:solidFill>
              <a:srgbClr val="7D8B98"/>
            </a:solidFill>
            <a:prstDash val="solid"/>
            <a:tailEnd type="arrow" w="med" len="med"/>
          </a:ln>
        </p:spPr>
      </p:cxnSp>
      <p:cxnSp>
        <p:nvCxnSpPr>
          <p:cNvPr id="46" name="Straight Arrow Connector 45"/>
          <p:cNvCxnSpPr>
            <a:stCxn id="8" idx="6"/>
            <a:endCxn id="10" idx="2"/>
          </p:cNvCxnSpPr>
          <p:nvPr/>
        </p:nvCxnSpPr>
        <p:spPr>
          <a:xfrm>
            <a:off x="3933825" y="2981325"/>
            <a:ext cx="1447800" cy="0"/>
          </a:xfrm>
          <a:prstGeom prst="straightConnector1">
            <a:avLst/>
          </a:prstGeom>
          <a:ln w="28575">
            <a:solidFill>
              <a:srgbClr val="7D8B98"/>
            </a:solidFill>
            <a:prstDash val="solid"/>
            <a:tailEnd type="arrow" w="med" len="med"/>
          </a:ln>
        </p:spPr>
      </p:cxnSp>
      <p:cxnSp>
        <p:nvCxnSpPr>
          <p:cNvPr id="47" name="Straight Arrow Connector 46"/>
          <p:cNvCxnSpPr>
            <a:stCxn id="10" idx="6"/>
            <a:endCxn id="12" idx="2"/>
          </p:cNvCxnSpPr>
          <p:nvPr/>
        </p:nvCxnSpPr>
        <p:spPr>
          <a:xfrm>
            <a:off x="6124575" y="2981325"/>
            <a:ext cx="1447800" cy="0"/>
          </a:xfrm>
          <a:prstGeom prst="straightConnector1">
            <a:avLst/>
          </a:prstGeom>
          <a:ln w="28575">
            <a:solidFill>
              <a:srgbClr val="7D8B98"/>
            </a:solidFill>
            <a:prstDash val="solid"/>
            <a:tailEnd type="arrow" w="med" len="med"/>
          </a:ln>
        </p:spPr>
      </p:cxnSp>
      <p:cxnSp>
        <p:nvCxnSpPr>
          <p:cNvPr id="48" name="Straight Arrow Connector 47"/>
          <p:cNvCxnSpPr>
            <a:stCxn id="12" idx="6"/>
            <a:endCxn id="14" idx="2"/>
          </p:cNvCxnSpPr>
          <p:nvPr/>
        </p:nvCxnSpPr>
        <p:spPr>
          <a:xfrm>
            <a:off x="8315325" y="2981325"/>
            <a:ext cx="1447800" cy="0"/>
          </a:xfrm>
          <a:prstGeom prst="straightConnector1">
            <a:avLst/>
          </a:prstGeom>
          <a:ln w="28575">
            <a:solidFill>
              <a:srgbClr val="7D8B98"/>
            </a:solidFill>
            <a:prstDash val="solid"/>
            <a:tailEnd type="arrow" w="med" len="med"/>
          </a:ln>
        </p:spPr>
      </p:cxnSp>
    </p:spTree>
    <p:extLst>
      <p:ext uri="{BB962C8B-B14F-4D97-AF65-F5344CB8AC3E}">
        <p14:creationId xmlns:p14="http://schemas.microsoft.com/office/powerpoint/2010/main" val="1351773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BEE117-75EE-4388-8D49-DB71CDF563E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LETKF step 1: solve the analysis covariance in ensemble space</a:t>
            </a:r>
          </a:p>
        </p:txBody>
      </p:sp>
      <p:sp>
        <p:nvSpPr>
          <p:cNvPr id="3" name="Shape 1">
            <a:extLst>
              <a:ext uri="{FF2B5EF4-FFF2-40B4-BE49-F238E27FC236}">
                <a16:creationId xmlns:a16="http://schemas.microsoft.com/office/drawing/2014/main" id="{0CB108B0-47C4-4D02-BB2D-4F45FFF9ADF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5" name="Shape 2">
            <a:extLst>
              <a:ext uri="{FF2B5EF4-FFF2-40B4-BE49-F238E27FC236}">
                <a16:creationId xmlns:a16="http://schemas.microsoft.com/office/drawing/2014/main" id="{ABFAC673-A25A-4055-B43E-821DDBEA4757}"/>
              </a:ext>
            </a:extLst>
          </p:cNvPr>
          <p:cNvSpPr>
            <a:spLocks noGrp="1"/>
          </p:cNvSpPr>
          <p:nvPr/>
        </p:nvSpPr>
        <p:spPr>
          <a:xfrm>
            <a:off x="767781" y="2953512"/>
            <a:ext cx="4937760" cy="2194560"/>
          </a:xfrm>
          <a:prstGeom prst="roundRect">
            <a:avLst>
              <a:gd name="adj" fmla="val 333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3">
            <a:extLst>
              <a:ext uri="{FF2B5EF4-FFF2-40B4-BE49-F238E27FC236}">
                <a16:creationId xmlns:a16="http://schemas.microsoft.com/office/drawing/2014/main" id="{8C03335C-90D0-48DE-918E-553E4CC1CBC0}"/>
              </a:ext>
            </a:extLst>
          </p:cNvPr>
          <p:cNvSpPr>
            <a:spLocks noGrp="1"/>
          </p:cNvSpPr>
          <p:nvPr/>
        </p:nvSpPr>
        <p:spPr>
          <a:xfrm>
            <a:off x="1051560" y="3108960"/>
            <a:ext cx="457200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Why it is tractable</a:t>
            </a:r>
          </a:p>
        </p:txBody>
      </p:sp>
      <p:sp>
        <p:nvSpPr>
          <p:cNvPr id="7" name="Text 4">
            <a:extLst>
              <a:ext uri="{FF2B5EF4-FFF2-40B4-BE49-F238E27FC236}">
                <a16:creationId xmlns:a16="http://schemas.microsoft.com/office/drawing/2014/main" id="{34306231-8C8C-4AAF-960D-2416265C46AB}"/>
              </a:ext>
            </a:extLst>
          </p:cNvPr>
          <p:cNvSpPr>
            <a:spLocks noGrp="1"/>
          </p:cNvSpPr>
          <p:nvPr/>
        </p:nvSpPr>
        <p:spPr>
          <a:xfrm>
            <a:off x="1051560" y="3410712"/>
            <a:ext cx="4572000" cy="1645920"/>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600" b="0" dirty="0">
                <a:solidFill>
                  <a:srgbClr val="4D5B6A"/>
                </a:solidFill>
                <a:latin typeface="Aptos"/>
                <a:ea typeface="Aptos"/>
                <a:cs typeface="Aptos"/>
              </a:rPr>
              <a:t>P̃ᵃ is Nₑ × Nₑ. With 80 members, the inverse is 80 × 80 rather than full state dimension. Inflation ρ adjusts prior spread.</a:t>
            </a:r>
          </a:p>
        </p:txBody>
      </p:sp>
      <p:sp>
        <p:nvSpPr>
          <p:cNvPr id="8" name="Shape 5">
            <a:extLst>
              <a:ext uri="{FF2B5EF4-FFF2-40B4-BE49-F238E27FC236}">
                <a16:creationId xmlns:a16="http://schemas.microsoft.com/office/drawing/2014/main" id="{5254EADF-F92A-419E-9B7D-E99C3B3100A1}"/>
              </a:ext>
            </a:extLst>
          </p:cNvPr>
          <p:cNvSpPr>
            <a:spLocks noGrp="1"/>
          </p:cNvSpPr>
          <p:nvPr/>
        </p:nvSpPr>
        <p:spPr>
          <a:xfrm>
            <a:off x="6217920" y="164592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884A5A5-C3EC-4F7B-90A0-4EBFCA8FC0EC}"/>
              </a:ext>
            </a:extLst>
          </p:cNvPr>
          <p:cNvSpPr>
            <a:spLocks noGrp="1"/>
          </p:cNvSpPr>
          <p:nvPr/>
        </p:nvSpPr>
        <p:spPr>
          <a:xfrm>
            <a:off x="6400800" y="178308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Y′ᵇ</a:t>
            </a:r>
          </a:p>
        </p:txBody>
      </p:sp>
      <p:sp>
        <p:nvSpPr>
          <p:cNvPr id="10" name="Text 7">
            <a:extLst>
              <a:ext uri="{FF2B5EF4-FFF2-40B4-BE49-F238E27FC236}">
                <a16:creationId xmlns:a16="http://schemas.microsoft.com/office/drawing/2014/main" id="{64B8CC4D-5866-4D63-90F3-EB45CA563C9F}"/>
              </a:ext>
            </a:extLst>
          </p:cNvPr>
          <p:cNvSpPr>
            <a:spLocks noGrp="1"/>
          </p:cNvSpPr>
          <p:nvPr/>
        </p:nvSpPr>
        <p:spPr>
          <a:xfrm>
            <a:off x="6400800" y="208483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600" b="0" dirty="0">
                <a:solidFill>
                  <a:srgbClr val="4D5B6A"/>
                </a:solidFill>
                <a:latin typeface="Aptos"/>
                <a:ea typeface="Aptos"/>
                <a:cs typeface="Aptos"/>
              </a:rPr>
              <a:t>Local observation-space perturbations: </a:t>
            </a:r>
            <a:r>
              <a:rPr sz="1600" b="0" dirty="0" err="1">
                <a:solidFill>
                  <a:srgbClr val="4D5B6A"/>
                </a:solidFill>
                <a:latin typeface="Aptos"/>
                <a:ea typeface="Aptos"/>
                <a:cs typeface="Aptos"/>
              </a:rPr>
              <a:t>mlocal</a:t>
            </a:r>
            <a:r>
              <a:rPr sz="1600" b="0" dirty="0">
                <a:solidFill>
                  <a:srgbClr val="4D5B6A"/>
                </a:solidFill>
                <a:latin typeface="Aptos"/>
                <a:ea typeface="Aptos"/>
                <a:cs typeface="Aptos"/>
              </a:rPr>
              <a:t> × Nₑ.</a:t>
            </a:r>
          </a:p>
        </p:txBody>
      </p:sp>
      <p:sp>
        <p:nvSpPr>
          <p:cNvPr id="11" name="Shape 8">
            <a:extLst>
              <a:ext uri="{FF2B5EF4-FFF2-40B4-BE49-F238E27FC236}">
                <a16:creationId xmlns:a16="http://schemas.microsoft.com/office/drawing/2014/main" id="{3CEA8DB0-62FF-4E4A-83BC-ADB48FF5F826}"/>
              </a:ext>
            </a:extLst>
          </p:cNvPr>
          <p:cNvSpPr>
            <a:spLocks noGrp="1"/>
          </p:cNvSpPr>
          <p:nvPr/>
        </p:nvSpPr>
        <p:spPr>
          <a:xfrm>
            <a:off x="6217920" y="338328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9">
            <a:extLst>
              <a:ext uri="{FF2B5EF4-FFF2-40B4-BE49-F238E27FC236}">
                <a16:creationId xmlns:a16="http://schemas.microsoft.com/office/drawing/2014/main" id="{5E14DEF1-A419-4745-AE2F-A08C29F2F64D}"/>
              </a:ext>
            </a:extLst>
          </p:cNvPr>
          <p:cNvSpPr>
            <a:spLocks noGrp="1"/>
          </p:cNvSpPr>
          <p:nvPr/>
        </p:nvSpPr>
        <p:spPr>
          <a:xfrm>
            <a:off x="6400800" y="352044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R⁻¹</a:t>
            </a:r>
          </a:p>
        </p:txBody>
      </p:sp>
      <p:sp>
        <p:nvSpPr>
          <p:cNvPr id="13" name="Text 10">
            <a:extLst>
              <a:ext uri="{FF2B5EF4-FFF2-40B4-BE49-F238E27FC236}">
                <a16:creationId xmlns:a16="http://schemas.microsoft.com/office/drawing/2014/main" id="{613DDA21-7EE2-43B3-89B1-906DBBA3BA91}"/>
              </a:ext>
            </a:extLst>
          </p:cNvPr>
          <p:cNvSpPr>
            <a:spLocks noGrp="1"/>
          </p:cNvSpPr>
          <p:nvPr/>
        </p:nvSpPr>
        <p:spPr>
          <a:xfrm>
            <a:off x="6400800" y="382219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600" b="0" dirty="0">
                <a:solidFill>
                  <a:srgbClr val="4D5B6A"/>
                </a:solidFill>
                <a:latin typeface="Aptos"/>
                <a:ea typeface="Aptos"/>
                <a:cs typeface="Aptos"/>
              </a:rPr>
              <a:t>Observation confidence: precise observations receive more weight.</a:t>
            </a:r>
          </a:p>
        </p:txBody>
      </p:sp>
      <p:sp>
        <p:nvSpPr>
          <p:cNvPr id="25" name="Slide Number Placeholder 0">
            <a:extLst>
              <a:ext uri="{FF2B5EF4-FFF2-40B4-BE49-F238E27FC236}">
                <a16:creationId xmlns:a16="http://schemas.microsoft.com/office/drawing/2014/main" id="{03251B9B-DCF1-48AF-8FF7-93BFD3812F4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2DD23107-4986-8758-3A93-3D74F35908CC}" type="slidenum">
              <a:rPr b="0"/>
              <a:t>13</a:t>
            </a:fld>
            <a:endParaRPr b="0"/>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rcRect/>
          <a:stretch/>
        </p:blipFill>
        <p:spPr>
          <a:xfrm>
            <a:off x="868680" y="1691640"/>
            <a:ext cx="5029200" cy="952500"/>
          </a:xfrm>
          <a:prstGeom prst="rect">
            <a:avLst/>
          </a:prstGeom>
        </p:spPr>
      </p:pic>
    </p:spTree>
    <p:extLst>
      <p:ext uri="{BB962C8B-B14F-4D97-AF65-F5344CB8AC3E}">
        <p14:creationId xmlns:p14="http://schemas.microsoft.com/office/powerpoint/2010/main" val="2048515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BEE117-75EE-4388-8D49-DB71CDF563E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LETKF step 2: shift the mean and transform the perturbations</a:t>
            </a:r>
          </a:p>
        </p:txBody>
      </p:sp>
      <p:sp>
        <p:nvSpPr>
          <p:cNvPr id="3" name="Shape 1">
            <a:extLst>
              <a:ext uri="{FF2B5EF4-FFF2-40B4-BE49-F238E27FC236}">
                <a16:creationId xmlns:a16="http://schemas.microsoft.com/office/drawing/2014/main" id="{0CB108B0-47C4-4D02-BB2D-4F45FFF9ADF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5" name="Shape 2">
            <a:extLst>
              <a:ext uri="{FF2B5EF4-FFF2-40B4-BE49-F238E27FC236}">
                <a16:creationId xmlns:a16="http://schemas.microsoft.com/office/drawing/2014/main" id="{ABFAC673-A25A-4055-B43E-821DDBEA4757}"/>
              </a:ext>
            </a:extLst>
          </p:cNvPr>
          <p:cNvSpPr>
            <a:spLocks noGrp="1"/>
          </p:cNvSpPr>
          <p:nvPr/>
        </p:nvSpPr>
        <p:spPr>
          <a:xfrm>
            <a:off x="868680" y="2971800"/>
            <a:ext cx="4937760" cy="2194560"/>
          </a:xfrm>
          <a:prstGeom prst="roundRect">
            <a:avLst>
              <a:gd name="adj" fmla="val 333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3">
            <a:extLst>
              <a:ext uri="{FF2B5EF4-FFF2-40B4-BE49-F238E27FC236}">
                <a16:creationId xmlns:a16="http://schemas.microsoft.com/office/drawing/2014/main" id="{8C03335C-90D0-48DE-918E-553E4CC1CBC0}"/>
              </a:ext>
            </a:extLst>
          </p:cNvPr>
          <p:cNvSpPr>
            <a:spLocks noGrp="1"/>
          </p:cNvSpPr>
          <p:nvPr/>
        </p:nvSpPr>
        <p:spPr>
          <a:xfrm>
            <a:off x="1051560" y="3108960"/>
            <a:ext cx="457200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Read it in two pieces</a:t>
            </a:r>
          </a:p>
        </p:txBody>
      </p:sp>
      <p:sp>
        <p:nvSpPr>
          <p:cNvPr id="7" name="Text 4">
            <a:extLst>
              <a:ext uri="{FF2B5EF4-FFF2-40B4-BE49-F238E27FC236}">
                <a16:creationId xmlns:a16="http://schemas.microsoft.com/office/drawing/2014/main" id="{34306231-8C8C-4AAF-960D-2416265C46AB}"/>
              </a:ext>
            </a:extLst>
          </p:cNvPr>
          <p:cNvSpPr>
            <a:spLocks noGrp="1"/>
          </p:cNvSpPr>
          <p:nvPr/>
        </p:nvSpPr>
        <p:spPr>
          <a:xfrm>
            <a:off x="1051560" y="3410712"/>
            <a:ext cx="4572000" cy="1645920"/>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600" b="0" dirty="0">
                <a:solidFill>
                  <a:srgbClr val="4D5B6A"/>
                </a:solidFill>
                <a:latin typeface="Aptos"/>
                <a:ea typeface="Aptos"/>
                <a:cs typeface="Aptos"/>
              </a:rPr>
              <a:t>The weight vector moves the mean. The square-root matrix rotates and contracts perturbations. Both remain affine in the background ensemble span</a:t>
            </a:r>
            <a:r>
              <a:rPr sz="1350" b="0" dirty="0">
                <a:solidFill>
                  <a:srgbClr val="4D5B6A"/>
                </a:solidFill>
                <a:latin typeface="Aptos"/>
                <a:ea typeface="Aptos"/>
                <a:cs typeface="Aptos"/>
              </a:rPr>
              <a:t>.</a:t>
            </a:r>
          </a:p>
        </p:txBody>
      </p:sp>
      <p:sp>
        <p:nvSpPr>
          <p:cNvPr id="8" name="Shape 5">
            <a:extLst>
              <a:ext uri="{FF2B5EF4-FFF2-40B4-BE49-F238E27FC236}">
                <a16:creationId xmlns:a16="http://schemas.microsoft.com/office/drawing/2014/main" id="{5254EADF-F92A-419E-9B7D-E99C3B3100A1}"/>
              </a:ext>
            </a:extLst>
          </p:cNvPr>
          <p:cNvSpPr>
            <a:spLocks noGrp="1"/>
          </p:cNvSpPr>
          <p:nvPr/>
        </p:nvSpPr>
        <p:spPr>
          <a:xfrm>
            <a:off x="6217920" y="164592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884A5A5-C3EC-4F7B-90A0-4EBFCA8FC0EC}"/>
              </a:ext>
            </a:extLst>
          </p:cNvPr>
          <p:cNvSpPr>
            <a:spLocks noGrp="1"/>
          </p:cNvSpPr>
          <p:nvPr/>
        </p:nvSpPr>
        <p:spPr>
          <a:xfrm>
            <a:off x="6400800" y="178308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Innovation</a:t>
            </a:r>
          </a:p>
        </p:txBody>
      </p:sp>
      <p:sp>
        <p:nvSpPr>
          <p:cNvPr id="10" name="Text 7">
            <a:extLst>
              <a:ext uri="{FF2B5EF4-FFF2-40B4-BE49-F238E27FC236}">
                <a16:creationId xmlns:a16="http://schemas.microsoft.com/office/drawing/2014/main" id="{64B8CC4D-5866-4D63-90F3-EB45CA563C9F}"/>
              </a:ext>
            </a:extLst>
          </p:cNvPr>
          <p:cNvSpPr>
            <a:spLocks noGrp="1"/>
          </p:cNvSpPr>
          <p:nvPr/>
        </p:nvSpPr>
        <p:spPr>
          <a:xfrm>
            <a:off x="6400800" y="208483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600" b="0" dirty="0">
                <a:solidFill>
                  <a:srgbClr val="4D5B6A"/>
                </a:solidFill>
                <a:latin typeface="Aptos"/>
                <a:ea typeface="Aptos"/>
                <a:cs typeface="Aptos"/>
              </a:rPr>
              <a:t>y − ȳᵇ measures the mismatch between observation and ensemble prediction.</a:t>
            </a:r>
          </a:p>
        </p:txBody>
      </p:sp>
      <p:sp>
        <p:nvSpPr>
          <p:cNvPr id="11" name="Shape 8">
            <a:extLst>
              <a:ext uri="{FF2B5EF4-FFF2-40B4-BE49-F238E27FC236}">
                <a16:creationId xmlns:a16="http://schemas.microsoft.com/office/drawing/2014/main" id="{3CEA8DB0-62FF-4E4A-83BC-ADB48FF5F826}"/>
              </a:ext>
            </a:extLst>
          </p:cNvPr>
          <p:cNvSpPr>
            <a:spLocks noGrp="1"/>
          </p:cNvSpPr>
          <p:nvPr/>
        </p:nvSpPr>
        <p:spPr>
          <a:xfrm>
            <a:off x="6217920" y="338328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9">
            <a:extLst>
              <a:ext uri="{FF2B5EF4-FFF2-40B4-BE49-F238E27FC236}">
                <a16:creationId xmlns:a16="http://schemas.microsoft.com/office/drawing/2014/main" id="{5E14DEF1-A419-4745-AE2F-A08C29F2F64D}"/>
              </a:ext>
            </a:extLst>
          </p:cNvPr>
          <p:cNvSpPr>
            <a:spLocks noGrp="1"/>
          </p:cNvSpPr>
          <p:nvPr/>
        </p:nvSpPr>
        <p:spPr>
          <a:xfrm>
            <a:off x="6400800" y="352044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Mean update</a:t>
            </a:r>
          </a:p>
        </p:txBody>
      </p:sp>
      <p:sp>
        <p:nvSpPr>
          <p:cNvPr id="13" name="Text 10">
            <a:extLst>
              <a:ext uri="{FF2B5EF4-FFF2-40B4-BE49-F238E27FC236}">
                <a16:creationId xmlns:a16="http://schemas.microsoft.com/office/drawing/2014/main" id="{613DDA21-7EE2-43B3-89B1-906DBBA3BA91}"/>
              </a:ext>
            </a:extLst>
          </p:cNvPr>
          <p:cNvSpPr>
            <a:spLocks noGrp="1"/>
          </p:cNvSpPr>
          <p:nvPr/>
        </p:nvSpPr>
        <p:spPr>
          <a:xfrm>
            <a:off x="6400800" y="382219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600" b="0" dirty="0" err="1">
                <a:solidFill>
                  <a:srgbClr val="4D5B6A"/>
                </a:solidFill>
                <a:latin typeface="Aptos"/>
                <a:ea typeface="Aptos"/>
                <a:cs typeface="Aptos"/>
              </a:rPr>
              <a:t>X′ᵇw</a:t>
            </a:r>
            <a:r>
              <a:rPr sz="1600" b="0" dirty="0">
                <a:solidFill>
                  <a:srgbClr val="4D5B6A"/>
                </a:solidFill>
                <a:latin typeface="Aptos"/>
                <a:ea typeface="Aptos"/>
                <a:cs typeface="Aptos"/>
              </a:rPr>
              <a:t>̄ᵃ maps ensemble weights back into physical state space.</a:t>
            </a:r>
          </a:p>
        </p:txBody>
      </p:sp>
      <p:sp>
        <p:nvSpPr>
          <p:cNvPr id="25" name="Slide Number Placeholder 0">
            <a:extLst>
              <a:ext uri="{FF2B5EF4-FFF2-40B4-BE49-F238E27FC236}">
                <a16:creationId xmlns:a16="http://schemas.microsoft.com/office/drawing/2014/main" id="{03251B9B-DCF1-48AF-8FF7-93BFD3812F4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327921A4-25C4-3DB4-06B1-32693CEE2241}" type="slidenum">
              <a:rPr b="0"/>
              <a:t>14</a:t>
            </a:fld>
            <a:endParaRPr b="0"/>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rcRect/>
          <a:stretch/>
        </p:blipFill>
        <p:spPr>
          <a:xfrm>
            <a:off x="868680" y="1581150"/>
            <a:ext cx="5029200" cy="1104900"/>
          </a:xfrm>
          <a:prstGeom prst="rect">
            <a:avLst/>
          </a:prstGeom>
        </p:spPr>
      </p:pic>
    </p:spTree>
    <p:extLst>
      <p:ext uri="{BB962C8B-B14F-4D97-AF65-F5344CB8AC3E}">
        <p14:creationId xmlns:p14="http://schemas.microsoft.com/office/powerpoint/2010/main" val="2048515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1E7096B-C0C4-46DB-87E8-4AE8C5162260}"/>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dirty="0">
                <a:solidFill>
                  <a:srgbClr val="12263A"/>
                </a:solidFill>
                <a:latin typeface="Aptos Display"/>
                <a:ea typeface="Aptos Display"/>
                <a:cs typeface="Aptos Display"/>
              </a:rPr>
              <a:t>LETKF </a:t>
            </a:r>
            <a:r>
              <a:rPr lang="en-US" sz="2250" b="1" dirty="0">
                <a:solidFill>
                  <a:srgbClr val="12263A"/>
                </a:solidFill>
                <a:latin typeface="Aptos Display"/>
                <a:ea typeface="Aptos Display"/>
                <a:cs typeface="Aptos Display"/>
              </a:rPr>
              <a:t>uses</a:t>
            </a:r>
            <a:r>
              <a:rPr sz="2250" b="1" dirty="0">
                <a:solidFill>
                  <a:srgbClr val="12263A"/>
                </a:solidFill>
                <a:latin typeface="Aptos Display"/>
                <a:ea typeface="Aptos Display"/>
                <a:cs typeface="Aptos Display"/>
              </a:rPr>
              <a:t> localization and inflation to manage finite ensembles</a:t>
            </a:r>
          </a:p>
        </p:txBody>
      </p:sp>
      <p:sp>
        <p:nvSpPr>
          <p:cNvPr id="3" name="Shape 1">
            <a:extLst>
              <a:ext uri="{FF2B5EF4-FFF2-40B4-BE49-F238E27FC236}">
                <a16:creationId xmlns:a16="http://schemas.microsoft.com/office/drawing/2014/main" id="{53067A4A-ECD6-4F59-BD82-70998049DB7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8CFC055B-49B5-4B05-A497-CB3A82C1F7E0}"/>
              </a:ext>
            </a:extLst>
          </p:cNvPr>
          <p:cNvSpPr>
            <a:spLocks noGrp="1"/>
          </p:cNvSpPr>
          <p:nvPr/>
        </p:nvSpPr>
        <p:spPr>
          <a:xfrm>
            <a:off x="749808" y="1325880"/>
            <a:ext cx="10149840" cy="548640"/>
          </a:xfrm>
          <a:prstGeom prst="rect">
            <a:avLst/>
          </a:prstGeom>
          <a:noFill/>
        </p:spPr>
        <p:txBody>
          <a:bodyPr wrap="square" anchor="ctr"/>
          <a:lstStyle/>
          <a:p>
            <a:pPr marL="0" indent="0" algn="l">
              <a:buNone/>
              <a:defRPr sz="1350" b="0">
                <a:solidFill>
                  <a:srgbClr val="4D5B6A"/>
                </a:solidFill>
                <a:latin typeface="Aptos"/>
                <a:ea typeface="Aptos"/>
                <a:cs typeface="Aptos"/>
              </a:defRPr>
            </a:pPr>
            <a:r>
              <a:rPr sz="1350" b="0">
                <a:solidFill>
                  <a:srgbClr val="4D5B6A"/>
                </a:solidFill>
                <a:latin typeface="Aptos"/>
                <a:ea typeface="Aptos"/>
                <a:cs typeface="Aptos"/>
              </a:rPr>
              <a:t>Twenty LETKF parameter combinations were tested for each experiment.</a:t>
            </a:r>
          </a:p>
        </p:txBody>
      </p:sp>
      <p:sp>
        <p:nvSpPr>
          <p:cNvPr id="5" name="Shape 3">
            <a:extLst>
              <a:ext uri="{FF2B5EF4-FFF2-40B4-BE49-F238E27FC236}">
                <a16:creationId xmlns:a16="http://schemas.microsoft.com/office/drawing/2014/main" id="{7D9422FC-1A74-45AC-887A-48CCF4BFD8EC}"/>
              </a:ext>
            </a:extLst>
          </p:cNvPr>
          <p:cNvSpPr>
            <a:spLocks noGrp="1"/>
          </p:cNvSpPr>
          <p:nvPr/>
        </p:nvSpPr>
        <p:spPr>
          <a:xfrm>
            <a:off x="868680" y="1920240"/>
            <a:ext cx="3383280" cy="3474720"/>
          </a:xfrm>
          <a:prstGeom prst="roundRect">
            <a:avLst>
              <a:gd name="adj" fmla="val 2162"/>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4">
            <a:extLst>
              <a:ext uri="{FF2B5EF4-FFF2-40B4-BE49-F238E27FC236}">
                <a16:creationId xmlns:a16="http://schemas.microsoft.com/office/drawing/2014/main" id="{F2AC9E57-AF0B-4C10-8B58-960D81AFA3D1}"/>
              </a:ext>
            </a:extLst>
          </p:cNvPr>
          <p:cNvSpPr>
            <a:spLocks noGrp="1"/>
          </p:cNvSpPr>
          <p:nvPr/>
        </p:nvSpPr>
        <p:spPr>
          <a:xfrm>
            <a:off x="1051560" y="2057400"/>
            <a:ext cx="3017520" cy="256032"/>
          </a:xfrm>
          <a:prstGeom prst="rect">
            <a:avLst/>
          </a:prstGeom>
          <a:noFill/>
        </p:spPr>
        <p:txBody>
          <a:bodyPr wrap="square" lIns="0" tIns="0" rIns="0" bIns="0" anchor="ctr"/>
          <a:lstStyle/>
          <a:p>
            <a:pPr marL="0" indent="0" algn="l">
              <a:buNone/>
              <a:defRPr sz="1575" b="1">
                <a:solidFill>
                  <a:srgbClr val="214B69"/>
                </a:solidFill>
                <a:latin typeface="Aptos"/>
                <a:ea typeface="Aptos"/>
                <a:cs typeface="Aptos"/>
              </a:defRPr>
            </a:pPr>
            <a:r>
              <a:rPr sz="1575" b="1">
                <a:solidFill>
                  <a:srgbClr val="214B69"/>
                </a:solidFill>
                <a:latin typeface="Aptos"/>
                <a:ea typeface="Aptos"/>
                <a:cs typeface="Aptos"/>
              </a:rPr>
              <a:t>Localization radius r</a:t>
            </a:r>
          </a:p>
        </p:txBody>
      </p:sp>
      <p:sp>
        <p:nvSpPr>
          <p:cNvPr id="7" name="Text 5">
            <a:extLst>
              <a:ext uri="{FF2B5EF4-FFF2-40B4-BE49-F238E27FC236}">
                <a16:creationId xmlns:a16="http://schemas.microsoft.com/office/drawing/2014/main" id="{5B0669F5-7BDF-4DE4-B5CB-CA239623F5CE}"/>
              </a:ext>
            </a:extLst>
          </p:cNvPr>
          <p:cNvSpPr>
            <a:spLocks noGrp="1"/>
          </p:cNvSpPr>
          <p:nvPr/>
        </p:nvSpPr>
        <p:spPr>
          <a:xfrm>
            <a:off x="1051560" y="2359152"/>
            <a:ext cx="3017520" cy="292608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Limits each state component to observations in a local grid box. Tested r = 1, 2, 3, 4.</a:t>
            </a:r>
          </a:p>
        </p:txBody>
      </p:sp>
      <p:sp>
        <p:nvSpPr>
          <p:cNvPr id="8" name="Shape 6">
            <a:extLst>
              <a:ext uri="{FF2B5EF4-FFF2-40B4-BE49-F238E27FC236}">
                <a16:creationId xmlns:a16="http://schemas.microsoft.com/office/drawing/2014/main" id="{ECC9878F-B16A-4C08-B591-5C7712515533}"/>
              </a:ext>
            </a:extLst>
          </p:cNvPr>
          <p:cNvSpPr>
            <a:spLocks noGrp="1"/>
          </p:cNvSpPr>
          <p:nvPr/>
        </p:nvSpPr>
        <p:spPr>
          <a:xfrm>
            <a:off x="4434840" y="1920240"/>
            <a:ext cx="3383280" cy="3474720"/>
          </a:xfrm>
          <a:prstGeom prst="roundRect">
            <a:avLst>
              <a:gd name="adj" fmla="val 2162"/>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7">
            <a:extLst>
              <a:ext uri="{FF2B5EF4-FFF2-40B4-BE49-F238E27FC236}">
                <a16:creationId xmlns:a16="http://schemas.microsoft.com/office/drawing/2014/main" id="{CAE146B0-6010-4439-8B41-D5CC7A627B87}"/>
              </a:ext>
            </a:extLst>
          </p:cNvPr>
          <p:cNvSpPr>
            <a:spLocks noGrp="1"/>
          </p:cNvSpPr>
          <p:nvPr/>
        </p:nvSpPr>
        <p:spPr>
          <a:xfrm>
            <a:off x="4617720" y="2057400"/>
            <a:ext cx="3017520" cy="256032"/>
          </a:xfrm>
          <a:prstGeom prst="rect">
            <a:avLst/>
          </a:prstGeom>
          <a:noFill/>
        </p:spPr>
        <p:txBody>
          <a:bodyPr wrap="square" lIns="0" tIns="0" rIns="0" bIns="0" anchor="ctr"/>
          <a:lstStyle/>
          <a:p>
            <a:pPr marL="0" indent="0" algn="l">
              <a:buNone/>
              <a:defRPr sz="1575" b="1">
                <a:solidFill>
                  <a:srgbClr val="214B69"/>
                </a:solidFill>
                <a:latin typeface="Aptos"/>
                <a:ea typeface="Aptos"/>
                <a:cs typeface="Aptos"/>
              </a:defRPr>
            </a:pPr>
            <a:r>
              <a:rPr sz="1575" b="1">
                <a:solidFill>
                  <a:srgbClr val="214B69"/>
                </a:solidFill>
                <a:latin typeface="Aptos"/>
                <a:ea typeface="Aptos"/>
                <a:cs typeface="Aptos"/>
              </a:rPr>
              <a:t>Inflation ρ</a:t>
            </a:r>
          </a:p>
        </p:txBody>
      </p:sp>
      <p:sp>
        <p:nvSpPr>
          <p:cNvPr id="10" name="Text 8">
            <a:extLst>
              <a:ext uri="{FF2B5EF4-FFF2-40B4-BE49-F238E27FC236}">
                <a16:creationId xmlns:a16="http://schemas.microsoft.com/office/drawing/2014/main" id="{4D322B93-994B-4010-A230-3B0A81544C1F}"/>
              </a:ext>
            </a:extLst>
          </p:cNvPr>
          <p:cNvSpPr>
            <a:spLocks noGrp="1"/>
          </p:cNvSpPr>
          <p:nvPr/>
        </p:nvSpPr>
        <p:spPr>
          <a:xfrm>
            <a:off x="4617720" y="2359152"/>
            <a:ext cx="3017520" cy="292608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Restores ensemble spread lost to sampling error and repeated assimilation. Tested 1.00 to 1.60.</a:t>
            </a:r>
          </a:p>
        </p:txBody>
      </p:sp>
      <p:sp>
        <p:nvSpPr>
          <p:cNvPr id="11" name="Shape 9">
            <a:extLst>
              <a:ext uri="{FF2B5EF4-FFF2-40B4-BE49-F238E27FC236}">
                <a16:creationId xmlns:a16="http://schemas.microsoft.com/office/drawing/2014/main" id="{AE5467C1-30C1-48E7-946E-6F8432FF3BA5}"/>
              </a:ext>
            </a:extLst>
          </p:cNvPr>
          <p:cNvSpPr>
            <a:spLocks noGrp="1"/>
          </p:cNvSpPr>
          <p:nvPr/>
        </p:nvSpPr>
        <p:spPr>
          <a:xfrm>
            <a:off x="7940042" y="1874520"/>
            <a:ext cx="3383280" cy="3474720"/>
          </a:xfrm>
          <a:prstGeom prst="roundRect">
            <a:avLst>
              <a:gd name="adj" fmla="val 2162"/>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10">
            <a:extLst>
              <a:ext uri="{FF2B5EF4-FFF2-40B4-BE49-F238E27FC236}">
                <a16:creationId xmlns:a16="http://schemas.microsoft.com/office/drawing/2014/main" id="{4E8DF0BA-6A1C-40DD-BFEA-358B413E765B}"/>
              </a:ext>
            </a:extLst>
          </p:cNvPr>
          <p:cNvSpPr>
            <a:spLocks noGrp="1"/>
          </p:cNvSpPr>
          <p:nvPr/>
        </p:nvSpPr>
        <p:spPr>
          <a:xfrm>
            <a:off x="8183880" y="2057400"/>
            <a:ext cx="3017520" cy="256032"/>
          </a:xfrm>
          <a:prstGeom prst="rect">
            <a:avLst/>
          </a:prstGeom>
          <a:noFill/>
        </p:spPr>
        <p:txBody>
          <a:bodyPr wrap="square" lIns="0" tIns="0" rIns="0" bIns="0" anchor="ctr"/>
          <a:lstStyle/>
          <a:p>
            <a:pPr marL="0" indent="0" algn="l">
              <a:buNone/>
              <a:defRPr sz="1575" b="1">
                <a:solidFill>
                  <a:srgbClr val="214B69"/>
                </a:solidFill>
                <a:latin typeface="Aptos"/>
                <a:ea typeface="Aptos"/>
                <a:cs typeface="Aptos"/>
              </a:defRPr>
            </a:pPr>
            <a:r>
              <a:rPr sz="1575" b="1">
                <a:solidFill>
                  <a:srgbClr val="214B69"/>
                </a:solidFill>
                <a:latin typeface="Aptos"/>
                <a:ea typeface="Aptos"/>
                <a:cs typeface="Aptos"/>
              </a:rPr>
              <a:t>Selected settings</a:t>
            </a:r>
          </a:p>
        </p:txBody>
      </p:sp>
      <p:sp>
        <p:nvSpPr>
          <p:cNvPr id="13" name="Text 11">
            <a:extLst>
              <a:ext uri="{FF2B5EF4-FFF2-40B4-BE49-F238E27FC236}">
                <a16:creationId xmlns:a16="http://schemas.microsoft.com/office/drawing/2014/main" id="{04744E39-506B-4B3C-88E9-CEA56B0CC8B2}"/>
              </a:ext>
            </a:extLst>
          </p:cNvPr>
          <p:cNvSpPr>
            <a:spLocks noGrp="1"/>
          </p:cNvSpPr>
          <p:nvPr/>
        </p:nvSpPr>
        <p:spPr>
          <a:xfrm>
            <a:off x="8183880" y="2359152"/>
            <a:ext cx="3017520" cy="292608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Linear: 1.00, r3 | arctan: 1.00, r3 | wind: 1.15, r2 | pressure: 1.30, r2</a:t>
            </a:r>
            <a:r>
              <a:rPr sz="1425" b="0" dirty="0">
                <a:solidFill>
                  <a:srgbClr val="4D5B6A"/>
                </a:solidFill>
                <a:latin typeface="Aptos"/>
                <a:ea typeface="Aptos"/>
                <a:cs typeface="Aptos"/>
              </a:rPr>
              <a:t>.</a:t>
            </a:r>
          </a:p>
        </p:txBody>
      </p:sp>
      <p:sp>
        <p:nvSpPr>
          <p:cNvPr id="25" name="Slide Number Placeholder 0">
            <a:extLst>
              <a:ext uri="{FF2B5EF4-FFF2-40B4-BE49-F238E27FC236}">
                <a16:creationId xmlns:a16="http://schemas.microsoft.com/office/drawing/2014/main" id="{99E2F29E-FB7C-4B75-8F67-9384DB913B2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EA83FA91-883A-0168-8075-96CEB9DCA3C2}" type="slidenum">
              <a:rPr b="0"/>
              <a:t>15</a:t>
            </a:fld>
            <a:endParaRPr b="0"/>
          </a:p>
        </p:txBody>
      </p:sp>
    </p:spTree>
    <p:extLst>
      <p:ext uri="{BB962C8B-B14F-4D97-AF65-F5344CB8AC3E}">
        <p14:creationId xmlns:p14="http://schemas.microsoft.com/office/powerpoint/2010/main" val="506791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2504F74-FC5E-4924-8B99-AA71599E9650}"/>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EnSF transports each sample toward the analysis through pseudotime</a:t>
            </a:r>
          </a:p>
        </p:txBody>
      </p:sp>
      <p:sp>
        <p:nvSpPr>
          <p:cNvPr id="3" name="Shape 1">
            <a:extLst>
              <a:ext uri="{FF2B5EF4-FFF2-40B4-BE49-F238E27FC236}">
                <a16:creationId xmlns:a16="http://schemas.microsoft.com/office/drawing/2014/main" id="{C1873746-B1DF-4058-ABAC-FA079B772F78}"/>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62DF3460-98EE-481E-8F7B-07852CB160F7}"/>
              </a:ext>
            </a:extLst>
          </p:cNvPr>
          <p:cNvSpPr>
            <a:spLocks noGrp="1"/>
          </p:cNvSpPr>
          <p:nvPr/>
        </p:nvSpPr>
        <p:spPr>
          <a:xfrm>
            <a:off x="723900" y="1438275"/>
            <a:ext cx="10744200" cy="723900"/>
          </a:xfrm>
          <a:prstGeom prst="rect">
            <a:avLst/>
          </a:prstGeom>
          <a:noFill/>
        </p:spPr>
        <p:txBody>
          <a:bodyPr wrap="square" lIns="1016" tIns="1016" rIns="1016" bIns="1016" anchor="t"/>
          <a:lstStyle/>
          <a:p>
            <a:pPr marL="177800" indent="-177800">
              <a:buChar char="•"/>
            </a:pPr>
            <a:r>
              <a:rPr>
                <a:solidFill>
                  <a:srgbClr val="5B6573"/>
                </a:solidFill>
              </a:rPr>
              <a:t>The prior and likelihood scores are reevaluated as 1,000 reverse-SDE steps move samples from pseudotime 1 toward 0.</a:t>
            </a:r>
          </a:p>
        </p:txBody>
      </p:sp>
      <p:sp>
        <p:nvSpPr>
          <p:cNvPr id="6" name="Shape 4">
            <a:extLst>
              <a:ext uri="{FF2B5EF4-FFF2-40B4-BE49-F238E27FC236}">
                <a16:creationId xmlns:a16="http://schemas.microsoft.com/office/drawing/2014/main" id="{AE07A2F4-0BBA-4278-8838-14FB86F42CEF}"/>
              </a:ext>
            </a:extLst>
          </p:cNvPr>
          <p:cNvSpPr>
            <a:spLocks noGrp="1"/>
          </p:cNvSpPr>
          <p:nvPr/>
        </p:nvSpPr>
        <p:spPr>
          <a:xfrm>
            <a:off x="1000125" y="2609850"/>
            <a:ext cx="742950" cy="742950"/>
          </a:xfrm>
          <a:prstGeom prst="ellipse">
            <a:avLst/>
          </a:prstGeom>
          <a:solidFill>
            <a:srgbClr val="214B69"/>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1</a:t>
            </a:r>
          </a:p>
        </p:txBody>
      </p:sp>
      <p:sp>
        <p:nvSpPr>
          <p:cNvPr id="7" name="Text 5">
            <a:extLst>
              <a:ext uri="{FF2B5EF4-FFF2-40B4-BE49-F238E27FC236}">
                <a16:creationId xmlns:a16="http://schemas.microsoft.com/office/drawing/2014/main" id="{99538D64-2E3B-4DDB-BEE3-5B848354BCB1}"/>
              </a:ext>
            </a:extLst>
          </p:cNvPr>
          <p:cNvSpPr>
            <a:spLocks noGrp="1"/>
          </p:cNvSpPr>
          <p:nvPr/>
        </p:nvSpPr>
        <p:spPr>
          <a:xfrm>
            <a:off x="53340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Noisy sample</a:t>
            </a:r>
          </a:p>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pseudotime 1</a:t>
            </a:r>
          </a:p>
        </p:txBody>
      </p:sp>
      <p:sp>
        <p:nvSpPr>
          <p:cNvPr id="8" name="Shape 6">
            <a:extLst>
              <a:ext uri="{FF2B5EF4-FFF2-40B4-BE49-F238E27FC236}">
                <a16:creationId xmlns:a16="http://schemas.microsoft.com/office/drawing/2014/main" id="{EE278EA5-4EDD-4F24-B9A7-E2BE9F1D7583}"/>
              </a:ext>
            </a:extLst>
          </p:cNvPr>
          <p:cNvSpPr>
            <a:spLocks noGrp="1"/>
          </p:cNvSpPr>
          <p:nvPr/>
        </p:nvSpPr>
        <p:spPr>
          <a:xfrm>
            <a:off x="3190875" y="2609850"/>
            <a:ext cx="742950" cy="742950"/>
          </a:xfrm>
          <a:prstGeom prst="ellipse">
            <a:avLst/>
          </a:prstGeom>
          <a:solidFill>
            <a:srgbClr val="E0A63A"/>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2</a:t>
            </a:r>
          </a:p>
        </p:txBody>
      </p:sp>
      <p:sp>
        <p:nvSpPr>
          <p:cNvPr id="9" name="Text 7">
            <a:extLst>
              <a:ext uri="{FF2B5EF4-FFF2-40B4-BE49-F238E27FC236}">
                <a16:creationId xmlns:a16="http://schemas.microsoft.com/office/drawing/2014/main" id="{94092EE4-D82B-4FC6-989C-1E78E315484F}"/>
              </a:ext>
            </a:extLst>
          </p:cNvPr>
          <p:cNvSpPr>
            <a:spLocks noGrp="1"/>
          </p:cNvSpPr>
          <p:nvPr/>
        </p:nvSpPr>
        <p:spPr>
          <a:xfrm>
            <a:off x="272415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Prior score</a:t>
            </a:r>
          </a:p>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from ensemble</a:t>
            </a:r>
          </a:p>
        </p:txBody>
      </p:sp>
      <p:sp>
        <p:nvSpPr>
          <p:cNvPr id="10" name="Shape 8">
            <a:extLst>
              <a:ext uri="{FF2B5EF4-FFF2-40B4-BE49-F238E27FC236}">
                <a16:creationId xmlns:a16="http://schemas.microsoft.com/office/drawing/2014/main" id="{8DE20577-1C2D-42DC-84FC-D13E5BFCEB91}"/>
              </a:ext>
            </a:extLst>
          </p:cNvPr>
          <p:cNvSpPr>
            <a:spLocks noGrp="1"/>
          </p:cNvSpPr>
          <p:nvPr/>
        </p:nvSpPr>
        <p:spPr>
          <a:xfrm>
            <a:off x="5381625" y="2609850"/>
            <a:ext cx="742950" cy="742950"/>
          </a:xfrm>
          <a:prstGeom prst="ellipse">
            <a:avLst/>
          </a:prstGeom>
          <a:solidFill>
            <a:srgbClr val="E0A63A"/>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3</a:t>
            </a:r>
          </a:p>
        </p:txBody>
      </p:sp>
      <p:sp>
        <p:nvSpPr>
          <p:cNvPr id="11" name="Text 9">
            <a:extLst>
              <a:ext uri="{FF2B5EF4-FFF2-40B4-BE49-F238E27FC236}">
                <a16:creationId xmlns:a16="http://schemas.microsoft.com/office/drawing/2014/main" id="{52B5A006-B58E-40C4-B886-AF1C0F2346EC}"/>
              </a:ext>
            </a:extLst>
          </p:cNvPr>
          <p:cNvSpPr>
            <a:spLocks noGrp="1"/>
          </p:cNvSpPr>
          <p:nvPr/>
        </p:nvSpPr>
        <p:spPr>
          <a:xfrm>
            <a:off x="491490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Likelihood score</a:t>
            </a:r>
          </a:p>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from observation</a:t>
            </a:r>
          </a:p>
        </p:txBody>
      </p:sp>
      <p:sp>
        <p:nvSpPr>
          <p:cNvPr id="12" name="Shape 10">
            <a:extLst>
              <a:ext uri="{FF2B5EF4-FFF2-40B4-BE49-F238E27FC236}">
                <a16:creationId xmlns:a16="http://schemas.microsoft.com/office/drawing/2014/main" id="{628D43E2-FBDC-4C19-B6D7-3C78F1276136}"/>
              </a:ext>
            </a:extLst>
          </p:cNvPr>
          <p:cNvSpPr>
            <a:spLocks noGrp="1"/>
          </p:cNvSpPr>
          <p:nvPr/>
        </p:nvSpPr>
        <p:spPr>
          <a:xfrm>
            <a:off x="7572375" y="2609850"/>
            <a:ext cx="742950" cy="742950"/>
          </a:xfrm>
          <a:prstGeom prst="ellipse">
            <a:avLst/>
          </a:prstGeom>
          <a:solidFill>
            <a:srgbClr val="E0A63A"/>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4</a:t>
            </a:r>
          </a:p>
        </p:txBody>
      </p:sp>
      <p:sp>
        <p:nvSpPr>
          <p:cNvPr id="13" name="Text 11">
            <a:extLst>
              <a:ext uri="{FF2B5EF4-FFF2-40B4-BE49-F238E27FC236}">
                <a16:creationId xmlns:a16="http://schemas.microsoft.com/office/drawing/2014/main" id="{1F8A3112-3BCA-4CE8-92D9-97E133E45A6F}"/>
              </a:ext>
            </a:extLst>
          </p:cNvPr>
          <p:cNvSpPr>
            <a:spLocks noGrp="1"/>
          </p:cNvSpPr>
          <p:nvPr/>
        </p:nvSpPr>
        <p:spPr>
          <a:xfrm>
            <a:off x="710565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Reverse-SDE</a:t>
            </a:r>
          </a:p>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integration</a:t>
            </a:r>
          </a:p>
        </p:txBody>
      </p:sp>
      <p:sp>
        <p:nvSpPr>
          <p:cNvPr id="14" name="Shape 12">
            <a:extLst>
              <a:ext uri="{FF2B5EF4-FFF2-40B4-BE49-F238E27FC236}">
                <a16:creationId xmlns:a16="http://schemas.microsoft.com/office/drawing/2014/main" id="{A1BE9F79-2D45-475B-B3FB-4D1134309E99}"/>
              </a:ext>
            </a:extLst>
          </p:cNvPr>
          <p:cNvSpPr>
            <a:spLocks noGrp="1"/>
          </p:cNvSpPr>
          <p:nvPr/>
        </p:nvSpPr>
        <p:spPr>
          <a:xfrm>
            <a:off x="9763125" y="2609850"/>
            <a:ext cx="742950" cy="742950"/>
          </a:xfrm>
          <a:prstGeom prst="ellipse">
            <a:avLst/>
          </a:prstGeom>
          <a:solidFill>
            <a:srgbClr val="214B69"/>
          </a:solidFill>
          <a:ln w="19050">
            <a:solidFill>
              <a:srgbClr val="FFFFFF"/>
            </a:solidFill>
            <a:prstDash val="solid"/>
          </a:ln>
        </p:spPr>
        <p:txBody>
          <a:bodyPr anchor="ctr"/>
          <a:lstStyle/>
          <a:p>
            <a:pPr algn="ctr">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5</a:t>
            </a:r>
          </a:p>
        </p:txBody>
      </p:sp>
      <p:sp>
        <p:nvSpPr>
          <p:cNvPr id="15" name="Text 13">
            <a:extLst>
              <a:ext uri="{FF2B5EF4-FFF2-40B4-BE49-F238E27FC236}">
                <a16:creationId xmlns:a16="http://schemas.microsoft.com/office/drawing/2014/main" id="{CA3A26FE-67FE-4E3A-B55C-78AE9D318A6F}"/>
              </a:ext>
            </a:extLst>
          </p:cNvPr>
          <p:cNvSpPr>
            <a:spLocks noGrp="1"/>
          </p:cNvSpPr>
          <p:nvPr/>
        </p:nvSpPr>
        <p:spPr>
          <a:xfrm>
            <a:off x="9296400" y="3562350"/>
            <a:ext cx="1676400" cy="800100"/>
          </a:xfrm>
          <a:prstGeom prst="rect">
            <a:avLst/>
          </a:prstGeom>
          <a:noFill/>
        </p:spPr>
        <p:txBody>
          <a:bodyPr wrap="square" lIns="0" tIns="0" rIns="0" bIns="0" anchor="t"/>
          <a:lstStyle/>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Analysis sample</a:t>
            </a:r>
          </a:p>
          <a:p>
            <a:pPr marL="0" indent="0" algn="ctr">
              <a:buNone/>
              <a:defRPr sz="1425" b="1">
                <a:solidFill>
                  <a:srgbClr val="12263A"/>
                </a:solidFill>
                <a:latin typeface="Aptos"/>
                <a:ea typeface="Aptos"/>
                <a:cs typeface="Aptos"/>
              </a:defRPr>
            </a:pPr>
            <a:r>
              <a:rPr sz="1425" b="1">
                <a:solidFill>
                  <a:srgbClr val="12263A"/>
                </a:solidFill>
                <a:latin typeface="Aptos"/>
                <a:ea typeface="Aptos"/>
                <a:cs typeface="Aptos"/>
              </a:rPr>
              <a:t>pseudotime 0</a:t>
            </a:r>
          </a:p>
        </p:txBody>
      </p:sp>
      <p:sp>
        <p:nvSpPr>
          <p:cNvPr id="22" name="Text 20">
            <a:extLst>
              <a:ext uri="{FF2B5EF4-FFF2-40B4-BE49-F238E27FC236}">
                <a16:creationId xmlns:a16="http://schemas.microsoft.com/office/drawing/2014/main" id="{50AA0CC2-1CB7-4844-B458-1C22731B0555}"/>
              </a:ext>
            </a:extLst>
          </p:cNvPr>
          <p:cNvSpPr>
            <a:spLocks noGrp="1"/>
          </p:cNvSpPr>
          <p:nvPr/>
        </p:nvSpPr>
        <p:spPr>
          <a:xfrm>
            <a:off x="1524000" y="5038725"/>
            <a:ext cx="9144000" cy="495300"/>
          </a:xfrm>
          <a:prstGeom prst="rect">
            <a:avLst/>
          </a:prstGeom>
          <a:noFill/>
        </p:spPr>
        <p:txBody>
          <a:bodyPr wrap="square" anchor="ctr"/>
          <a:lstStyle/>
          <a:p>
            <a:pPr marL="0" indent="0" algn="ctr">
              <a:buNone/>
              <a:defRPr sz="1650" b="1">
                <a:solidFill>
                  <a:srgbClr val="214B69"/>
                </a:solidFill>
                <a:latin typeface="Aptos"/>
                <a:ea typeface="Aptos"/>
                <a:cs typeface="Aptos"/>
              </a:defRPr>
            </a:pPr>
            <a:r>
              <a:rPr sz="1650" b="1">
                <a:solidFill>
                  <a:srgbClr val="214B69"/>
                </a:solidFill>
                <a:latin typeface="Aptos"/>
                <a:ea typeface="Aptos"/>
                <a:cs typeface="Aptos"/>
              </a:rPr>
              <a:t>Many nonlinear, score-guided steps for each ensemble member</a:t>
            </a:r>
          </a:p>
        </p:txBody>
      </p:sp>
      <p:sp>
        <p:nvSpPr>
          <p:cNvPr id="25" name="Slide Number Placeholder 0">
            <a:extLst>
              <a:ext uri="{FF2B5EF4-FFF2-40B4-BE49-F238E27FC236}">
                <a16:creationId xmlns:a16="http://schemas.microsoft.com/office/drawing/2014/main" id="{DF0CCF3E-FB16-4694-8906-D1FA89BF8AF3}"/>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DC9C7607-4BA3-B4DC-A00F-2E67A9FCFF7E}" type="slidenum">
              <a:rPr b="0"/>
              <a:t>16</a:t>
            </a:fld>
            <a:endParaRPr b="0"/>
          </a:p>
        </p:txBody>
      </p:sp>
      <p:cxnSp>
        <p:nvCxnSpPr>
          <p:cNvPr id="45" name="Straight Arrow Connector 44"/>
          <p:cNvCxnSpPr>
            <a:stCxn id="6" idx="6"/>
            <a:endCxn id="8" idx="2"/>
          </p:cNvCxnSpPr>
          <p:nvPr/>
        </p:nvCxnSpPr>
        <p:spPr>
          <a:xfrm>
            <a:off x="1743075" y="2981325"/>
            <a:ext cx="1447800" cy="0"/>
          </a:xfrm>
          <a:prstGeom prst="straightConnector1">
            <a:avLst/>
          </a:prstGeom>
          <a:ln w="28575">
            <a:solidFill>
              <a:srgbClr val="7D8B98"/>
            </a:solidFill>
            <a:prstDash val="solid"/>
            <a:tailEnd type="arrow" w="med" len="med"/>
          </a:ln>
        </p:spPr>
      </p:cxnSp>
      <p:cxnSp>
        <p:nvCxnSpPr>
          <p:cNvPr id="46" name="Straight Arrow Connector 45"/>
          <p:cNvCxnSpPr>
            <a:stCxn id="8" idx="6"/>
            <a:endCxn id="10" idx="2"/>
          </p:cNvCxnSpPr>
          <p:nvPr/>
        </p:nvCxnSpPr>
        <p:spPr>
          <a:xfrm>
            <a:off x="3933825" y="2981325"/>
            <a:ext cx="1447800" cy="0"/>
          </a:xfrm>
          <a:prstGeom prst="straightConnector1">
            <a:avLst/>
          </a:prstGeom>
          <a:ln w="28575">
            <a:solidFill>
              <a:srgbClr val="7D8B98"/>
            </a:solidFill>
            <a:prstDash val="solid"/>
            <a:tailEnd type="arrow" w="med" len="med"/>
          </a:ln>
        </p:spPr>
      </p:cxnSp>
      <p:cxnSp>
        <p:nvCxnSpPr>
          <p:cNvPr id="47" name="Straight Arrow Connector 46"/>
          <p:cNvCxnSpPr>
            <a:stCxn id="10" idx="6"/>
            <a:endCxn id="12" idx="2"/>
          </p:cNvCxnSpPr>
          <p:nvPr/>
        </p:nvCxnSpPr>
        <p:spPr>
          <a:xfrm>
            <a:off x="6124575" y="2981325"/>
            <a:ext cx="1447800" cy="0"/>
          </a:xfrm>
          <a:prstGeom prst="straightConnector1">
            <a:avLst/>
          </a:prstGeom>
          <a:ln w="28575">
            <a:solidFill>
              <a:srgbClr val="7D8B98"/>
            </a:solidFill>
            <a:prstDash val="solid"/>
            <a:tailEnd type="arrow" w="med" len="med"/>
          </a:ln>
        </p:spPr>
      </p:cxnSp>
      <p:cxnSp>
        <p:nvCxnSpPr>
          <p:cNvPr id="48" name="Straight Arrow Connector 47"/>
          <p:cNvCxnSpPr>
            <a:stCxn id="12" idx="6"/>
            <a:endCxn id="14" idx="2"/>
          </p:cNvCxnSpPr>
          <p:nvPr/>
        </p:nvCxnSpPr>
        <p:spPr>
          <a:xfrm>
            <a:off x="8315325" y="2981325"/>
            <a:ext cx="1447800" cy="0"/>
          </a:xfrm>
          <a:prstGeom prst="straightConnector1">
            <a:avLst/>
          </a:prstGeom>
          <a:ln w="28575">
            <a:solidFill>
              <a:srgbClr val="7D8B98"/>
            </a:solidFill>
            <a:prstDash val="solid"/>
            <a:tailEnd type="arrow" w="med" len="med"/>
          </a:ln>
        </p:spPr>
      </p:cxnSp>
    </p:spTree>
    <p:extLst>
      <p:ext uri="{BB962C8B-B14F-4D97-AF65-F5344CB8AC3E}">
        <p14:creationId xmlns:p14="http://schemas.microsoft.com/office/powerpoint/2010/main" val="1351773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BEE117-75EE-4388-8D49-DB71CDF563E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The score is a local direction toward higher probability density</a:t>
            </a:r>
          </a:p>
        </p:txBody>
      </p:sp>
      <p:sp>
        <p:nvSpPr>
          <p:cNvPr id="3" name="Shape 1">
            <a:extLst>
              <a:ext uri="{FF2B5EF4-FFF2-40B4-BE49-F238E27FC236}">
                <a16:creationId xmlns:a16="http://schemas.microsoft.com/office/drawing/2014/main" id="{0CB108B0-47C4-4D02-BB2D-4F45FFF9ADF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5" name="Shape 2">
            <a:extLst>
              <a:ext uri="{FF2B5EF4-FFF2-40B4-BE49-F238E27FC236}">
                <a16:creationId xmlns:a16="http://schemas.microsoft.com/office/drawing/2014/main" id="{ABFAC673-A25A-4055-B43E-821DDBEA4757}"/>
              </a:ext>
            </a:extLst>
          </p:cNvPr>
          <p:cNvSpPr>
            <a:spLocks noGrp="1"/>
          </p:cNvSpPr>
          <p:nvPr/>
        </p:nvSpPr>
        <p:spPr>
          <a:xfrm>
            <a:off x="868680" y="2971800"/>
            <a:ext cx="4937760" cy="2194560"/>
          </a:xfrm>
          <a:prstGeom prst="roundRect">
            <a:avLst>
              <a:gd name="adj" fmla="val 333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3">
            <a:extLst>
              <a:ext uri="{FF2B5EF4-FFF2-40B4-BE49-F238E27FC236}">
                <a16:creationId xmlns:a16="http://schemas.microsoft.com/office/drawing/2014/main" id="{8C03335C-90D0-48DE-918E-553E4CC1CBC0}"/>
              </a:ext>
            </a:extLst>
          </p:cNvPr>
          <p:cNvSpPr>
            <a:spLocks noGrp="1"/>
          </p:cNvSpPr>
          <p:nvPr/>
        </p:nvSpPr>
        <p:spPr>
          <a:xfrm>
            <a:off x="1051560" y="3108960"/>
            <a:ext cx="457200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600" b="1" dirty="0">
                <a:solidFill>
                  <a:srgbClr val="214B69"/>
                </a:solidFill>
                <a:latin typeface="Aptos"/>
                <a:ea typeface="Aptos"/>
                <a:cs typeface="Aptos"/>
              </a:rPr>
              <a:t>Gaussian example</a:t>
            </a:r>
          </a:p>
        </p:txBody>
      </p:sp>
      <p:sp>
        <p:nvSpPr>
          <p:cNvPr id="7" name="Text 4">
            <a:extLst>
              <a:ext uri="{FF2B5EF4-FFF2-40B4-BE49-F238E27FC236}">
                <a16:creationId xmlns:a16="http://schemas.microsoft.com/office/drawing/2014/main" id="{34306231-8C8C-4AAF-960D-2416265C46AB}"/>
              </a:ext>
            </a:extLst>
          </p:cNvPr>
          <p:cNvSpPr>
            <a:spLocks noGrp="1"/>
          </p:cNvSpPr>
          <p:nvPr/>
        </p:nvSpPr>
        <p:spPr>
          <a:xfrm>
            <a:off x="1051560" y="3410712"/>
            <a:ext cx="4572000" cy="1645920"/>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600" b="0" dirty="0">
                <a:solidFill>
                  <a:srgbClr val="4D5B6A"/>
                </a:solidFill>
                <a:latin typeface="Aptos"/>
                <a:ea typeface="Aptos"/>
                <a:cs typeface="Aptos"/>
              </a:rPr>
              <a:t>If p is Gaussian, s(x) = −Σ⁻¹(x − μ): a covariance-scaled pull toward the mean. For nonlinear p, the direction varies with x</a:t>
            </a:r>
            <a:r>
              <a:rPr sz="1350" b="0" dirty="0">
                <a:solidFill>
                  <a:srgbClr val="4D5B6A"/>
                </a:solidFill>
                <a:latin typeface="Aptos"/>
                <a:ea typeface="Aptos"/>
                <a:cs typeface="Aptos"/>
              </a:rPr>
              <a:t>.</a:t>
            </a:r>
          </a:p>
        </p:txBody>
      </p:sp>
      <p:sp>
        <p:nvSpPr>
          <p:cNvPr id="8" name="Shape 5">
            <a:extLst>
              <a:ext uri="{FF2B5EF4-FFF2-40B4-BE49-F238E27FC236}">
                <a16:creationId xmlns:a16="http://schemas.microsoft.com/office/drawing/2014/main" id="{5254EADF-F92A-419E-9B7D-E99C3B3100A1}"/>
              </a:ext>
            </a:extLst>
          </p:cNvPr>
          <p:cNvSpPr>
            <a:spLocks noGrp="1"/>
          </p:cNvSpPr>
          <p:nvPr/>
        </p:nvSpPr>
        <p:spPr>
          <a:xfrm>
            <a:off x="6217920" y="164592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884A5A5-C3EC-4F7B-90A0-4EBFCA8FC0EC}"/>
              </a:ext>
            </a:extLst>
          </p:cNvPr>
          <p:cNvSpPr>
            <a:spLocks noGrp="1"/>
          </p:cNvSpPr>
          <p:nvPr/>
        </p:nvSpPr>
        <p:spPr>
          <a:xfrm>
            <a:off x="6400800" y="178308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600" b="1" dirty="0">
                <a:solidFill>
                  <a:srgbClr val="214B69"/>
                </a:solidFill>
                <a:latin typeface="Aptos"/>
                <a:ea typeface="Aptos"/>
                <a:cs typeface="Aptos"/>
              </a:rPr>
              <a:t>Vector field</a:t>
            </a:r>
          </a:p>
        </p:txBody>
      </p:sp>
      <p:sp>
        <p:nvSpPr>
          <p:cNvPr id="10" name="Text 7">
            <a:extLst>
              <a:ext uri="{FF2B5EF4-FFF2-40B4-BE49-F238E27FC236}">
                <a16:creationId xmlns:a16="http://schemas.microsoft.com/office/drawing/2014/main" id="{64B8CC4D-5866-4D63-90F3-EB45CA563C9F}"/>
              </a:ext>
            </a:extLst>
          </p:cNvPr>
          <p:cNvSpPr>
            <a:spLocks noGrp="1"/>
          </p:cNvSpPr>
          <p:nvPr/>
        </p:nvSpPr>
        <p:spPr>
          <a:xfrm>
            <a:off x="6400800" y="208483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600" b="0" dirty="0">
                <a:solidFill>
                  <a:srgbClr val="4D5B6A"/>
                </a:solidFill>
                <a:latin typeface="Aptos"/>
                <a:ea typeface="Aptos"/>
                <a:cs typeface="Aptos"/>
              </a:rPr>
              <a:t>The score gives a direction at every state x, not a probability value</a:t>
            </a:r>
            <a:r>
              <a:rPr sz="1275" b="0" dirty="0">
                <a:solidFill>
                  <a:srgbClr val="4D5B6A"/>
                </a:solidFill>
                <a:latin typeface="Aptos"/>
                <a:ea typeface="Aptos"/>
                <a:cs typeface="Aptos"/>
              </a:rPr>
              <a:t>.</a:t>
            </a:r>
          </a:p>
        </p:txBody>
      </p:sp>
      <p:sp>
        <p:nvSpPr>
          <p:cNvPr id="11" name="Shape 8">
            <a:extLst>
              <a:ext uri="{FF2B5EF4-FFF2-40B4-BE49-F238E27FC236}">
                <a16:creationId xmlns:a16="http://schemas.microsoft.com/office/drawing/2014/main" id="{3CEA8DB0-62FF-4E4A-83BC-ADB48FF5F826}"/>
              </a:ext>
            </a:extLst>
          </p:cNvPr>
          <p:cNvSpPr>
            <a:spLocks noGrp="1"/>
          </p:cNvSpPr>
          <p:nvPr/>
        </p:nvSpPr>
        <p:spPr>
          <a:xfrm>
            <a:off x="6217920" y="338328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9">
            <a:extLst>
              <a:ext uri="{FF2B5EF4-FFF2-40B4-BE49-F238E27FC236}">
                <a16:creationId xmlns:a16="http://schemas.microsoft.com/office/drawing/2014/main" id="{5E14DEF1-A419-4745-AE2F-A08C29F2F64D}"/>
              </a:ext>
            </a:extLst>
          </p:cNvPr>
          <p:cNvSpPr>
            <a:spLocks noGrp="1"/>
          </p:cNvSpPr>
          <p:nvPr/>
        </p:nvSpPr>
        <p:spPr>
          <a:xfrm>
            <a:off x="6400800" y="352044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600" b="1" dirty="0">
                <a:solidFill>
                  <a:srgbClr val="214B69"/>
                </a:solidFill>
                <a:latin typeface="Aptos"/>
                <a:ea typeface="Aptos"/>
                <a:cs typeface="Aptos"/>
              </a:rPr>
              <a:t>Why log p?</a:t>
            </a:r>
          </a:p>
        </p:txBody>
      </p:sp>
      <p:sp>
        <p:nvSpPr>
          <p:cNvPr id="13" name="Text 10">
            <a:extLst>
              <a:ext uri="{FF2B5EF4-FFF2-40B4-BE49-F238E27FC236}">
                <a16:creationId xmlns:a16="http://schemas.microsoft.com/office/drawing/2014/main" id="{613DDA21-7EE2-43B3-89B1-906DBBA3BA91}"/>
              </a:ext>
            </a:extLst>
          </p:cNvPr>
          <p:cNvSpPr>
            <a:spLocks noGrp="1"/>
          </p:cNvSpPr>
          <p:nvPr/>
        </p:nvSpPr>
        <p:spPr>
          <a:xfrm>
            <a:off x="6400800" y="382219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600" b="0" dirty="0">
                <a:solidFill>
                  <a:srgbClr val="4D5B6A"/>
                </a:solidFill>
                <a:latin typeface="Aptos"/>
                <a:ea typeface="Aptos"/>
                <a:cs typeface="Aptos"/>
              </a:rPr>
              <a:t>Products become sums, which matches the Bayesian prior-plus-likelihood structure.</a:t>
            </a:r>
          </a:p>
        </p:txBody>
      </p:sp>
      <p:sp>
        <p:nvSpPr>
          <p:cNvPr id="25" name="Slide Number Placeholder 0">
            <a:extLst>
              <a:ext uri="{FF2B5EF4-FFF2-40B4-BE49-F238E27FC236}">
                <a16:creationId xmlns:a16="http://schemas.microsoft.com/office/drawing/2014/main" id="{03251B9B-DCF1-48AF-8FF7-93BFD3812F4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90F7333B-44AC-F7E9-D49D-FE92F45E0477}" type="slidenum">
              <a:rPr b="0"/>
              <a:t>17</a:t>
            </a:fld>
            <a:endParaRPr b="0"/>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rcRect/>
          <a:stretch/>
        </p:blipFill>
        <p:spPr>
          <a:xfrm>
            <a:off x="868680" y="1691640"/>
            <a:ext cx="5029200" cy="952500"/>
          </a:xfrm>
          <a:prstGeom prst="rect">
            <a:avLst/>
          </a:prstGeom>
        </p:spPr>
      </p:pic>
    </p:spTree>
    <p:extLst>
      <p:ext uri="{BB962C8B-B14F-4D97-AF65-F5344CB8AC3E}">
        <p14:creationId xmlns:p14="http://schemas.microsoft.com/office/powerpoint/2010/main" val="2048515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BEE117-75EE-4388-8D49-DB71CDF563E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The posterior score combines background structure and observation fit</a:t>
            </a:r>
          </a:p>
        </p:txBody>
      </p:sp>
      <p:sp>
        <p:nvSpPr>
          <p:cNvPr id="3" name="Shape 1">
            <a:extLst>
              <a:ext uri="{FF2B5EF4-FFF2-40B4-BE49-F238E27FC236}">
                <a16:creationId xmlns:a16="http://schemas.microsoft.com/office/drawing/2014/main" id="{0CB108B0-47C4-4D02-BB2D-4F45FFF9ADF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5" name="Shape 2">
            <a:extLst>
              <a:ext uri="{FF2B5EF4-FFF2-40B4-BE49-F238E27FC236}">
                <a16:creationId xmlns:a16="http://schemas.microsoft.com/office/drawing/2014/main" id="{ABFAC673-A25A-4055-B43E-821DDBEA4757}"/>
              </a:ext>
            </a:extLst>
          </p:cNvPr>
          <p:cNvSpPr>
            <a:spLocks noGrp="1"/>
          </p:cNvSpPr>
          <p:nvPr/>
        </p:nvSpPr>
        <p:spPr>
          <a:xfrm>
            <a:off x="868680" y="2971800"/>
            <a:ext cx="4937760" cy="2194560"/>
          </a:xfrm>
          <a:prstGeom prst="roundRect">
            <a:avLst>
              <a:gd name="adj" fmla="val 333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3">
            <a:extLst>
              <a:ext uri="{FF2B5EF4-FFF2-40B4-BE49-F238E27FC236}">
                <a16:creationId xmlns:a16="http://schemas.microsoft.com/office/drawing/2014/main" id="{8C03335C-90D0-48DE-918E-553E4CC1CBC0}"/>
              </a:ext>
            </a:extLst>
          </p:cNvPr>
          <p:cNvSpPr>
            <a:spLocks noGrp="1"/>
          </p:cNvSpPr>
          <p:nvPr/>
        </p:nvSpPr>
        <p:spPr>
          <a:xfrm>
            <a:off x="1051560" y="3108960"/>
            <a:ext cx="457200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Paired prior score</a:t>
            </a:r>
          </a:p>
        </p:txBody>
      </p:sp>
      <p:sp>
        <p:nvSpPr>
          <p:cNvPr id="7" name="Text 4">
            <a:extLst>
              <a:ext uri="{FF2B5EF4-FFF2-40B4-BE49-F238E27FC236}">
                <a16:creationId xmlns:a16="http://schemas.microsoft.com/office/drawing/2014/main" id="{34306231-8C8C-4AAF-960D-2416265C46AB}"/>
              </a:ext>
            </a:extLst>
          </p:cNvPr>
          <p:cNvSpPr>
            <a:spLocks noGrp="1"/>
          </p:cNvSpPr>
          <p:nvPr/>
        </p:nvSpPr>
        <p:spPr>
          <a:xfrm>
            <a:off x="1051560" y="3410712"/>
            <a:ext cx="4572000" cy="1645920"/>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400" b="0" dirty="0">
                <a:solidFill>
                  <a:srgbClr val="4D5B6A"/>
                </a:solidFill>
                <a:latin typeface="Aptos"/>
                <a:ea typeface="Aptos"/>
                <a:cs typeface="Aptos"/>
              </a:rPr>
              <a:t>Each evolving sample stays tied to one background member through the prior-score term. The (1−τ) factor gradually activates the likelihood.</a:t>
            </a:r>
          </a:p>
        </p:txBody>
      </p:sp>
      <p:sp>
        <p:nvSpPr>
          <p:cNvPr id="8" name="Shape 5">
            <a:extLst>
              <a:ext uri="{FF2B5EF4-FFF2-40B4-BE49-F238E27FC236}">
                <a16:creationId xmlns:a16="http://schemas.microsoft.com/office/drawing/2014/main" id="{5254EADF-F92A-419E-9B7D-E99C3B3100A1}"/>
              </a:ext>
            </a:extLst>
          </p:cNvPr>
          <p:cNvSpPr>
            <a:spLocks noGrp="1"/>
          </p:cNvSpPr>
          <p:nvPr/>
        </p:nvSpPr>
        <p:spPr>
          <a:xfrm>
            <a:off x="6217920" y="164592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884A5A5-C3EC-4F7B-90A0-4EBFCA8FC0EC}"/>
              </a:ext>
            </a:extLst>
          </p:cNvPr>
          <p:cNvSpPr>
            <a:spLocks noGrp="1"/>
          </p:cNvSpPr>
          <p:nvPr/>
        </p:nvSpPr>
        <p:spPr>
          <a:xfrm>
            <a:off x="6400800" y="178308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Residual</a:t>
            </a:r>
          </a:p>
        </p:txBody>
      </p:sp>
      <p:sp>
        <p:nvSpPr>
          <p:cNvPr id="10" name="Text 7">
            <a:extLst>
              <a:ext uri="{FF2B5EF4-FFF2-40B4-BE49-F238E27FC236}">
                <a16:creationId xmlns:a16="http://schemas.microsoft.com/office/drawing/2014/main" id="{64B8CC4D-5866-4D63-90F3-EB45CA563C9F}"/>
              </a:ext>
            </a:extLst>
          </p:cNvPr>
          <p:cNvSpPr>
            <a:spLocks noGrp="1"/>
          </p:cNvSpPr>
          <p:nvPr/>
        </p:nvSpPr>
        <p:spPr>
          <a:xfrm>
            <a:off x="6400800" y="208483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400" b="0" dirty="0">
                <a:solidFill>
                  <a:srgbClr val="4D5B6A"/>
                </a:solidFill>
                <a:latin typeface="Aptos"/>
                <a:ea typeface="Aptos"/>
                <a:cs typeface="Aptos"/>
              </a:rPr>
              <a:t>H(x) − y measures the current mismatch in observation space.</a:t>
            </a:r>
          </a:p>
        </p:txBody>
      </p:sp>
      <p:sp>
        <p:nvSpPr>
          <p:cNvPr id="11" name="Shape 8">
            <a:extLst>
              <a:ext uri="{FF2B5EF4-FFF2-40B4-BE49-F238E27FC236}">
                <a16:creationId xmlns:a16="http://schemas.microsoft.com/office/drawing/2014/main" id="{3CEA8DB0-62FF-4E4A-83BC-ADB48FF5F826}"/>
              </a:ext>
            </a:extLst>
          </p:cNvPr>
          <p:cNvSpPr>
            <a:spLocks noGrp="1"/>
          </p:cNvSpPr>
          <p:nvPr/>
        </p:nvSpPr>
        <p:spPr>
          <a:xfrm>
            <a:off x="6217920" y="338328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9">
            <a:extLst>
              <a:ext uri="{FF2B5EF4-FFF2-40B4-BE49-F238E27FC236}">
                <a16:creationId xmlns:a16="http://schemas.microsoft.com/office/drawing/2014/main" id="{5E14DEF1-A419-4745-AE2F-A08C29F2F64D}"/>
              </a:ext>
            </a:extLst>
          </p:cNvPr>
          <p:cNvSpPr>
            <a:spLocks noGrp="1"/>
          </p:cNvSpPr>
          <p:nvPr/>
        </p:nvSpPr>
        <p:spPr>
          <a:xfrm>
            <a:off x="6400800" y="352044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Chain rule</a:t>
            </a:r>
          </a:p>
        </p:txBody>
      </p:sp>
      <p:sp>
        <p:nvSpPr>
          <p:cNvPr id="13" name="Text 10">
            <a:extLst>
              <a:ext uri="{FF2B5EF4-FFF2-40B4-BE49-F238E27FC236}">
                <a16:creationId xmlns:a16="http://schemas.microsoft.com/office/drawing/2014/main" id="{613DDA21-7EE2-43B3-89B1-906DBBA3BA91}"/>
              </a:ext>
            </a:extLst>
          </p:cNvPr>
          <p:cNvSpPr>
            <a:spLocks noGrp="1"/>
          </p:cNvSpPr>
          <p:nvPr/>
        </p:nvSpPr>
        <p:spPr>
          <a:xfrm>
            <a:off x="6400800" y="382219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400" b="0" dirty="0">
                <a:solidFill>
                  <a:srgbClr val="4D5B6A"/>
                </a:solidFill>
                <a:latin typeface="Aptos"/>
                <a:ea typeface="Aptos"/>
                <a:cs typeface="Aptos"/>
              </a:rPr>
              <a:t>Jᴴ(x)ᵀ maps the likelihood gradient back into state space.</a:t>
            </a:r>
          </a:p>
        </p:txBody>
      </p:sp>
      <p:sp>
        <p:nvSpPr>
          <p:cNvPr id="25" name="Slide Number Placeholder 0">
            <a:extLst>
              <a:ext uri="{FF2B5EF4-FFF2-40B4-BE49-F238E27FC236}">
                <a16:creationId xmlns:a16="http://schemas.microsoft.com/office/drawing/2014/main" id="{03251B9B-DCF1-48AF-8FF7-93BFD3812F4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B1C6C81E-38B9-7560-621D-5A151A79DF9B}" type="slidenum">
              <a:rPr b="0"/>
              <a:t>18</a:t>
            </a:fld>
            <a:endParaRPr b="0"/>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rcRect/>
          <a:stretch/>
        </p:blipFill>
        <p:spPr>
          <a:xfrm>
            <a:off x="868680" y="1581150"/>
            <a:ext cx="5029200" cy="1104900"/>
          </a:xfrm>
          <a:prstGeom prst="rect">
            <a:avLst/>
          </a:prstGeom>
        </p:spPr>
      </p:pic>
    </p:spTree>
    <p:extLst>
      <p:ext uri="{BB962C8B-B14F-4D97-AF65-F5344CB8AC3E}">
        <p14:creationId xmlns:p14="http://schemas.microsoft.com/office/powerpoint/2010/main" val="2048515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BEE117-75EE-4388-8D49-DB71CDF563E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The reverse SDE uses 1,000 Euler-Maruyama steps</a:t>
            </a:r>
          </a:p>
        </p:txBody>
      </p:sp>
      <p:sp>
        <p:nvSpPr>
          <p:cNvPr id="3" name="Shape 1">
            <a:extLst>
              <a:ext uri="{FF2B5EF4-FFF2-40B4-BE49-F238E27FC236}">
                <a16:creationId xmlns:a16="http://schemas.microsoft.com/office/drawing/2014/main" id="{0CB108B0-47C4-4D02-BB2D-4F45FFF9ADF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5" name="Shape 2">
            <a:extLst>
              <a:ext uri="{FF2B5EF4-FFF2-40B4-BE49-F238E27FC236}">
                <a16:creationId xmlns:a16="http://schemas.microsoft.com/office/drawing/2014/main" id="{ABFAC673-A25A-4055-B43E-821DDBEA4757}"/>
              </a:ext>
            </a:extLst>
          </p:cNvPr>
          <p:cNvSpPr>
            <a:spLocks noGrp="1"/>
          </p:cNvSpPr>
          <p:nvPr/>
        </p:nvSpPr>
        <p:spPr>
          <a:xfrm>
            <a:off x="868680" y="2971800"/>
            <a:ext cx="4937760" cy="2194560"/>
          </a:xfrm>
          <a:prstGeom prst="roundRect">
            <a:avLst>
              <a:gd name="adj" fmla="val 333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3">
            <a:extLst>
              <a:ext uri="{FF2B5EF4-FFF2-40B4-BE49-F238E27FC236}">
                <a16:creationId xmlns:a16="http://schemas.microsoft.com/office/drawing/2014/main" id="{8C03335C-90D0-48DE-918E-553E4CC1CBC0}"/>
              </a:ext>
            </a:extLst>
          </p:cNvPr>
          <p:cNvSpPr>
            <a:spLocks noGrp="1"/>
          </p:cNvSpPr>
          <p:nvPr/>
        </p:nvSpPr>
        <p:spPr>
          <a:xfrm>
            <a:off x="1051560" y="3108960"/>
            <a:ext cx="457200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Pseudotime, not forecast time</a:t>
            </a:r>
          </a:p>
        </p:txBody>
      </p:sp>
      <p:sp>
        <p:nvSpPr>
          <p:cNvPr id="7" name="Text 4">
            <a:extLst>
              <a:ext uri="{FF2B5EF4-FFF2-40B4-BE49-F238E27FC236}">
                <a16:creationId xmlns:a16="http://schemas.microsoft.com/office/drawing/2014/main" id="{34306231-8C8C-4AAF-960D-2416265C46AB}"/>
              </a:ext>
            </a:extLst>
          </p:cNvPr>
          <p:cNvSpPr>
            <a:spLocks noGrp="1"/>
          </p:cNvSpPr>
          <p:nvPr/>
        </p:nvSpPr>
        <p:spPr>
          <a:xfrm>
            <a:off x="1051560" y="3410712"/>
            <a:ext cx="4572000" cy="1645920"/>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400" b="0" dirty="0">
                <a:solidFill>
                  <a:srgbClr val="4D5B6A"/>
                </a:solidFill>
                <a:latin typeface="Aptos"/>
                <a:ea typeface="Aptos"/>
                <a:cs typeface="Aptos"/>
              </a:rPr>
              <a:t>The model does not advance during these steps. They form an analysis path from </a:t>
            </a:r>
            <a:r>
              <a:rPr sz="1400" b="0" dirty="0" err="1">
                <a:solidFill>
                  <a:srgbClr val="4D5B6A"/>
                </a:solidFill>
                <a:latin typeface="Aptos"/>
                <a:ea typeface="Aptos"/>
                <a:cs typeface="Aptos"/>
              </a:rPr>
              <a:t>pseudotime</a:t>
            </a:r>
            <a:r>
              <a:rPr sz="1400" b="0" dirty="0">
                <a:solidFill>
                  <a:srgbClr val="4D5B6A"/>
                </a:solidFill>
                <a:latin typeface="Aptos"/>
                <a:ea typeface="Aptos"/>
                <a:cs typeface="Aptos"/>
              </a:rPr>
              <a:t> 1 to 0; the noise term preserves stochastic sampling.</a:t>
            </a:r>
          </a:p>
        </p:txBody>
      </p:sp>
      <p:sp>
        <p:nvSpPr>
          <p:cNvPr id="8" name="Shape 5">
            <a:extLst>
              <a:ext uri="{FF2B5EF4-FFF2-40B4-BE49-F238E27FC236}">
                <a16:creationId xmlns:a16="http://schemas.microsoft.com/office/drawing/2014/main" id="{5254EADF-F92A-419E-9B7D-E99C3B3100A1}"/>
              </a:ext>
            </a:extLst>
          </p:cNvPr>
          <p:cNvSpPr>
            <a:spLocks noGrp="1"/>
          </p:cNvSpPr>
          <p:nvPr/>
        </p:nvSpPr>
        <p:spPr>
          <a:xfrm>
            <a:off x="6217920" y="164592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884A5A5-C3EC-4F7B-90A0-4EBFCA8FC0EC}"/>
              </a:ext>
            </a:extLst>
          </p:cNvPr>
          <p:cNvSpPr>
            <a:spLocks noGrp="1"/>
          </p:cNvSpPr>
          <p:nvPr/>
        </p:nvSpPr>
        <p:spPr>
          <a:xfrm>
            <a:off x="6400800" y="178308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Drift</a:t>
            </a:r>
          </a:p>
        </p:txBody>
      </p:sp>
      <p:sp>
        <p:nvSpPr>
          <p:cNvPr id="10" name="Text 7">
            <a:extLst>
              <a:ext uri="{FF2B5EF4-FFF2-40B4-BE49-F238E27FC236}">
                <a16:creationId xmlns:a16="http://schemas.microsoft.com/office/drawing/2014/main" id="{64B8CC4D-5866-4D63-90F3-EB45CA563C9F}"/>
              </a:ext>
            </a:extLst>
          </p:cNvPr>
          <p:cNvSpPr>
            <a:spLocks noGrp="1"/>
          </p:cNvSpPr>
          <p:nvPr/>
        </p:nvSpPr>
        <p:spPr>
          <a:xfrm>
            <a:off x="6400800" y="208483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400" b="0" dirty="0">
                <a:solidFill>
                  <a:srgbClr val="4D5B6A"/>
                </a:solidFill>
                <a:latin typeface="Aptos"/>
                <a:ea typeface="Aptos"/>
                <a:cs typeface="Aptos"/>
              </a:rPr>
              <a:t>The scheduled drift reverses the prescribed forward diffusion process.</a:t>
            </a:r>
          </a:p>
        </p:txBody>
      </p:sp>
      <p:sp>
        <p:nvSpPr>
          <p:cNvPr id="11" name="Shape 8">
            <a:extLst>
              <a:ext uri="{FF2B5EF4-FFF2-40B4-BE49-F238E27FC236}">
                <a16:creationId xmlns:a16="http://schemas.microsoft.com/office/drawing/2014/main" id="{3CEA8DB0-62FF-4E4A-83BC-ADB48FF5F826}"/>
              </a:ext>
            </a:extLst>
          </p:cNvPr>
          <p:cNvSpPr>
            <a:spLocks noGrp="1"/>
          </p:cNvSpPr>
          <p:nvPr/>
        </p:nvSpPr>
        <p:spPr>
          <a:xfrm>
            <a:off x="6217920" y="338328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9">
            <a:extLst>
              <a:ext uri="{FF2B5EF4-FFF2-40B4-BE49-F238E27FC236}">
                <a16:creationId xmlns:a16="http://schemas.microsoft.com/office/drawing/2014/main" id="{5E14DEF1-A419-4745-AE2F-A08C29F2F64D}"/>
              </a:ext>
            </a:extLst>
          </p:cNvPr>
          <p:cNvSpPr>
            <a:spLocks noGrp="1"/>
          </p:cNvSpPr>
          <p:nvPr/>
        </p:nvSpPr>
        <p:spPr>
          <a:xfrm>
            <a:off x="6400800" y="352044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Score term</a:t>
            </a:r>
          </a:p>
        </p:txBody>
      </p:sp>
      <p:sp>
        <p:nvSpPr>
          <p:cNvPr id="13" name="Text 10">
            <a:extLst>
              <a:ext uri="{FF2B5EF4-FFF2-40B4-BE49-F238E27FC236}">
                <a16:creationId xmlns:a16="http://schemas.microsoft.com/office/drawing/2014/main" id="{613DDA21-7EE2-43B3-89B1-906DBBA3BA91}"/>
              </a:ext>
            </a:extLst>
          </p:cNvPr>
          <p:cNvSpPr>
            <a:spLocks noGrp="1"/>
          </p:cNvSpPr>
          <p:nvPr/>
        </p:nvSpPr>
        <p:spPr>
          <a:xfrm>
            <a:off x="6400800" y="382219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400" b="0" dirty="0">
                <a:solidFill>
                  <a:srgbClr val="4D5B6A"/>
                </a:solidFill>
                <a:latin typeface="Aptos"/>
                <a:ea typeface="Aptos"/>
                <a:cs typeface="Aptos"/>
              </a:rPr>
              <a:t>The posterior score steers samples toward high-probability states.</a:t>
            </a:r>
          </a:p>
        </p:txBody>
      </p:sp>
      <p:sp>
        <p:nvSpPr>
          <p:cNvPr id="25" name="Slide Number Placeholder 0">
            <a:extLst>
              <a:ext uri="{FF2B5EF4-FFF2-40B4-BE49-F238E27FC236}">
                <a16:creationId xmlns:a16="http://schemas.microsoft.com/office/drawing/2014/main" id="{03251B9B-DCF1-48AF-8FF7-93BFD3812F4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CCF91274-D221-1BB4-3BF9-836E3AD31EBE}" type="slidenum">
              <a:rPr b="0"/>
              <a:t>19</a:t>
            </a:fld>
            <a:endParaRPr b="0"/>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rcRect/>
          <a:stretch/>
        </p:blipFill>
        <p:spPr>
          <a:xfrm>
            <a:off x="868680" y="1581150"/>
            <a:ext cx="5029200" cy="1104900"/>
          </a:xfrm>
          <a:prstGeom prst="rect">
            <a:avLst/>
          </a:prstGeom>
        </p:spPr>
      </p:pic>
    </p:spTree>
    <p:extLst>
      <p:ext uri="{BB962C8B-B14F-4D97-AF65-F5344CB8AC3E}">
        <p14:creationId xmlns:p14="http://schemas.microsoft.com/office/powerpoint/2010/main" val="2048515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BEE117-75EE-4388-8D49-DB71CDF563E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LETKF and EnSF normalize different parts of the problem</a:t>
            </a:r>
          </a:p>
        </p:txBody>
      </p:sp>
      <p:sp>
        <p:nvSpPr>
          <p:cNvPr id="3" name="Shape 1">
            <a:extLst>
              <a:ext uri="{FF2B5EF4-FFF2-40B4-BE49-F238E27FC236}">
                <a16:creationId xmlns:a16="http://schemas.microsoft.com/office/drawing/2014/main" id="{0CB108B0-47C4-4D02-BB2D-4F45FFF9ADF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5" name="Shape 2">
            <a:extLst>
              <a:ext uri="{FF2B5EF4-FFF2-40B4-BE49-F238E27FC236}">
                <a16:creationId xmlns:a16="http://schemas.microsoft.com/office/drawing/2014/main" id="{ABFAC673-A25A-4055-B43E-821DDBEA4757}"/>
              </a:ext>
            </a:extLst>
          </p:cNvPr>
          <p:cNvSpPr>
            <a:spLocks noGrp="1"/>
          </p:cNvSpPr>
          <p:nvPr/>
        </p:nvSpPr>
        <p:spPr>
          <a:xfrm>
            <a:off x="868680" y="3051047"/>
            <a:ext cx="4937760" cy="2194560"/>
          </a:xfrm>
          <a:prstGeom prst="roundRect">
            <a:avLst>
              <a:gd name="adj" fmla="val 333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3">
            <a:extLst>
              <a:ext uri="{FF2B5EF4-FFF2-40B4-BE49-F238E27FC236}">
                <a16:creationId xmlns:a16="http://schemas.microsoft.com/office/drawing/2014/main" id="{8C03335C-90D0-48DE-918E-553E4CC1CBC0}"/>
              </a:ext>
            </a:extLst>
          </p:cNvPr>
          <p:cNvSpPr>
            <a:spLocks noGrp="1"/>
          </p:cNvSpPr>
          <p:nvPr/>
        </p:nvSpPr>
        <p:spPr>
          <a:xfrm>
            <a:off x="1051560" y="3088768"/>
            <a:ext cx="4572000" cy="323850"/>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dirty="0" err="1">
                <a:solidFill>
                  <a:srgbClr val="214B69"/>
                </a:solidFill>
                <a:latin typeface="Aptos"/>
                <a:ea typeface="Aptos"/>
                <a:cs typeface="Aptos"/>
              </a:rPr>
              <a:t>EnSF</a:t>
            </a:r>
            <a:r>
              <a:rPr sz="1650" b="1" dirty="0">
                <a:solidFill>
                  <a:srgbClr val="214B69"/>
                </a:solidFill>
                <a:latin typeface="Aptos"/>
                <a:ea typeface="Aptos"/>
                <a:cs typeface="Aptos"/>
              </a:rPr>
              <a:t>: standardize the evolving state</a:t>
            </a:r>
          </a:p>
        </p:txBody>
      </p:sp>
      <p:sp>
        <p:nvSpPr>
          <p:cNvPr id="7" name="Text 4">
            <a:extLst>
              <a:ext uri="{FF2B5EF4-FFF2-40B4-BE49-F238E27FC236}">
                <a16:creationId xmlns:a16="http://schemas.microsoft.com/office/drawing/2014/main" id="{34306231-8C8C-4AAF-960D-2416265C46AB}"/>
              </a:ext>
            </a:extLst>
          </p:cNvPr>
          <p:cNvSpPr>
            <a:spLocks noGrp="1"/>
          </p:cNvSpPr>
          <p:nvPr/>
        </p:nvSpPr>
        <p:spPr>
          <a:xfrm>
            <a:off x="1051560" y="3467100"/>
            <a:ext cx="4572000" cy="156210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Each observed component uses the current background ensemble:</a:t>
            </a:r>
          </a:p>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x* = (x − x̄ᵇ) / sᵇ.</a:t>
            </a:r>
          </a:p>
          <a:p>
            <a:pPr marL="0" indent="0" algn="l">
              <a:buNone/>
              <a:defRPr sz="1350" b="0">
                <a:solidFill>
                  <a:srgbClr val="4D5B6A"/>
                </a:solidFill>
                <a:latin typeface="Aptos"/>
                <a:ea typeface="Aptos"/>
                <a:cs typeface="Aptos"/>
              </a:defRPr>
            </a:pPr>
            <a:endParaRPr sz="1600" b="0" dirty="0">
              <a:solidFill>
                <a:srgbClr val="4D5B6A"/>
              </a:solidFill>
              <a:latin typeface="Aptos"/>
              <a:ea typeface="Aptos"/>
              <a:cs typeface="Aptos"/>
            </a:endParaRPr>
          </a:p>
          <a:p>
            <a:pPr marL="0" indent="0" algn="l">
              <a:buNone/>
              <a:defRPr sz="1425" b="0">
                <a:solidFill>
                  <a:srgbClr val="4D5B6A"/>
                </a:solidFill>
                <a:latin typeface="Aptos"/>
                <a:ea typeface="Aptos"/>
                <a:cs typeface="Aptos"/>
              </a:defRPr>
            </a:pPr>
            <a:r>
              <a:rPr sz="1600" b="0" dirty="0">
                <a:solidFill>
                  <a:srgbClr val="4D5B6A"/>
                </a:solidFill>
                <a:latin typeface="Aptos"/>
                <a:ea typeface="Aptos"/>
                <a:cs typeface="Aptos"/>
              </a:rPr>
              <a:t>Linear y and σ use the same scaling. For a nonlinear likelihood, x* is returned to physical units before applying the shared h and its chain-rule Jacobian.</a:t>
            </a:r>
          </a:p>
        </p:txBody>
      </p:sp>
      <p:sp>
        <p:nvSpPr>
          <p:cNvPr id="8" name="Shape 5">
            <a:extLst>
              <a:ext uri="{FF2B5EF4-FFF2-40B4-BE49-F238E27FC236}">
                <a16:creationId xmlns:a16="http://schemas.microsoft.com/office/drawing/2014/main" id="{5254EADF-F92A-419E-9B7D-E99C3B3100A1}"/>
              </a:ext>
            </a:extLst>
          </p:cNvPr>
          <p:cNvSpPr>
            <a:spLocks noGrp="1"/>
          </p:cNvSpPr>
          <p:nvPr/>
        </p:nvSpPr>
        <p:spPr>
          <a:xfrm>
            <a:off x="6217920" y="164592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884A5A5-C3EC-4F7B-90A0-4EBFCA8FC0EC}"/>
              </a:ext>
            </a:extLst>
          </p:cNvPr>
          <p:cNvSpPr>
            <a:spLocks noGrp="1"/>
          </p:cNvSpPr>
          <p:nvPr/>
        </p:nvSpPr>
        <p:spPr>
          <a:xfrm>
            <a:off x="6400800" y="1783080"/>
            <a:ext cx="4389120" cy="304800"/>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LETKF: transform predicted observations</a:t>
            </a:r>
          </a:p>
        </p:txBody>
      </p:sp>
      <p:sp>
        <p:nvSpPr>
          <p:cNvPr id="10" name="Text 7">
            <a:extLst>
              <a:ext uri="{FF2B5EF4-FFF2-40B4-BE49-F238E27FC236}">
                <a16:creationId xmlns:a16="http://schemas.microsoft.com/office/drawing/2014/main" id="{64B8CC4D-5866-4D63-90F3-EB45CA563C9F}"/>
              </a:ext>
            </a:extLst>
          </p:cNvPr>
          <p:cNvSpPr>
            <a:spLocks noGrp="1"/>
          </p:cNvSpPr>
          <p:nvPr/>
        </p:nvSpPr>
        <p:spPr>
          <a:xfrm>
            <a:off x="6400800" y="2114550"/>
            <a:ext cx="4389120" cy="800100"/>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400" b="0" dirty="0">
                <a:solidFill>
                  <a:srgbClr val="4D5B6A"/>
                </a:solidFill>
                <a:latin typeface="Aptos"/>
                <a:ea typeface="Aptos"/>
                <a:cs typeface="Aptos"/>
              </a:rPr>
              <a:t>For nonlinear observations, every member follows H Xᵇ → z → h(z). Local anomalies and innovations are formed in transformed observation space. Linear cases remain in original units.</a:t>
            </a:r>
          </a:p>
        </p:txBody>
      </p:sp>
      <p:sp>
        <p:nvSpPr>
          <p:cNvPr id="11" name="Shape 8">
            <a:extLst>
              <a:ext uri="{FF2B5EF4-FFF2-40B4-BE49-F238E27FC236}">
                <a16:creationId xmlns:a16="http://schemas.microsoft.com/office/drawing/2014/main" id="{3CEA8DB0-62FF-4E4A-83BC-ADB48FF5F826}"/>
              </a:ext>
            </a:extLst>
          </p:cNvPr>
          <p:cNvSpPr>
            <a:spLocks noGrp="1"/>
          </p:cNvSpPr>
          <p:nvPr/>
        </p:nvSpPr>
        <p:spPr>
          <a:xfrm>
            <a:off x="6217920" y="338328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9">
            <a:extLst>
              <a:ext uri="{FF2B5EF4-FFF2-40B4-BE49-F238E27FC236}">
                <a16:creationId xmlns:a16="http://schemas.microsoft.com/office/drawing/2014/main" id="{5E14DEF1-A419-4745-AE2F-A08C29F2F64D}"/>
              </a:ext>
            </a:extLst>
          </p:cNvPr>
          <p:cNvSpPr>
            <a:spLocks noGrp="1"/>
          </p:cNvSpPr>
          <p:nvPr/>
        </p:nvSpPr>
        <p:spPr>
          <a:xfrm>
            <a:off x="6400800" y="3520440"/>
            <a:ext cx="4389120" cy="304800"/>
          </a:xfrm>
          <a:prstGeom prst="rect">
            <a:avLst/>
          </a:prstGeom>
          <a:noFill/>
        </p:spPr>
        <p:txBody>
          <a:bodyPr wrap="square" lIns="0" tIns="0" rIns="0" bIns="0" anchor="ctr"/>
          <a:lstStyle/>
          <a:p>
            <a:pPr marL="0" indent="0" algn="l">
              <a:buNone/>
              <a:defRPr sz="1500" b="1">
                <a:solidFill>
                  <a:srgbClr val="C9830B"/>
                </a:solidFill>
                <a:latin typeface="Aptos"/>
                <a:ea typeface="Aptos"/>
                <a:cs typeface="Aptos"/>
              </a:defRPr>
            </a:pPr>
            <a:r>
              <a:rPr sz="1500" b="1">
                <a:solidFill>
                  <a:srgbClr val="C9830B"/>
                </a:solidFill>
                <a:latin typeface="Aptos"/>
                <a:ea typeface="Aptos"/>
                <a:cs typeface="Aptos"/>
              </a:rPr>
              <a:t>Key distinction</a:t>
            </a:r>
          </a:p>
        </p:txBody>
      </p:sp>
      <p:sp>
        <p:nvSpPr>
          <p:cNvPr id="13" name="Text 10">
            <a:extLst>
              <a:ext uri="{FF2B5EF4-FFF2-40B4-BE49-F238E27FC236}">
                <a16:creationId xmlns:a16="http://schemas.microsoft.com/office/drawing/2014/main" id="{613DDA21-7EE2-43B3-89B1-906DBBA3BA91}"/>
              </a:ext>
            </a:extLst>
          </p:cNvPr>
          <p:cNvSpPr>
            <a:spLocks noGrp="1"/>
          </p:cNvSpPr>
          <p:nvPr/>
        </p:nvSpPr>
        <p:spPr>
          <a:xfrm>
            <a:off x="6400800" y="3876675"/>
            <a:ext cx="4389120" cy="762000"/>
          </a:xfrm>
          <a:prstGeom prst="rect">
            <a:avLst/>
          </a:prstGeom>
          <a:noFill/>
        </p:spPr>
        <p:txBody>
          <a:bodyPr wrap="square" lIns="254" tIns="254" rIns="254" bIns="254" anchor="ctr"/>
          <a:lstStyle/>
          <a:p>
            <a:pPr marL="0" indent="0" algn="l">
              <a:buNone/>
              <a:defRPr sz="1350" b="1">
                <a:solidFill>
                  <a:srgbClr val="214B69"/>
                </a:solidFill>
                <a:latin typeface="Aptos"/>
                <a:ea typeface="Aptos"/>
                <a:cs typeface="Aptos"/>
              </a:defRPr>
            </a:pPr>
            <a:r>
              <a:rPr sz="1400" b="1" dirty="0">
                <a:solidFill>
                  <a:srgbClr val="214B69"/>
                </a:solidFill>
                <a:latin typeface="Aptos"/>
                <a:ea typeface="Aptos"/>
                <a:cs typeface="Aptos"/>
              </a:rPr>
              <a:t>The filters share the same nonlinear observation scaling, but only </a:t>
            </a:r>
            <a:r>
              <a:rPr sz="1400" b="1" dirty="0" err="1">
                <a:solidFill>
                  <a:srgbClr val="214B69"/>
                </a:solidFill>
                <a:latin typeface="Aptos"/>
                <a:ea typeface="Aptos"/>
                <a:cs typeface="Aptos"/>
              </a:rPr>
              <a:t>EnSF</a:t>
            </a:r>
            <a:r>
              <a:rPr sz="1400" b="1" dirty="0">
                <a:solidFill>
                  <a:srgbClr val="214B69"/>
                </a:solidFill>
                <a:latin typeface="Aptos"/>
                <a:ea typeface="Aptos"/>
                <a:cs typeface="Aptos"/>
              </a:rPr>
              <a:t> integrates in flow-dependent, background-normalized state coordinates.</a:t>
            </a:r>
          </a:p>
        </p:txBody>
      </p:sp>
      <p:sp>
        <p:nvSpPr>
          <p:cNvPr id="25" name="Slide Number Placeholder 0">
            <a:extLst>
              <a:ext uri="{FF2B5EF4-FFF2-40B4-BE49-F238E27FC236}">
                <a16:creationId xmlns:a16="http://schemas.microsoft.com/office/drawing/2014/main" id="{03251B9B-DCF1-48AF-8FF7-93BFD3812F4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844E025A-983C-6D44-79C6-4612AACD43FC}" type="slidenum">
              <a:rPr b="0"/>
              <a:t>20</a:t>
            </a:fld>
            <a:endParaRPr b="0"/>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rcRect/>
          <a:stretch/>
        </p:blipFill>
        <p:spPr>
          <a:xfrm>
            <a:off x="868680" y="1581150"/>
            <a:ext cx="5029200" cy="1104900"/>
          </a:xfrm>
          <a:prstGeom prst="rect">
            <a:avLst/>
          </a:prstGeom>
        </p:spPr>
      </p:pic>
    </p:spTree>
    <p:extLst>
      <p:ext uri="{BB962C8B-B14F-4D97-AF65-F5344CB8AC3E}">
        <p14:creationId xmlns:p14="http://schemas.microsoft.com/office/powerpoint/2010/main" val="1909708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What the reverse SDE does to the ensemble</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80 trajectories move from noisy pseudotime 1 states toward the analysis near pseudotime 0.</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844E025A-983C-6D44-79C6-4612AACD43FC}" type="slidenum">
              <a:rPr b="0"/>
              <a:t>21</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205621-9933-4235-AB1E-FCF9EE895DF3}"/>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Evaluation focuses on sustained error, level structure, and Gaussianity</a:t>
            </a:r>
          </a:p>
        </p:txBody>
      </p:sp>
      <p:sp>
        <p:nvSpPr>
          <p:cNvPr id="3" name="Shape 1">
            <a:extLst>
              <a:ext uri="{FF2B5EF4-FFF2-40B4-BE49-F238E27FC236}">
                <a16:creationId xmlns:a16="http://schemas.microsoft.com/office/drawing/2014/main" id="{5141B92F-54EE-4D74-8F40-B2C2E6E0770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DAD3A7E4-7723-48EF-A8B2-A64C1ABEC2C1}"/>
              </a:ext>
            </a:extLst>
          </p:cNvPr>
          <p:cNvSpPr>
            <a:spLocks noGrp="1"/>
          </p:cNvSpPr>
          <p:nvPr/>
        </p:nvSpPr>
        <p:spPr>
          <a:xfrm>
            <a:off x="8686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5" name="Text 3">
            <a:extLst>
              <a:ext uri="{FF2B5EF4-FFF2-40B4-BE49-F238E27FC236}">
                <a16:creationId xmlns:a16="http://schemas.microsoft.com/office/drawing/2014/main" id="{6DDD8ED3-31B1-4042-9AEE-1DD0E37BE554}"/>
              </a:ext>
            </a:extLst>
          </p:cNvPr>
          <p:cNvSpPr>
            <a:spLocks noGrp="1"/>
          </p:cNvSpPr>
          <p:nvPr/>
        </p:nvSpPr>
        <p:spPr>
          <a:xfrm>
            <a:off x="10515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Analysis RMSE</a:t>
            </a:r>
          </a:p>
        </p:txBody>
      </p:sp>
      <p:sp>
        <p:nvSpPr>
          <p:cNvPr id="6" name="Text 4">
            <a:extLst>
              <a:ext uri="{FF2B5EF4-FFF2-40B4-BE49-F238E27FC236}">
                <a16:creationId xmlns:a16="http://schemas.microsoft.com/office/drawing/2014/main" id="{C68221B3-1B26-4A27-9494-F7466761E037}"/>
              </a:ext>
            </a:extLst>
          </p:cNvPr>
          <p:cNvSpPr>
            <a:spLocks noGrp="1"/>
          </p:cNvSpPr>
          <p:nvPr/>
        </p:nvSpPr>
        <p:spPr>
          <a:xfrm>
            <a:off x="10515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Unweighted horizontal RMSE of the ensemble mean against truth at each cycle and level.</a:t>
            </a:r>
          </a:p>
        </p:txBody>
      </p:sp>
      <p:sp>
        <p:nvSpPr>
          <p:cNvPr id="7" name="Shape 5">
            <a:extLst>
              <a:ext uri="{FF2B5EF4-FFF2-40B4-BE49-F238E27FC236}">
                <a16:creationId xmlns:a16="http://schemas.microsoft.com/office/drawing/2014/main" id="{29592638-E0EF-41FD-8B2B-ACF1659AD6CE}"/>
              </a:ext>
            </a:extLst>
          </p:cNvPr>
          <p:cNvSpPr>
            <a:spLocks noGrp="1"/>
          </p:cNvSpPr>
          <p:nvPr/>
        </p:nvSpPr>
        <p:spPr>
          <a:xfrm>
            <a:off x="45262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8" name="Text 6">
            <a:extLst>
              <a:ext uri="{FF2B5EF4-FFF2-40B4-BE49-F238E27FC236}">
                <a16:creationId xmlns:a16="http://schemas.microsoft.com/office/drawing/2014/main" id="{AAD23D41-5ACA-435E-A285-D12ACA3345E5}"/>
              </a:ext>
            </a:extLst>
          </p:cNvPr>
          <p:cNvSpPr>
            <a:spLocks noGrp="1"/>
          </p:cNvSpPr>
          <p:nvPr/>
        </p:nvSpPr>
        <p:spPr>
          <a:xfrm>
            <a:off x="47091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Level average</a:t>
            </a:r>
          </a:p>
        </p:txBody>
      </p:sp>
      <p:sp>
        <p:nvSpPr>
          <p:cNvPr id="9" name="Text 7">
            <a:extLst>
              <a:ext uri="{FF2B5EF4-FFF2-40B4-BE49-F238E27FC236}">
                <a16:creationId xmlns:a16="http://schemas.microsoft.com/office/drawing/2014/main" id="{91FE0FB4-B9F7-47FE-9131-E5E5CE74EC82}"/>
              </a:ext>
            </a:extLst>
          </p:cNvPr>
          <p:cNvSpPr>
            <a:spLocks noGrp="1"/>
          </p:cNvSpPr>
          <p:nvPr/>
        </p:nvSpPr>
        <p:spPr>
          <a:xfrm>
            <a:off x="47091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Mean of per-level RMSE: U/V/T levels 0-7, humidity 2-7, pressure surface level 0.</a:t>
            </a:r>
          </a:p>
        </p:txBody>
      </p:sp>
      <p:sp>
        <p:nvSpPr>
          <p:cNvPr id="10" name="Shape 8">
            <a:extLst>
              <a:ext uri="{FF2B5EF4-FFF2-40B4-BE49-F238E27FC236}">
                <a16:creationId xmlns:a16="http://schemas.microsoft.com/office/drawing/2014/main" id="{4764E90F-B822-4AEE-971B-C8D61756354C}"/>
              </a:ext>
            </a:extLst>
          </p:cNvPr>
          <p:cNvSpPr>
            <a:spLocks noGrp="1"/>
          </p:cNvSpPr>
          <p:nvPr/>
        </p:nvSpPr>
        <p:spPr>
          <a:xfrm>
            <a:off x="8183880" y="1554480"/>
            <a:ext cx="3154680" cy="4023360"/>
          </a:xfrm>
          <a:prstGeom prst="roundRect">
            <a:avLst>
              <a:gd name="adj" fmla="val 2319"/>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1" name="Text 9">
            <a:extLst>
              <a:ext uri="{FF2B5EF4-FFF2-40B4-BE49-F238E27FC236}">
                <a16:creationId xmlns:a16="http://schemas.microsoft.com/office/drawing/2014/main" id="{2B252323-9534-4F37-9000-D34220568FA4}"/>
              </a:ext>
            </a:extLst>
          </p:cNvPr>
          <p:cNvSpPr>
            <a:spLocks noGrp="1"/>
          </p:cNvSpPr>
          <p:nvPr/>
        </p:nvSpPr>
        <p:spPr>
          <a:xfrm>
            <a:off x="8366760" y="1691640"/>
            <a:ext cx="278892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Shapiro-Wilk diagnostic</a:t>
            </a:r>
          </a:p>
        </p:txBody>
      </p:sp>
      <p:sp>
        <p:nvSpPr>
          <p:cNvPr id="12" name="Text 10">
            <a:extLst>
              <a:ext uri="{FF2B5EF4-FFF2-40B4-BE49-F238E27FC236}">
                <a16:creationId xmlns:a16="http://schemas.microsoft.com/office/drawing/2014/main" id="{91730671-F08E-4503-A7E0-4BF2AAE5BCDA}"/>
              </a:ext>
            </a:extLst>
          </p:cNvPr>
          <p:cNvSpPr>
            <a:spLocks noGrp="1"/>
          </p:cNvSpPr>
          <p:nvPr/>
        </p:nvSpPr>
        <p:spPr>
          <a:xfrm>
            <a:off x="8366760" y="1993392"/>
            <a:ext cx="278892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Humidity is least Gaussian: level average 0.2509 versus 0.4249-0.4396 for other fields.</a:t>
            </a:r>
          </a:p>
        </p:txBody>
      </p:sp>
      <p:sp>
        <p:nvSpPr>
          <p:cNvPr id="25" name="Slide Number Placeholder 0">
            <a:extLst>
              <a:ext uri="{FF2B5EF4-FFF2-40B4-BE49-F238E27FC236}">
                <a16:creationId xmlns:a16="http://schemas.microsoft.com/office/drawing/2014/main" id="{00F72CA8-F846-4BBA-BF83-9A465D979E0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F6DF2BE2-2DFA-1C03-677D-BDC2260D6D92}" type="slidenum">
              <a:rPr b="0"/>
              <a:t>22</a:t>
            </a:fld>
            <a:endParaRPr b="0"/>
          </a:p>
        </p:txBody>
      </p:sp>
    </p:spTree>
    <p:extLst>
      <p:ext uri="{BB962C8B-B14F-4D97-AF65-F5344CB8AC3E}">
        <p14:creationId xmlns:p14="http://schemas.microsoft.com/office/powerpoint/2010/main" val="1237891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205621-9933-4235-AB1E-FCF9EE895DF3}"/>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Expected strengths before seeing the results</a:t>
            </a:r>
          </a:p>
        </p:txBody>
      </p:sp>
      <p:sp>
        <p:nvSpPr>
          <p:cNvPr id="3" name="Shape 1">
            <a:extLst>
              <a:ext uri="{FF2B5EF4-FFF2-40B4-BE49-F238E27FC236}">
                <a16:creationId xmlns:a16="http://schemas.microsoft.com/office/drawing/2014/main" id="{5141B92F-54EE-4D74-8F40-B2C2E6E0770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DAD3A7E4-7723-48EF-A8B2-A64C1ABEC2C1}"/>
              </a:ext>
            </a:extLst>
          </p:cNvPr>
          <p:cNvSpPr>
            <a:spLocks noGrp="1"/>
          </p:cNvSpPr>
          <p:nvPr/>
        </p:nvSpPr>
        <p:spPr>
          <a:xfrm>
            <a:off x="8686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5" name="Text 3">
            <a:extLst>
              <a:ext uri="{FF2B5EF4-FFF2-40B4-BE49-F238E27FC236}">
                <a16:creationId xmlns:a16="http://schemas.microsoft.com/office/drawing/2014/main" id="{6DDD8ED3-31B1-4042-9AEE-1DD0E37BE554}"/>
              </a:ext>
            </a:extLst>
          </p:cNvPr>
          <p:cNvSpPr>
            <a:spLocks noGrp="1"/>
          </p:cNvSpPr>
          <p:nvPr/>
        </p:nvSpPr>
        <p:spPr>
          <a:xfrm>
            <a:off x="10515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LETKF home field</a:t>
            </a:r>
          </a:p>
        </p:txBody>
      </p:sp>
      <p:sp>
        <p:nvSpPr>
          <p:cNvPr id="6" name="Text 4">
            <a:extLst>
              <a:ext uri="{FF2B5EF4-FFF2-40B4-BE49-F238E27FC236}">
                <a16:creationId xmlns:a16="http://schemas.microsoft.com/office/drawing/2014/main" id="{C68221B3-1B26-4A27-9494-F7466761E037}"/>
              </a:ext>
            </a:extLst>
          </p:cNvPr>
          <p:cNvSpPr>
            <a:spLocks noGrp="1"/>
          </p:cNvSpPr>
          <p:nvPr/>
        </p:nvSpPr>
        <p:spPr>
          <a:xfrm>
            <a:off x="10515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Dense linear observations and approximately Gaussian forecast uncertainty.</a:t>
            </a:r>
          </a:p>
        </p:txBody>
      </p:sp>
      <p:sp>
        <p:nvSpPr>
          <p:cNvPr id="7" name="Shape 5">
            <a:extLst>
              <a:ext uri="{FF2B5EF4-FFF2-40B4-BE49-F238E27FC236}">
                <a16:creationId xmlns:a16="http://schemas.microsoft.com/office/drawing/2014/main" id="{29592638-E0EF-41FD-8B2B-ACF1659AD6CE}"/>
              </a:ext>
            </a:extLst>
          </p:cNvPr>
          <p:cNvSpPr>
            <a:spLocks noGrp="1"/>
          </p:cNvSpPr>
          <p:nvPr/>
        </p:nvSpPr>
        <p:spPr>
          <a:xfrm>
            <a:off x="45262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8" name="Text 6">
            <a:extLst>
              <a:ext uri="{FF2B5EF4-FFF2-40B4-BE49-F238E27FC236}">
                <a16:creationId xmlns:a16="http://schemas.microsoft.com/office/drawing/2014/main" id="{AAD23D41-5ACA-435E-A285-D12ACA3345E5}"/>
              </a:ext>
            </a:extLst>
          </p:cNvPr>
          <p:cNvSpPr>
            <a:spLocks noGrp="1"/>
          </p:cNvSpPr>
          <p:nvPr/>
        </p:nvSpPr>
        <p:spPr>
          <a:xfrm>
            <a:off x="47091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EnSF home field</a:t>
            </a:r>
          </a:p>
        </p:txBody>
      </p:sp>
      <p:sp>
        <p:nvSpPr>
          <p:cNvPr id="9" name="Text 7">
            <a:extLst>
              <a:ext uri="{FF2B5EF4-FFF2-40B4-BE49-F238E27FC236}">
                <a16:creationId xmlns:a16="http://schemas.microsoft.com/office/drawing/2014/main" id="{91FE0FB4-B9F7-47FE-9131-E5E5CE74EC82}"/>
              </a:ext>
            </a:extLst>
          </p:cNvPr>
          <p:cNvSpPr>
            <a:spLocks noGrp="1"/>
          </p:cNvSpPr>
          <p:nvPr/>
        </p:nvSpPr>
        <p:spPr>
          <a:xfrm>
            <a:off x="4709160" y="1993392"/>
            <a:ext cx="315468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Non-Gaussian state structure and a nonlinear likelihood throughout the state.</a:t>
            </a:r>
          </a:p>
        </p:txBody>
      </p:sp>
      <p:sp>
        <p:nvSpPr>
          <p:cNvPr id="10" name="Shape 8">
            <a:extLst>
              <a:ext uri="{FF2B5EF4-FFF2-40B4-BE49-F238E27FC236}">
                <a16:creationId xmlns:a16="http://schemas.microsoft.com/office/drawing/2014/main" id="{4764E90F-B822-4AEE-971B-C8D61756354C}"/>
              </a:ext>
            </a:extLst>
          </p:cNvPr>
          <p:cNvSpPr>
            <a:spLocks noGrp="1"/>
          </p:cNvSpPr>
          <p:nvPr/>
        </p:nvSpPr>
        <p:spPr>
          <a:xfrm>
            <a:off x="8183880" y="1554480"/>
            <a:ext cx="3154680" cy="4023360"/>
          </a:xfrm>
          <a:prstGeom prst="roundRect">
            <a:avLst>
              <a:gd name="adj" fmla="val 2319"/>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1" name="Text 9">
            <a:extLst>
              <a:ext uri="{FF2B5EF4-FFF2-40B4-BE49-F238E27FC236}">
                <a16:creationId xmlns:a16="http://schemas.microsoft.com/office/drawing/2014/main" id="{2B252323-9534-4F37-9000-D34220568FA4}"/>
              </a:ext>
            </a:extLst>
          </p:cNvPr>
          <p:cNvSpPr>
            <a:spLocks noGrp="1"/>
          </p:cNvSpPr>
          <p:nvPr/>
        </p:nvSpPr>
        <p:spPr>
          <a:xfrm>
            <a:off x="8366760" y="1691640"/>
            <a:ext cx="278892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Critical stress test</a:t>
            </a:r>
          </a:p>
        </p:txBody>
      </p:sp>
      <p:sp>
        <p:nvSpPr>
          <p:cNvPr id="12" name="Text 10">
            <a:extLst>
              <a:ext uri="{FF2B5EF4-FFF2-40B4-BE49-F238E27FC236}">
                <a16:creationId xmlns:a16="http://schemas.microsoft.com/office/drawing/2014/main" id="{91730671-F08E-4503-A7E0-4BF2AAE5BCDA}"/>
              </a:ext>
            </a:extLst>
          </p:cNvPr>
          <p:cNvSpPr>
            <a:spLocks noGrp="1"/>
          </p:cNvSpPr>
          <p:nvPr/>
        </p:nvSpPr>
        <p:spPr>
          <a:xfrm>
            <a:off x="8366760" y="1993392"/>
            <a:ext cx="2788920" cy="3474720"/>
          </a:xfrm>
          <a:prstGeom prst="rect">
            <a:avLst/>
          </a:prstGeom>
          <a:noFill/>
        </p:spPr>
        <p:txBody>
          <a:bodyPr wrap="square" lIns="254" tIns="254" rIns="254" bIns="254" anchor="ctr"/>
          <a:lstStyle/>
          <a:p>
            <a:pPr marL="0" indent="0" algn="l">
              <a:buNone/>
              <a:defRPr sz="1650" b="0">
                <a:solidFill>
                  <a:srgbClr val="4D5B6A"/>
                </a:solidFill>
                <a:latin typeface="Aptos"/>
                <a:ea typeface="Aptos"/>
                <a:cs typeface="Aptos"/>
              </a:defRPr>
            </a:pPr>
            <a:r>
              <a:rPr sz="1650" b="0">
                <a:solidFill>
                  <a:srgbClr val="4D5B6A"/>
                </a:solidFill>
                <a:latin typeface="Aptos"/>
                <a:ea typeface="Aptos"/>
                <a:cs typeface="Aptos"/>
              </a:rPr>
              <a:t>Coupled or partial observations where cross-variable information transfer matters.</a:t>
            </a:r>
          </a:p>
        </p:txBody>
      </p:sp>
      <p:sp>
        <p:nvSpPr>
          <p:cNvPr id="25" name="Slide Number Placeholder 0">
            <a:extLst>
              <a:ext uri="{FF2B5EF4-FFF2-40B4-BE49-F238E27FC236}">
                <a16:creationId xmlns:a16="http://schemas.microsoft.com/office/drawing/2014/main" id="{00F72CA8-F846-4BBA-BF83-9A465D979E0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0BB18BA8-60F4-C50D-CD9B-1BB87D3E8506}" type="slidenum">
              <a:rPr b="0"/>
              <a:t>23</a:t>
            </a:fld>
            <a:endParaRPr b="0"/>
          </a:p>
        </p:txBody>
      </p:sp>
    </p:spTree>
    <p:extLst>
      <p:ext uri="{BB962C8B-B14F-4D97-AF65-F5344CB8AC3E}">
        <p14:creationId xmlns:p14="http://schemas.microsoft.com/office/powerpoint/2010/main" val="1237891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All linear: LETKF wins the other fields</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Zonal wind, meridional wind, temperature, and surface pressure; logarithmic RMSE.</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4A59AF09-D197-0193-A7DE-FAAF0B691058}" type="slidenum">
              <a:rPr b="0"/>
              <a:t>24</a:t>
            </a:fld>
            <a:endParaRPr b="0"/>
          </a:p>
        </p:txBody>
      </p:sp>
      <p:pic>
        <p:nvPicPr>
          <p:cNvPr id="31" name="Picture 30"/>
          <p:cNvPicPr>
            <a:picLocks noChangeAspect="1"/>
          </p:cNvPicPr>
          <p:nvPr/>
        </p:nvPicPr>
        <p:blipFill>
          <a:blip r:embed="rId3"/>
          <a:srcRect/>
          <a:stretch/>
        </p:blipFill>
        <p:spPr>
          <a:xfrm>
            <a:off x="1143000" y="1609725"/>
            <a:ext cx="936787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All linear: humidity reaches near parity</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Level-averaged humidity RMSE, log scale | LETKF: ρ=1.00, r=3 | EnSF: ρ=1.00.</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A4E99CEF-AF55-BA3C-ADF8-4E52E186DD8F}" type="slidenum">
              <a:rPr b="0"/>
              <a:t>25</a:t>
            </a:fld>
            <a:endParaRPr b="0"/>
          </a:p>
        </p:txBody>
      </p:sp>
      <p:pic>
        <p:nvPicPr>
          <p:cNvPr id="31" name="Picture 30"/>
          <p:cNvPicPr>
            <a:picLocks noChangeAspect="1"/>
          </p:cNvPicPr>
          <p:nvPr/>
        </p:nvPicPr>
        <p:blipFill>
          <a:blip r:embed="rId3"/>
          <a:srcRect/>
          <a:stretch/>
        </p:blipFill>
        <p:spPr>
          <a:xfrm>
            <a:off x="447741" y="1562100"/>
            <a:ext cx="10940218"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All linear: EnSF makes a broad first humidity correction</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Absolute level-7 humidity error before assimilation and after the first EnSF analysis.</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F3AE1AE4-D79E-94D6-E825-3FC6C21A77D2}" type="slidenum">
              <a:rPr b="0"/>
              <a:t>26</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All arctangent: EnSF wins the flagship</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Nonlinear likelihood plus the least-Gaussian variable produces the clearest EnSF advantage.</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5AB55966-FA28-BC73-EA9E-53DF014DF033}" type="slidenum">
              <a:rPr b="0"/>
              <a:t>27</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dirty="0">
                <a:solidFill>
                  <a:srgbClr val="12263A"/>
                </a:solidFill>
                <a:latin typeface="Aptos Display"/>
                <a:ea typeface="Aptos Display"/>
                <a:cs typeface="Aptos Display"/>
              </a:rPr>
              <a:t>All arctangent: </a:t>
            </a:r>
            <a:r>
              <a:rPr sz="2250" b="1" dirty="0" err="1">
                <a:solidFill>
                  <a:srgbClr val="12263A"/>
                </a:solidFill>
                <a:latin typeface="Aptos Display"/>
                <a:ea typeface="Aptos Display"/>
                <a:cs typeface="Aptos Display"/>
              </a:rPr>
              <a:t>EnSF</a:t>
            </a:r>
            <a:r>
              <a:rPr sz="2250" b="1" dirty="0">
                <a:solidFill>
                  <a:srgbClr val="12263A"/>
                </a:solidFill>
                <a:latin typeface="Aptos Display"/>
                <a:ea typeface="Aptos Display"/>
                <a:cs typeface="Aptos Display"/>
              </a:rPr>
              <a:t> wins every field</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EnSF lowers analysis RMSE for wind, temperature, humidity, and surface pressure.</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02F15020-66A7-620A-7B7A-C05C4312DEAE}" type="slidenum">
              <a:rPr b="0"/>
              <a:t>28</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All arctangent: first-cycle humidity error falls globally</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The first EnSF analysis reduces level-7 humidity error across most of the globe.</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68AD4375-9F50-F53A-6F9F-DD8473067C05}" type="slidenum">
              <a:rPr b="0"/>
              <a:t>29</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BEE117-75EE-4388-8D49-DB71CDF563EE}"/>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Wind is observed through speed and direction</a:t>
            </a:r>
          </a:p>
        </p:txBody>
      </p:sp>
      <p:sp>
        <p:nvSpPr>
          <p:cNvPr id="3" name="Shape 1">
            <a:extLst>
              <a:ext uri="{FF2B5EF4-FFF2-40B4-BE49-F238E27FC236}">
                <a16:creationId xmlns:a16="http://schemas.microsoft.com/office/drawing/2014/main" id="{0CB108B0-47C4-4D02-BB2D-4F45FFF9ADF4}"/>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5" name="Shape 2">
            <a:extLst>
              <a:ext uri="{FF2B5EF4-FFF2-40B4-BE49-F238E27FC236}">
                <a16:creationId xmlns:a16="http://schemas.microsoft.com/office/drawing/2014/main" id="{ABFAC673-A25A-4055-B43E-821DDBEA4757}"/>
              </a:ext>
            </a:extLst>
          </p:cNvPr>
          <p:cNvSpPr>
            <a:spLocks noGrp="1"/>
          </p:cNvSpPr>
          <p:nvPr/>
        </p:nvSpPr>
        <p:spPr>
          <a:xfrm>
            <a:off x="868680" y="2971800"/>
            <a:ext cx="4937760" cy="2194560"/>
          </a:xfrm>
          <a:prstGeom prst="roundRect">
            <a:avLst>
              <a:gd name="adj" fmla="val 3333"/>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6" name="Text 3">
            <a:extLst>
              <a:ext uri="{FF2B5EF4-FFF2-40B4-BE49-F238E27FC236}">
                <a16:creationId xmlns:a16="http://schemas.microsoft.com/office/drawing/2014/main" id="{8C03335C-90D0-48DE-918E-553E4CC1CBC0}"/>
              </a:ext>
            </a:extLst>
          </p:cNvPr>
          <p:cNvSpPr>
            <a:spLocks noGrp="1"/>
          </p:cNvSpPr>
          <p:nvPr/>
        </p:nvSpPr>
        <p:spPr>
          <a:xfrm>
            <a:off x="1051560" y="3108960"/>
            <a:ext cx="4572000" cy="256032"/>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Observation design</a:t>
            </a:r>
          </a:p>
        </p:txBody>
      </p:sp>
      <p:sp>
        <p:nvSpPr>
          <p:cNvPr id="7" name="Text 4">
            <a:extLst>
              <a:ext uri="{FF2B5EF4-FFF2-40B4-BE49-F238E27FC236}">
                <a16:creationId xmlns:a16="http://schemas.microsoft.com/office/drawing/2014/main" id="{34306231-8C8C-4AAF-960D-2416265C46AB}"/>
              </a:ext>
            </a:extLst>
          </p:cNvPr>
          <p:cNvSpPr>
            <a:spLocks noGrp="1"/>
          </p:cNvSpPr>
          <p:nvPr/>
        </p:nvSpPr>
        <p:spPr>
          <a:xfrm>
            <a:off x="1051560" y="3410712"/>
            <a:ext cx="4572000" cy="1645920"/>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400" b="0" dirty="0">
                <a:solidFill>
                  <a:srgbClr val="4D5B6A"/>
                </a:solidFill>
                <a:latin typeface="Aptos"/>
                <a:ea typeface="Aptos"/>
                <a:cs typeface="Aptos"/>
              </a:rPr>
              <a:t>Direction innovations are wrapped to [−π,π]. T, q, and pressure remain direct, creating a dense and physically interpretable nonlinear observing network</a:t>
            </a:r>
            <a:r>
              <a:rPr sz="1350" b="0" dirty="0">
                <a:solidFill>
                  <a:srgbClr val="4D5B6A"/>
                </a:solidFill>
                <a:latin typeface="Aptos"/>
                <a:ea typeface="Aptos"/>
                <a:cs typeface="Aptos"/>
              </a:rPr>
              <a:t>.</a:t>
            </a:r>
          </a:p>
        </p:txBody>
      </p:sp>
      <p:sp>
        <p:nvSpPr>
          <p:cNvPr id="8" name="Shape 5">
            <a:extLst>
              <a:ext uri="{FF2B5EF4-FFF2-40B4-BE49-F238E27FC236}">
                <a16:creationId xmlns:a16="http://schemas.microsoft.com/office/drawing/2014/main" id="{5254EADF-F92A-419E-9B7D-E99C3B3100A1}"/>
              </a:ext>
            </a:extLst>
          </p:cNvPr>
          <p:cNvSpPr>
            <a:spLocks noGrp="1"/>
          </p:cNvSpPr>
          <p:nvPr/>
        </p:nvSpPr>
        <p:spPr>
          <a:xfrm>
            <a:off x="6217920" y="164592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9" name="Text 6">
            <a:extLst>
              <a:ext uri="{FF2B5EF4-FFF2-40B4-BE49-F238E27FC236}">
                <a16:creationId xmlns:a16="http://schemas.microsoft.com/office/drawing/2014/main" id="{A884A5A5-C3EC-4F7B-90A0-4EBFCA8FC0EC}"/>
              </a:ext>
            </a:extLst>
          </p:cNvPr>
          <p:cNvSpPr>
            <a:spLocks noGrp="1"/>
          </p:cNvSpPr>
          <p:nvPr/>
        </p:nvSpPr>
        <p:spPr>
          <a:xfrm>
            <a:off x="6400800" y="178308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Locally recoverable</a:t>
            </a:r>
          </a:p>
        </p:txBody>
      </p:sp>
      <p:sp>
        <p:nvSpPr>
          <p:cNvPr id="10" name="Text 7">
            <a:extLst>
              <a:ext uri="{FF2B5EF4-FFF2-40B4-BE49-F238E27FC236}">
                <a16:creationId xmlns:a16="http://schemas.microsoft.com/office/drawing/2014/main" id="{64B8CC4D-5866-4D63-90F3-EB45CA563C9F}"/>
              </a:ext>
            </a:extLst>
          </p:cNvPr>
          <p:cNvSpPr>
            <a:spLocks noGrp="1"/>
          </p:cNvSpPr>
          <p:nvPr/>
        </p:nvSpPr>
        <p:spPr>
          <a:xfrm>
            <a:off x="6400800" y="208483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400" b="0" dirty="0">
                <a:solidFill>
                  <a:srgbClr val="4D5B6A"/>
                </a:solidFill>
                <a:latin typeface="Aptos"/>
                <a:ea typeface="Aptos"/>
                <a:cs typeface="Aptos"/>
              </a:rPr>
              <a:t>Away from calm winds and the branch cut, speed plus direction recover the wind vector.</a:t>
            </a:r>
          </a:p>
        </p:txBody>
      </p:sp>
      <p:sp>
        <p:nvSpPr>
          <p:cNvPr id="11" name="Shape 8">
            <a:extLst>
              <a:ext uri="{FF2B5EF4-FFF2-40B4-BE49-F238E27FC236}">
                <a16:creationId xmlns:a16="http://schemas.microsoft.com/office/drawing/2014/main" id="{3CEA8DB0-62FF-4E4A-83BC-ADB48FF5F826}"/>
              </a:ext>
            </a:extLst>
          </p:cNvPr>
          <p:cNvSpPr>
            <a:spLocks noGrp="1"/>
          </p:cNvSpPr>
          <p:nvPr/>
        </p:nvSpPr>
        <p:spPr>
          <a:xfrm>
            <a:off x="6217920" y="3383280"/>
            <a:ext cx="4754880" cy="1417320"/>
          </a:xfrm>
          <a:prstGeom prst="roundRect">
            <a:avLst>
              <a:gd name="adj" fmla="val 5161"/>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2" name="Text 9">
            <a:extLst>
              <a:ext uri="{FF2B5EF4-FFF2-40B4-BE49-F238E27FC236}">
                <a16:creationId xmlns:a16="http://schemas.microsoft.com/office/drawing/2014/main" id="{5E14DEF1-A419-4745-AE2F-A08C29F2F64D}"/>
              </a:ext>
            </a:extLst>
          </p:cNvPr>
          <p:cNvSpPr>
            <a:spLocks noGrp="1"/>
          </p:cNvSpPr>
          <p:nvPr/>
        </p:nvSpPr>
        <p:spPr>
          <a:xfrm>
            <a:off x="6400800" y="3520440"/>
            <a:ext cx="4389120" cy="256032"/>
          </a:xfrm>
          <a:prstGeom prst="rect">
            <a:avLst/>
          </a:prstGeom>
          <a:noFill/>
        </p:spPr>
        <p:txBody>
          <a:bodyPr wrap="square" lIns="0" tIns="0" rIns="0" bIns="0" anchor="ctr"/>
          <a:lstStyle/>
          <a:p>
            <a:pPr marL="0" indent="0" algn="l">
              <a:buNone/>
              <a:defRPr sz="1425" b="1">
                <a:solidFill>
                  <a:srgbClr val="214B69"/>
                </a:solidFill>
                <a:latin typeface="Aptos"/>
                <a:ea typeface="Aptos"/>
                <a:cs typeface="Aptos"/>
              </a:defRPr>
            </a:pPr>
            <a:r>
              <a:rPr sz="1425" b="1">
                <a:solidFill>
                  <a:srgbClr val="214B69"/>
                </a:solidFill>
                <a:latin typeface="Aptos"/>
                <a:ea typeface="Aptos"/>
                <a:cs typeface="Aptos"/>
              </a:rPr>
              <a:t>Difficult regimes</a:t>
            </a:r>
          </a:p>
        </p:txBody>
      </p:sp>
      <p:sp>
        <p:nvSpPr>
          <p:cNvPr id="13" name="Text 10">
            <a:extLst>
              <a:ext uri="{FF2B5EF4-FFF2-40B4-BE49-F238E27FC236}">
                <a16:creationId xmlns:a16="http://schemas.microsoft.com/office/drawing/2014/main" id="{613DDA21-7EE2-43B3-89B1-906DBBA3BA91}"/>
              </a:ext>
            </a:extLst>
          </p:cNvPr>
          <p:cNvSpPr>
            <a:spLocks noGrp="1"/>
          </p:cNvSpPr>
          <p:nvPr/>
        </p:nvSpPr>
        <p:spPr>
          <a:xfrm>
            <a:off x="6400800" y="3822192"/>
            <a:ext cx="4389120" cy="868680"/>
          </a:xfrm>
          <a:prstGeom prst="rect">
            <a:avLst/>
          </a:prstGeom>
          <a:noFill/>
        </p:spPr>
        <p:txBody>
          <a:bodyPr wrap="square" lIns="254" tIns="254" rIns="254" bIns="254" anchor="ctr"/>
          <a:lstStyle/>
          <a:p>
            <a:pPr marL="0" indent="0" algn="l">
              <a:buNone/>
              <a:defRPr sz="1275" b="0">
                <a:solidFill>
                  <a:srgbClr val="4D5B6A"/>
                </a:solidFill>
                <a:latin typeface="Aptos"/>
                <a:ea typeface="Aptos"/>
                <a:cs typeface="Aptos"/>
              </a:defRPr>
            </a:pPr>
            <a:r>
              <a:rPr sz="1400" b="0" dirty="0">
                <a:solidFill>
                  <a:srgbClr val="4D5B6A"/>
                </a:solidFill>
                <a:latin typeface="Aptos"/>
                <a:ea typeface="Aptos"/>
                <a:cs typeface="Aptos"/>
              </a:rPr>
              <a:t>Weak winds and the angular branch cut produce the strongest curvature or discontinuity.</a:t>
            </a:r>
          </a:p>
        </p:txBody>
      </p:sp>
      <p:sp>
        <p:nvSpPr>
          <p:cNvPr id="25" name="Slide Number Placeholder 0">
            <a:extLst>
              <a:ext uri="{FF2B5EF4-FFF2-40B4-BE49-F238E27FC236}">
                <a16:creationId xmlns:a16="http://schemas.microsoft.com/office/drawing/2014/main" id="{03251B9B-DCF1-48AF-8FF7-93BFD3812F4C}"/>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41680313-6E64-04FF-399A-57B7CADE95A9}" type="slidenum">
              <a:rPr b="0"/>
              <a:t>30</a:t>
            </a:fld>
            <a:endParaRPr b="0"/>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rcRect/>
          <a:stretch/>
        </p:blipFill>
        <p:spPr>
          <a:xfrm>
            <a:off x="868680" y="1581150"/>
            <a:ext cx="5029200" cy="1104900"/>
          </a:xfrm>
          <a:prstGeom prst="rect">
            <a:avLst/>
          </a:prstGeom>
        </p:spPr>
      </p:pic>
    </p:spTree>
    <p:extLst>
      <p:ext uri="{BB962C8B-B14F-4D97-AF65-F5344CB8AC3E}">
        <p14:creationId xmlns:p14="http://schemas.microsoft.com/office/powerpoint/2010/main" val="2048515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Nonlinear wind: LETKF wins both components</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U and V are observed only through speed and direction | LETKF: ρ=1.15, r=2.</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5FEBBBCE-9E16-527A-0EE3-E5839422D847}" type="slidenum">
              <a:rPr b="0"/>
              <a:t>31</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Nonlinear wind: LETKF also wins the thermodynamic fields</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The advantage persists for the directly observed temperature, humidity, and pressure fields.</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D172A7C5-A0CC-7B36-F236-345181E6AD72}" type="slidenum">
              <a:rPr b="0"/>
              <a:t>32</a:t>
            </a:fld>
            <a:endParaRPr b="0"/>
          </a:p>
        </p:txBody>
      </p:sp>
      <p:pic>
        <p:nvPicPr>
          <p:cNvPr id="31" name="Picture 30"/>
          <p:cNvPicPr>
            <a:picLocks noChangeAspect="1"/>
          </p:cNvPicPr>
          <p:nvPr/>
        </p:nvPicPr>
        <p:blipFill>
          <a:blip r:embed="rId3"/>
          <a:srcRect/>
          <a:stretch/>
        </p:blipFill>
        <p:spPr>
          <a:xfrm>
            <a:off x="865528" y="1565147"/>
            <a:ext cx="9501878"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Nonlinear wind: EnSF still makes a large first correction</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dirty="0">
                <a:solidFill>
                  <a:srgbClr val="5E6978"/>
                </a:solidFill>
                <a:latin typeface="Aptos"/>
                <a:ea typeface="Aptos"/>
                <a:cs typeface="Aptos"/>
              </a:rPr>
              <a:t>Absolute level-7 U and V error before assimilation and after the first </a:t>
            </a:r>
            <a:r>
              <a:rPr sz="1350" b="0" dirty="0" err="1">
                <a:solidFill>
                  <a:srgbClr val="5E6978"/>
                </a:solidFill>
                <a:latin typeface="Aptos"/>
                <a:ea typeface="Aptos"/>
                <a:cs typeface="Aptos"/>
              </a:rPr>
              <a:t>EnSF</a:t>
            </a:r>
            <a:r>
              <a:rPr sz="1350" b="0" dirty="0">
                <a:solidFill>
                  <a:srgbClr val="5E6978"/>
                </a:solidFill>
                <a:latin typeface="Aptos"/>
                <a:ea typeface="Aptos"/>
                <a:cs typeface="Aptos"/>
              </a:rPr>
              <a:t> analysis.</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66C3428B-053E-6B4E-39FF-75B44F3F33F6}" type="slidenum">
              <a:rPr b="0"/>
              <a:t>33</a:t>
            </a:fld>
            <a:endParaRPr b="0"/>
          </a:p>
        </p:txBody>
      </p:sp>
      <p:pic>
        <p:nvPicPr>
          <p:cNvPr id="31" name="Picture 30"/>
          <p:cNvPicPr>
            <a:picLocks noChangeAspect="1"/>
          </p:cNvPicPr>
          <p:nvPr/>
        </p:nvPicPr>
        <p:blipFill>
          <a:blip r:embed="rId3"/>
          <a:srcRect/>
          <a:stretch/>
        </p:blipFill>
        <p:spPr>
          <a:xfrm>
            <a:off x="1143000" y="1565147"/>
            <a:ext cx="999744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205621-9933-4235-AB1E-FCF9EE895DF3}"/>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Why could LETKF handle the nonlinear wind observations?</a:t>
            </a:r>
          </a:p>
        </p:txBody>
      </p:sp>
      <p:sp>
        <p:nvSpPr>
          <p:cNvPr id="3" name="Shape 1">
            <a:extLst>
              <a:ext uri="{FF2B5EF4-FFF2-40B4-BE49-F238E27FC236}">
                <a16:creationId xmlns:a16="http://schemas.microsoft.com/office/drawing/2014/main" id="{5141B92F-54EE-4D74-8F40-B2C2E6E0770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DAD3A7E4-7723-48EF-A8B2-A64C1ABEC2C1}"/>
              </a:ext>
            </a:extLst>
          </p:cNvPr>
          <p:cNvSpPr>
            <a:spLocks noGrp="1"/>
          </p:cNvSpPr>
          <p:nvPr/>
        </p:nvSpPr>
        <p:spPr>
          <a:xfrm>
            <a:off x="8686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5" name="Text 3">
            <a:extLst>
              <a:ext uri="{FF2B5EF4-FFF2-40B4-BE49-F238E27FC236}">
                <a16:creationId xmlns:a16="http://schemas.microsoft.com/office/drawing/2014/main" id="{6DDD8ED3-31B1-4042-9AEE-1DD0E37BE554}"/>
              </a:ext>
            </a:extLst>
          </p:cNvPr>
          <p:cNvSpPr>
            <a:spLocks noGrp="1"/>
          </p:cNvSpPr>
          <p:nvPr/>
        </p:nvSpPr>
        <p:spPr>
          <a:xfrm>
            <a:off x="10515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Locally mild nonlinearity</a:t>
            </a:r>
          </a:p>
        </p:txBody>
      </p:sp>
      <p:sp>
        <p:nvSpPr>
          <p:cNvPr id="6" name="Text 4">
            <a:extLst>
              <a:ext uri="{FF2B5EF4-FFF2-40B4-BE49-F238E27FC236}">
                <a16:creationId xmlns:a16="http://schemas.microsoft.com/office/drawing/2014/main" id="{C68221B3-1B26-4A27-9494-F7466761E037}"/>
              </a:ext>
            </a:extLst>
          </p:cNvPr>
          <p:cNvSpPr>
            <a:spLocks noGrp="1"/>
          </p:cNvSpPr>
          <p:nvPr/>
        </p:nvSpPr>
        <p:spPr>
          <a:xfrm>
            <a:off x="1051560" y="1993392"/>
            <a:ext cx="3154680" cy="347472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Over a compact ensemble cloud, speed and direction may be nearly linear except near calm winds and the angular branch cut.</a:t>
            </a:r>
          </a:p>
        </p:txBody>
      </p:sp>
      <p:sp>
        <p:nvSpPr>
          <p:cNvPr id="7" name="Shape 5">
            <a:extLst>
              <a:ext uri="{FF2B5EF4-FFF2-40B4-BE49-F238E27FC236}">
                <a16:creationId xmlns:a16="http://schemas.microsoft.com/office/drawing/2014/main" id="{29592638-E0EF-41FD-8B2B-ACF1659AD6CE}"/>
              </a:ext>
            </a:extLst>
          </p:cNvPr>
          <p:cNvSpPr>
            <a:spLocks noGrp="1"/>
          </p:cNvSpPr>
          <p:nvPr/>
        </p:nvSpPr>
        <p:spPr>
          <a:xfrm>
            <a:off x="45262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8" name="Text 6">
            <a:extLst>
              <a:ext uri="{FF2B5EF4-FFF2-40B4-BE49-F238E27FC236}">
                <a16:creationId xmlns:a16="http://schemas.microsoft.com/office/drawing/2014/main" id="{AAD23D41-5ACA-435E-A285-D12ACA3345E5}"/>
              </a:ext>
            </a:extLst>
          </p:cNvPr>
          <p:cNvSpPr>
            <a:spLocks noGrp="1"/>
          </p:cNvSpPr>
          <p:nvPr/>
        </p:nvSpPr>
        <p:spPr>
          <a:xfrm>
            <a:off x="47091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Localization advantage</a:t>
            </a:r>
          </a:p>
        </p:txBody>
      </p:sp>
      <p:sp>
        <p:nvSpPr>
          <p:cNvPr id="9" name="Text 7">
            <a:extLst>
              <a:ext uri="{FF2B5EF4-FFF2-40B4-BE49-F238E27FC236}">
                <a16:creationId xmlns:a16="http://schemas.microsoft.com/office/drawing/2014/main" id="{91FE0FB4-B9F7-47FE-9131-E5E5CE74EC82}"/>
              </a:ext>
            </a:extLst>
          </p:cNvPr>
          <p:cNvSpPr>
            <a:spLocks noGrp="1"/>
          </p:cNvSpPr>
          <p:nvPr/>
        </p:nvSpPr>
        <p:spPr>
          <a:xfrm>
            <a:off x="4709160" y="1993392"/>
            <a:ext cx="3154680" cy="347472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LETKF solves small local problems and suppresses distant sampling noise; this EnSF implementation has no analogous localization.</a:t>
            </a:r>
          </a:p>
        </p:txBody>
      </p:sp>
      <p:sp>
        <p:nvSpPr>
          <p:cNvPr id="10" name="Shape 8">
            <a:extLst>
              <a:ext uri="{FF2B5EF4-FFF2-40B4-BE49-F238E27FC236}">
                <a16:creationId xmlns:a16="http://schemas.microsoft.com/office/drawing/2014/main" id="{4764E90F-B822-4AEE-971B-C8D61756354C}"/>
              </a:ext>
            </a:extLst>
          </p:cNvPr>
          <p:cNvSpPr>
            <a:spLocks noGrp="1"/>
          </p:cNvSpPr>
          <p:nvPr/>
        </p:nvSpPr>
        <p:spPr>
          <a:xfrm>
            <a:off x="8183880" y="1554480"/>
            <a:ext cx="3154680" cy="4023360"/>
          </a:xfrm>
          <a:prstGeom prst="roundRect">
            <a:avLst>
              <a:gd name="adj" fmla="val 2319"/>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1" name="Text 9">
            <a:extLst>
              <a:ext uri="{FF2B5EF4-FFF2-40B4-BE49-F238E27FC236}">
                <a16:creationId xmlns:a16="http://schemas.microsoft.com/office/drawing/2014/main" id="{2B252323-9534-4F37-9000-D34220568FA4}"/>
              </a:ext>
            </a:extLst>
          </p:cNvPr>
          <p:cNvSpPr>
            <a:spLocks noGrp="1"/>
          </p:cNvSpPr>
          <p:nvPr/>
        </p:nvSpPr>
        <p:spPr>
          <a:xfrm>
            <a:off x="8366760" y="1691640"/>
            <a:ext cx="278892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Finite-ensemble score limits</a:t>
            </a:r>
          </a:p>
        </p:txBody>
      </p:sp>
      <p:sp>
        <p:nvSpPr>
          <p:cNvPr id="12" name="Text 10">
            <a:extLst>
              <a:ext uri="{FF2B5EF4-FFF2-40B4-BE49-F238E27FC236}">
                <a16:creationId xmlns:a16="http://schemas.microsoft.com/office/drawing/2014/main" id="{91730671-F08E-4503-A7E0-4BF2AAE5BCDA}"/>
              </a:ext>
            </a:extLst>
          </p:cNvPr>
          <p:cNvSpPr>
            <a:spLocks noGrp="1"/>
          </p:cNvSpPr>
          <p:nvPr/>
        </p:nvSpPr>
        <p:spPr>
          <a:xfrm>
            <a:off x="8366760" y="1993392"/>
            <a:ext cx="2788920" cy="347472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With 80 members, a high-dimensional prior score may be harder to approximate reliably than local ensemble covariances.</a:t>
            </a:r>
          </a:p>
        </p:txBody>
      </p:sp>
      <p:sp>
        <p:nvSpPr>
          <p:cNvPr id="25" name="Slide Number Placeholder 0">
            <a:extLst>
              <a:ext uri="{FF2B5EF4-FFF2-40B4-BE49-F238E27FC236}">
                <a16:creationId xmlns:a16="http://schemas.microsoft.com/office/drawing/2014/main" id="{00F72CA8-F846-4BBA-BF83-9A465D979E0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59F9B2FD-F323-2D0A-D581-D6E61055F9A8}" type="slidenum">
              <a:rPr b="0"/>
              <a:t>34</a:t>
            </a:fld>
            <a:endParaRPr b="0"/>
          </a:p>
        </p:txBody>
      </p:sp>
    </p:spTree>
    <p:extLst>
      <p:ext uri="{BB962C8B-B14F-4D97-AF65-F5344CB8AC3E}">
        <p14:creationId xmlns:p14="http://schemas.microsoft.com/office/powerpoint/2010/main" val="1237891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Pressure only: LETKF is the clear winner</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Surface-pressure RMSE on a linear scale; EnSF improves NoDA but remains higher.</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D6C2EC43-E3B9-C9B0-67FF-5447EB7F3925}" type="slidenum">
              <a:rPr b="0"/>
              <a:t>35</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Pressure only: little information reaches other EnSF fields</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Unobserved variables change only through later model evolution in the original EnSF.</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4A4FA566-8B12-6DD2-DDB5-FA6393938FB6}" type="slidenum">
              <a:rPr b="0"/>
              <a:t>36</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Pressure only: EnSF still reduces observed pressure error</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Absolute level-0 surface-pressure error before assimilation and after EnSF cycle 1.</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E39A338D-B192-3127-EB9A-53A2665A0BB7}" type="slidenum">
              <a:rPr b="0"/>
              <a:t>37</a:t>
            </a:fld>
            <a:endParaRPr b="0"/>
          </a:p>
        </p:txBody>
      </p:sp>
      <p:pic>
        <p:nvPicPr>
          <p:cNvPr id="31" name="Picture 30"/>
          <p:cNvPicPr>
            <a:picLocks noChangeAspect="1"/>
          </p:cNvPicPr>
          <p:nvPr/>
        </p:nvPicPr>
        <p:blipFill>
          <a:blip r:embed="rId3"/>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F216AF-AF0F-44FA-B777-4477C80E9041}"/>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Relative RMSE reveals a clear experiment-dependent pattern</a:t>
            </a:r>
          </a:p>
        </p:txBody>
      </p:sp>
      <p:sp>
        <p:nvSpPr>
          <p:cNvPr id="3" name="Shape 1">
            <a:extLst>
              <a:ext uri="{FF2B5EF4-FFF2-40B4-BE49-F238E27FC236}">
                <a16:creationId xmlns:a16="http://schemas.microsoft.com/office/drawing/2014/main" id="{21529F6C-21C4-40A3-9EA0-E5254F9881E0}"/>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Text 2">
            <a:extLst>
              <a:ext uri="{FF2B5EF4-FFF2-40B4-BE49-F238E27FC236}">
                <a16:creationId xmlns:a16="http://schemas.microsoft.com/office/drawing/2014/main" id="{9AFCC03A-5AAB-4173-9114-005F9142D750}"/>
              </a:ext>
            </a:extLst>
          </p:cNvPr>
          <p:cNvSpPr>
            <a:spLocks noGrp="1"/>
          </p:cNvSpPr>
          <p:nvPr/>
        </p:nvSpPr>
        <p:spPr>
          <a:xfrm>
            <a:off x="552450" y="1257300"/>
            <a:ext cx="11049000" cy="266700"/>
          </a:xfrm>
          <a:prstGeom prst="rect">
            <a:avLst/>
          </a:prstGeom>
          <a:noFill/>
        </p:spPr>
        <p:txBody>
          <a:bodyPr wrap="square" anchor="ctr"/>
          <a:lstStyle/>
          <a:p>
            <a:pPr marL="0" indent="0" algn="l">
              <a:buNone/>
              <a:defRPr sz="1350" b="0">
                <a:solidFill>
                  <a:srgbClr val="5E6978"/>
                </a:solidFill>
                <a:latin typeface="Aptos"/>
                <a:ea typeface="Aptos"/>
                <a:cs typeface="Aptos"/>
              </a:defRPr>
            </a:pPr>
            <a:r>
              <a:rPr sz="1350" b="0">
                <a:solidFill>
                  <a:srgbClr val="5E6978"/>
                </a:solidFill>
                <a:latin typeface="Aptos"/>
                <a:ea typeface="Aptos"/>
                <a:cs typeface="Aptos"/>
              </a:rPr>
              <a:t>Each cell is EnSF RMSE ÷ LETKF RMSE. Below 1 favors EnSF; above 1 favors LETKF.</a:t>
            </a:r>
          </a:p>
        </p:txBody>
      </p:sp>
      <p:sp>
        <p:nvSpPr>
          <p:cNvPr id="25" name="Slide Number Placeholder 0">
            <a:extLst>
              <a:ext uri="{FF2B5EF4-FFF2-40B4-BE49-F238E27FC236}">
                <a16:creationId xmlns:a16="http://schemas.microsoft.com/office/drawing/2014/main" id="{E6979079-82A8-4A6E-9552-E99302D1D26E}"/>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8D334276-4C85-190E-BA41-5CA1CBB04E4E}" type="slidenum">
              <a:rPr b="0"/>
              <a:t>38</a:t>
            </a:fld>
            <a:endParaRPr b="0"/>
          </a:p>
        </p:txBody>
      </p:sp>
      <p:pic>
        <p:nvPicPr>
          <p:cNvPr id="31" name="Graphic 30"/>
          <p:cNvPicPr>
            <a:picLocks noChangeAspect="1"/>
          </p:cNvPicPr>
          <p:nvPr/>
        </p:nvPicPr>
        <p:blipFill>
          <a:blip>
            <a:extLst>
              <a:ext uri="{96DAC541-7B7A-43D3-8B79-37D633B846F1}">
                <asvg:svgBlip xmlns:asvg="http://schemas.microsoft.com/office/drawing/2016/SVG/main" r:embed="rId3"/>
              </a:ext>
            </a:extLst>
          </a:blip>
          <a:srcRect/>
          <a:stretch/>
        </p:blipFill>
        <p:spPr>
          <a:xfrm>
            <a:off x="457200" y="1562100"/>
            <a:ext cx="11277600" cy="4791075"/>
          </a:xfrm>
          <a:prstGeom prst="rect">
            <a:avLst/>
          </a:prstGeom>
        </p:spPr>
      </p:pic>
    </p:spTree>
    <p:extLst>
      <p:ext uri="{BB962C8B-B14F-4D97-AF65-F5344CB8AC3E}">
        <p14:creationId xmlns:p14="http://schemas.microsoft.com/office/powerpoint/2010/main" val="9869157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205621-9933-4235-AB1E-FCF9EE895DF3}"/>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Limitations point directly to the next experiments</a:t>
            </a:r>
          </a:p>
        </p:txBody>
      </p:sp>
      <p:sp>
        <p:nvSpPr>
          <p:cNvPr id="3" name="Shape 1">
            <a:extLst>
              <a:ext uri="{FF2B5EF4-FFF2-40B4-BE49-F238E27FC236}">
                <a16:creationId xmlns:a16="http://schemas.microsoft.com/office/drawing/2014/main" id="{5141B92F-54EE-4D74-8F40-B2C2E6E07703}"/>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DAD3A7E4-7723-48EF-A8B2-A64C1ABEC2C1}"/>
              </a:ext>
            </a:extLst>
          </p:cNvPr>
          <p:cNvSpPr>
            <a:spLocks noGrp="1"/>
          </p:cNvSpPr>
          <p:nvPr/>
        </p:nvSpPr>
        <p:spPr>
          <a:xfrm>
            <a:off x="8686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5" name="Text 3">
            <a:extLst>
              <a:ext uri="{FF2B5EF4-FFF2-40B4-BE49-F238E27FC236}">
                <a16:creationId xmlns:a16="http://schemas.microsoft.com/office/drawing/2014/main" id="{6DDD8ED3-31B1-4042-9AEE-1DD0E37BE554}"/>
              </a:ext>
            </a:extLst>
          </p:cNvPr>
          <p:cNvSpPr>
            <a:spLocks noGrp="1"/>
          </p:cNvSpPr>
          <p:nvPr/>
        </p:nvSpPr>
        <p:spPr>
          <a:xfrm>
            <a:off x="10515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Idealized OSSE</a:t>
            </a:r>
          </a:p>
        </p:txBody>
      </p:sp>
      <p:sp>
        <p:nvSpPr>
          <p:cNvPr id="6" name="Text 4">
            <a:extLst>
              <a:ext uri="{FF2B5EF4-FFF2-40B4-BE49-F238E27FC236}">
                <a16:creationId xmlns:a16="http://schemas.microsoft.com/office/drawing/2014/main" id="{C68221B3-1B26-4A27-9494-F7466761E037}"/>
              </a:ext>
            </a:extLst>
          </p:cNvPr>
          <p:cNvSpPr>
            <a:spLocks noGrp="1"/>
          </p:cNvSpPr>
          <p:nvPr/>
        </p:nvSpPr>
        <p:spPr>
          <a:xfrm>
            <a:off x="1051560" y="1993392"/>
            <a:ext cx="3154680" cy="347472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Perfect model, dense horizontal coverage, one truth trajectory, one ensemble size, and one cycle length.</a:t>
            </a:r>
          </a:p>
        </p:txBody>
      </p:sp>
      <p:sp>
        <p:nvSpPr>
          <p:cNvPr id="7" name="Shape 5">
            <a:extLst>
              <a:ext uri="{FF2B5EF4-FFF2-40B4-BE49-F238E27FC236}">
                <a16:creationId xmlns:a16="http://schemas.microsoft.com/office/drawing/2014/main" id="{29592638-E0EF-41FD-8B2B-ACF1659AD6CE}"/>
              </a:ext>
            </a:extLst>
          </p:cNvPr>
          <p:cNvSpPr>
            <a:spLocks noGrp="1"/>
          </p:cNvSpPr>
          <p:nvPr/>
        </p:nvSpPr>
        <p:spPr>
          <a:xfrm>
            <a:off x="4526280" y="1554480"/>
            <a:ext cx="3520440" cy="4023360"/>
          </a:xfrm>
          <a:prstGeom prst="roundRect">
            <a:avLst>
              <a:gd name="adj" fmla="val 2078"/>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8" name="Text 6">
            <a:extLst>
              <a:ext uri="{FF2B5EF4-FFF2-40B4-BE49-F238E27FC236}">
                <a16:creationId xmlns:a16="http://schemas.microsoft.com/office/drawing/2014/main" id="{AAD23D41-5ACA-435E-A285-D12ACA3345E5}"/>
              </a:ext>
            </a:extLst>
          </p:cNvPr>
          <p:cNvSpPr>
            <a:spLocks noGrp="1"/>
          </p:cNvSpPr>
          <p:nvPr/>
        </p:nvSpPr>
        <p:spPr>
          <a:xfrm>
            <a:off x="4709160" y="1691640"/>
            <a:ext cx="315468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Incomplete comparison</a:t>
            </a:r>
          </a:p>
        </p:txBody>
      </p:sp>
      <p:sp>
        <p:nvSpPr>
          <p:cNvPr id="9" name="Text 7">
            <a:extLst>
              <a:ext uri="{FF2B5EF4-FFF2-40B4-BE49-F238E27FC236}">
                <a16:creationId xmlns:a16="http://schemas.microsoft.com/office/drawing/2014/main" id="{91FE0FB4-B9F7-47FE-9131-E5E5CE74EC82}"/>
              </a:ext>
            </a:extLst>
          </p:cNvPr>
          <p:cNvSpPr>
            <a:spLocks noGrp="1"/>
          </p:cNvSpPr>
          <p:nvPr/>
        </p:nvSpPr>
        <p:spPr>
          <a:xfrm>
            <a:off x="4709160" y="1993392"/>
            <a:ext cx="3154680" cy="347472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425" b="0">
                <a:solidFill>
                  <a:srgbClr val="4D5B6A"/>
                </a:solidFill>
                <a:latin typeface="Aptos"/>
                <a:ea typeface="Aptos"/>
                <a:cs typeface="Aptos"/>
              </a:rPr>
              <a:t>Unequal tuning dimensions, no timing study, and RMSE without spread or calibration metrics.</a:t>
            </a:r>
          </a:p>
        </p:txBody>
      </p:sp>
      <p:sp>
        <p:nvSpPr>
          <p:cNvPr id="10" name="Shape 8">
            <a:extLst>
              <a:ext uri="{FF2B5EF4-FFF2-40B4-BE49-F238E27FC236}">
                <a16:creationId xmlns:a16="http://schemas.microsoft.com/office/drawing/2014/main" id="{4764E90F-B822-4AEE-971B-C8D61756354C}"/>
              </a:ext>
            </a:extLst>
          </p:cNvPr>
          <p:cNvSpPr>
            <a:spLocks noGrp="1"/>
          </p:cNvSpPr>
          <p:nvPr/>
        </p:nvSpPr>
        <p:spPr>
          <a:xfrm>
            <a:off x="8183880" y="1554480"/>
            <a:ext cx="3154680" cy="4023360"/>
          </a:xfrm>
          <a:prstGeom prst="roundRect">
            <a:avLst>
              <a:gd name="adj" fmla="val 2319"/>
            </a:avLst>
          </a:prstGeom>
          <a:solidFill>
            <a:srgbClr val="FFFFFF"/>
          </a:solidFill>
          <a:ln w="12700">
            <a:solidFill>
              <a:srgbClr val="D7E0EA"/>
            </a:solidFill>
            <a:prstDash val="solid"/>
          </a:ln>
          <a:effectLst>
            <a:outerShdw blurRad="19050" dist="6350" dir="2700000" algn="bl" rotWithShape="0">
              <a:srgbClr val="000000">
                <a:alpha val="12000"/>
              </a:srgbClr>
            </a:outerShdw>
          </a:effectLst>
        </p:spPr>
        <p:txBody>
          <a:bodyPr/>
          <a:lstStyle/>
          <a:p>
            <a:endParaRPr/>
          </a:p>
        </p:txBody>
      </p:sp>
      <p:sp>
        <p:nvSpPr>
          <p:cNvPr id="11" name="Text 9">
            <a:extLst>
              <a:ext uri="{FF2B5EF4-FFF2-40B4-BE49-F238E27FC236}">
                <a16:creationId xmlns:a16="http://schemas.microsoft.com/office/drawing/2014/main" id="{2B252323-9534-4F37-9000-D34220568FA4}"/>
              </a:ext>
            </a:extLst>
          </p:cNvPr>
          <p:cNvSpPr>
            <a:spLocks noGrp="1"/>
          </p:cNvSpPr>
          <p:nvPr/>
        </p:nvSpPr>
        <p:spPr>
          <a:xfrm>
            <a:off x="8366760" y="1691640"/>
            <a:ext cx="2788920" cy="256032"/>
          </a:xfrm>
          <a:prstGeom prst="rect">
            <a:avLst/>
          </a:prstGeom>
          <a:noFill/>
        </p:spPr>
        <p:txBody>
          <a:bodyPr wrap="square" lIns="0" tIns="0" rIns="0" bIns="0" anchor="ctr"/>
          <a:lstStyle/>
          <a:p>
            <a:pPr marL="0" indent="0" algn="l">
              <a:buNone/>
              <a:defRPr sz="1650" b="1">
                <a:solidFill>
                  <a:srgbClr val="214B69"/>
                </a:solidFill>
                <a:latin typeface="Aptos"/>
                <a:ea typeface="Aptos"/>
                <a:cs typeface="Aptos"/>
              </a:defRPr>
            </a:pPr>
            <a:r>
              <a:rPr sz="1650" b="1">
                <a:solidFill>
                  <a:srgbClr val="214B69"/>
                </a:solidFill>
                <a:latin typeface="Aptos"/>
                <a:ea typeface="Aptos"/>
                <a:cs typeface="Aptos"/>
              </a:rPr>
              <a:t>Highest-value next steps</a:t>
            </a:r>
          </a:p>
        </p:txBody>
      </p:sp>
      <p:sp>
        <p:nvSpPr>
          <p:cNvPr id="12" name="Text 10">
            <a:extLst>
              <a:ext uri="{FF2B5EF4-FFF2-40B4-BE49-F238E27FC236}">
                <a16:creationId xmlns:a16="http://schemas.microsoft.com/office/drawing/2014/main" id="{91730671-F08E-4503-A7E0-4BF2AAE5BCDA}"/>
              </a:ext>
            </a:extLst>
          </p:cNvPr>
          <p:cNvSpPr>
            <a:spLocks noGrp="1"/>
          </p:cNvSpPr>
          <p:nvPr/>
        </p:nvSpPr>
        <p:spPr>
          <a:xfrm>
            <a:off x="8366760" y="1993392"/>
            <a:ext cx="2788920" cy="3474720"/>
          </a:xfrm>
          <a:prstGeom prst="rect">
            <a:avLst/>
          </a:prstGeom>
          <a:noFill/>
        </p:spPr>
        <p:txBody>
          <a:bodyPr wrap="square" lIns="254" tIns="254" rIns="254" bIns="254" anchor="ctr"/>
          <a:lstStyle/>
          <a:p>
            <a:pPr marL="0" indent="0" algn="l">
              <a:buNone/>
              <a:defRPr sz="1425" b="0">
                <a:solidFill>
                  <a:srgbClr val="4D5B6A"/>
                </a:solidFill>
                <a:latin typeface="Aptos"/>
                <a:ea typeface="Aptos"/>
                <a:cs typeface="Aptos"/>
              </a:defRPr>
            </a:pPr>
            <a:r>
              <a:rPr sz="1425" b="0" dirty="0">
                <a:solidFill>
                  <a:srgbClr val="4D5B6A"/>
                </a:solidFill>
                <a:latin typeface="Aptos"/>
                <a:ea typeface="Aptos"/>
                <a:cs typeface="Aptos"/>
              </a:rPr>
              <a:t>Localize or hybridize </a:t>
            </a:r>
            <a:r>
              <a:rPr sz="1425" b="0" dirty="0" err="1">
                <a:solidFill>
                  <a:srgbClr val="4D5B6A"/>
                </a:solidFill>
                <a:latin typeface="Aptos"/>
                <a:ea typeface="Aptos"/>
                <a:cs typeface="Aptos"/>
              </a:rPr>
              <a:t>EnSF</a:t>
            </a:r>
            <a:r>
              <a:rPr lang="en-US" sz="1425" b="0" dirty="0">
                <a:solidFill>
                  <a:srgbClr val="4D5B6A"/>
                </a:solidFill>
                <a:latin typeface="Aptos"/>
                <a:ea typeface="Aptos"/>
                <a:cs typeface="Aptos"/>
              </a:rPr>
              <a:t> (linear regression)</a:t>
            </a:r>
            <a:r>
              <a:rPr sz="1425" b="0" dirty="0">
                <a:solidFill>
                  <a:srgbClr val="4D5B6A"/>
                </a:solidFill>
                <a:latin typeface="Aptos"/>
                <a:ea typeface="Aptos"/>
                <a:cs typeface="Aptos"/>
              </a:rPr>
              <a:t>, vary observation density and ensemble size, test multiple seeds, and add spread-skill and cost metrics.</a:t>
            </a:r>
          </a:p>
        </p:txBody>
      </p:sp>
      <p:sp>
        <p:nvSpPr>
          <p:cNvPr id="25" name="Slide Number Placeholder 0">
            <a:extLst>
              <a:ext uri="{FF2B5EF4-FFF2-40B4-BE49-F238E27FC236}">
                <a16:creationId xmlns:a16="http://schemas.microsoft.com/office/drawing/2014/main" id="{00F72CA8-F846-4BBA-BF83-9A465D979E07}"/>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855A7F00-3259-A23D-D734-A322A9F9DD63}" type="slidenum">
              <a:rPr b="0"/>
              <a:t>39</a:t>
            </a:fld>
            <a:endParaRPr b="0"/>
          </a:p>
        </p:txBody>
      </p:sp>
    </p:spTree>
    <p:extLst>
      <p:ext uri="{BB962C8B-B14F-4D97-AF65-F5344CB8AC3E}">
        <p14:creationId xmlns:p14="http://schemas.microsoft.com/office/powerpoint/2010/main" val="1237891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EA4646-2029-44BC-95E9-72EBFD9ADB90}"/>
              </a:ext>
            </a:extLst>
          </p:cNvPr>
          <p:cNvSpPr>
            <a:spLocks noGrp="1"/>
          </p:cNvSpPr>
          <p:nvPr/>
        </p:nvSpPr>
        <p:spPr>
          <a:xfrm>
            <a:off x="548640" y="457200"/>
            <a:ext cx="11049000" cy="552450"/>
          </a:xfrm>
          <a:prstGeom prst="rect">
            <a:avLst/>
          </a:prstGeom>
          <a:noFill/>
        </p:spPr>
        <p:txBody>
          <a:bodyPr wrap="square" lIns="0" tIns="0" rIns="0" bIns="0" anchor="ctr"/>
          <a:lstStyle/>
          <a:p>
            <a:pPr marL="0" indent="0" algn="l">
              <a:buNone/>
              <a:defRPr sz="2250" b="1">
                <a:solidFill>
                  <a:srgbClr val="12263A"/>
                </a:solidFill>
                <a:latin typeface="Aptos Display"/>
                <a:ea typeface="Aptos Display"/>
                <a:cs typeface="Aptos Display"/>
              </a:defRPr>
            </a:pPr>
            <a:r>
              <a:rPr sz="2250" b="1">
                <a:solidFill>
                  <a:srgbClr val="12263A"/>
                </a:solidFill>
                <a:latin typeface="Aptos Display"/>
                <a:ea typeface="Aptos Display"/>
                <a:cs typeface="Aptos Display"/>
              </a:rPr>
              <a:t>Three takeaways</a:t>
            </a:r>
          </a:p>
        </p:txBody>
      </p:sp>
      <p:sp>
        <p:nvSpPr>
          <p:cNvPr id="3" name="Shape 1">
            <a:extLst>
              <a:ext uri="{FF2B5EF4-FFF2-40B4-BE49-F238E27FC236}">
                <a16:creationId xmlns:a16="http://schemas.microsoft.com/office/drawing/2014/main" id="{E07FD6C7-4FF8-464F-A740-3B92FBB96361}"/>
              </a:ext>
            </a:extLst>
          </p:cNvPr>
          <p:cNvSpPr>
            <a:spLocks noGrp="1"/>
          </p:cNvSpPr>
          <p:nvPr/>
        </p:nvSpPr>
        <p:spPr>
          <a:xfrm>
            <a:off x="548640" y="1216152"/>
            <a:ext cx="1188720" cy="0"/>
          </a:xfrm>
          <a:prstGeom prst="line">
            <a:avLst/>
          </a:prstGeom>
          <a:noFill/>
          <a:ln w="12700">
            <a:solidFill>
              <a:srgbClr val="D8A24A"/>
            </a:solidFill>
            <a:prstDash val="solid"/>
          </a:ln>
        </p:spPr>
        <p:txBody>
          <a:bodyPr/>
          <a:lstStyle/>
          <a:p>
            <a:endParaRPr/>
          </a:p>
        </p:txBody>
      </p:sp>
      <p:sp>
        <p:nvSpPr>
          <p:cNvPr id="4" name="Shape 2">
            <a:extLst>
              <a:ext uri="{FF2B5EF4-FFF2-40B4-BE49-F238E27FC236}">
                <a16:creationId xmlns:a16="http://schemas.microsoft.com/office/drawing/2014/main" id="{A6047FFA-6CE6-4EA1-9D1A-16E3F4587CE8}"/>
              </a:ext>
            </a:extLst>
          </p:cNvPr>
          <p:cNvSpPr>
            <a:spLocks noGrp="1"/>
          </p:cNvSpPr>
          <p:nvPr/>
        </p:nvSpPr>
        <p:spPr>
          <a:xfrm>
            <a:off x="914400" y="1828800"/>
            <a:ext cx="3291840" cy="2743200"/>
          </a:xfrm>
          <a:prstGeom prst="roundRect">
            <a:avLst/>
          </a:prstGeom>
          <a:solidFill>
            <a:srgbClr val="FFFFFF"/>
          </a:solidFill>
          <a:ln w="12700">
            <a:solidFill>
              <a:srgbClr val="D7E0EA"/>
            </a:solidFill>
            <a:prstDash val="solid"/>
          </a:ln>
        </p:spPr>
        <p:txBody>
          <a:bodyPr/>
          <a:lstStyle/>
          <a:p>
            <a:endParaRPr/>
          </a:p>
        </p:txBody>
      </p:sp>
      <p:sp>
        <p:nvSpPr>
          <p:cNvPr id="5" name="Shape 3">
            <a:extLst>
              <a:ext uri="{FF2B5EF4-FFF2-40B4-BE49-F238E27FC236}">
                <a16:creationId xmlns:a16="http://schemas.microsoft.com/office/drawing/2014/main" id="{1FF9303D-D21C-400F-A59E-B1837FA00313}"/>
              </a:ext>
            </a:extLst>
          </p:cNvPr>
          <p:cNvSpPr>
            <a:spLocks noGrp="1"/>
          </p:cNvSpPr>
          <p:nvPr/>
        </p:nvSpPr>
        <p:spPr>
          <a:xfrm>
            <a:off x="1078992" y="1993392"/>
            <a:ext cx="91440" cy="2414016"/>
          </a:xfrm>
          <a:prstGeom prst="rect">
            <a:avLst/>
          </a:prstGeom>
          <a:solidFill>
            <a:srgbClr val="D8A24A"/>
          </a:solidFill>
          <a:ln w="12700">
            <a:solidFill>
              <a:srgbClr val="D8A24A"/>
            </a:solidFill>
            <a:prstDash val="solid"/>
          </a:ln>
        </p:spPr>
        <p:txBody>
          <a:bodyPr/>
          <a:lstStyle/>
          <a:p>
            <a:endParaRPr/>
          </a:p>
        </p:txBody>
      </p:sp>
      <p:sp>
        <p:nvSpPr>
          <p:cNvPr id="6" name="Text 4">
            <a:extLst>
              <a:ext uri="{FF2B5EF4-FFF2-40B4-BE49-F238E27FC236}">
                <a16:creationId xmlns:a16="http://schemas.microsoft.com/office/drawing/2014/main" id="{110DCAA1-BEF6-4F51-B6F2-4C56226DBCE8}"/>
              </a:ext>
            </a:extLst>
          </p:cNvPr>
          <p:cNvSpPr>
            <a:spLocks noGrp="1"/>
          </p:cNvSpPr>
          <p:nvPr/>
        </p:nvSpPr>
        <p:spPr>
          <a:xfrm>
            <a:off x="1261872" y="1975104"/>
            <a:ext cx="2743200" cy="411480"/>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1. LETKF remains a demanding baseline</a:t>
            </a:r>
          </a:p>
        </p:txBody>
      </p:sp>
      <p:sp>
        <p:nvSpPr>
          <p:cNvPr id="7" name="Text 5">
            <a:extLst>
              <a:ext uri="{FF2B5EF4-FFF2-40B4-BE49-F238E27FC236}">
                <a16:creationId xmlns:a16="http://schemas.microsoft.com/office/drawing/2014/main" id="{3D49BD66-8E35-4A70-9F2F-2E975F433680}"/>
              </a:ext>
            </a:extLst>
          </p:cNvPr>
          <p:cNvSpPr>
            <a:spLocks noGrp="1"/>
          </p:cNvSpPr>
          <p:nvPr/>
        </p:nvSpPr>
        <p:spPr>
          <a:xfrm>
            <a:off x="1261872" y="2359152"/>
            <a:ext cx="640080" cy="201168"/>
          </a:xfrm>
          <a:prstGeom prst="rect">
            <a:avLst/>
          </a:prstGeom>
          <a:noFill/>
        </p:spPr>
        <p:txBody>
          <a:bodyPr wrap="square" lIns="0" tIns="0" rIns="0" bIns="0" anchor="ctr"/>
          <a:lstStyle/>
          <a:p>
            <a:pPr marL="0" indent="0">
              <a:buNone/>
            </a:pPr>
            <a:endParaRPr/>
          </a:p>
        </p:txBody>
      </p:sp>
      <p:sp>
        <p:nvSpPr>
          <p:cNvPr id="8" name="Text 6">
            <a:extLst>
              <a:ext uri="{FF2B5EF4-FFF2-40B4-BE49-F238E27FC236}">
                <a16:creationId xmlns:a16="http://schemas.microsoft.com/office/drawing/2014/main" id="{8B728959-7C54-4EB3-A5B3-25811DC12A42}"/>
              </a:ext>
            </a:extLst>
          </p:cNvPr>
          <p:cNvSpPr>
            <a:spLocks noGrp="1"/>
          </p:cNvSpPr>
          <p:nvPr/>
        </p:nvSpPr>
        <p:spPr>
          <a:xfrm>
            <a:off x="1261872" y="2651760"/>
            <a:ext cx="2788920" cy="1755648"/>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400" b="0" dirty="0">
                <a:solidFill>
                  <a:srgbClr val="4D5B6A"/>
                </a:solidFill>
                <a:latin typeface="Aptos"/>
                <a:ea typeface="Aptos"/>
                <a:cs typeface="Aptos"/>
              </a:rPr>
              <a:t>Localization and multivariate ensemble covariances excel in linear, coupled, and partially observed settings.</a:t>
            </a:r>
          </a:p>
        </p:txBody>
      </p:sp>
      <p:sp>
        <p:nvSpPr>
          <p:cNvPr id="9" name="Shape 7">
            <a:extLst>
              <a:ext uri="{FF2B5EF4-FFF2-40B4-BE49-F238E27FC236}">
                <a16:creationId xmlns:a16="http://schemas.microsoft.com/office/drawing/2014/main" id="{8F833D6B-3A46-4B68-88F2-8327A95BF344}"/>
              </a:ext>
            </a:extLst>
          </p:cNvPr>
          <p:cNvSpPr>
            <a:spLocks noGrp="1"/>
          </p:cNvSpPr>
          <p:nvPr/>
        </p:nvSpPr>
        <p:spPr>
          <a:xfrm>
            <a:off x="4480560" y="1828800"/>
            <a:ext cx="3291840" cy="2743200"/>
          </a:xfrm>
          <a:prstGeom prst="roundRect">
            <a:avLst/>
          </a:prstGeom>
          <a:solidFill>
            <a:srgbClr val="FFFFFF"/>
          </a:solidFill>
          <a:ln w="12700">
            <a:solidFill>
              <a:srgbClr val="D7E0EA"/>
            </a:solidFill>
            <a:prstDash val="solid"/>
          </a:ln>
        </p:spPr>
        <p:txBody>
          <a:bodyPr/>
          <a:lstStyle/>
          <a:p>
            <a:endParaRPr/>
          </a:p>
        </p:txBody>
      </p:sp>
      <p:sp>
        <p:nvSpPr>
          <p:cNvPr id="10" name="Shape 8">
            <a:extLst>
              <a:ext uri="{FF2B5EF4-FFF2-40B4-BE49-F238E27FC236}">
                <a16:creationId xmlns:a16="http://schemas.microsoft.com/office/drawing/2014/main" id="{C0F2DADB-1F47-4C47-AE15-D23DAA67E9BB}"/>
              </a:ext>
            </a:extLst>
          </p:cNvPr>
          <p:cNvSpPr>
            <a:spLocks noGrp="1"/>
          </p:cNvSpPr>
          <p:nvPr/>
        </p:nvSpPr>
        <p:spPr>
          <a:xfrm>
            <a:off x="4645152" y="1993392"/>
            <a:ext cx="91440" cy="2414016"/>
          </a:xfrm>
          <a:prstGeom prst="rect">
            <a:avLst/>
          </a:prstGeom>
          <a:solidFill>
            <a:srgbClr val="D8A24A"/>
          </a:solidFill>
          <a:ln w="12700">
            <a:solidFill>
              <a:srgbClr val="D8A24A"/>
            </a:solidFill>
            <a:prstDash val="solid"/>
          </a:ln>
        </p:spPr>
        <p:txBody>
          <a:bodyPr/>
          <a:lstStyle/>
          <a:p>
            <a:endParaRPr/>
          </a:p>
        </p:txBody>
      </p:sp>
      <p:sp>
        <p:nvSpPr>
          <p:cNvPr id="11" name="Text 9">
            <a:extLst>
              <a:ext uri="{FF2B5EF4-FFF2-40B4-BE49-F238E27FC236}">
                <a16:creationId xmlns:a16="http://schemas.microsoft.com/office/drawing/2014/main" id="{C184D167-F512-4739-8538-D5A6711D3480}"/>
              </a:ext>
            </a:extLst>
          </p:cNvPr>
          <p:cNvSpPr>
            <a:spLocks noGrp="1"/>
          </p:cNvSpPr>
          <p:nvPr/>
        </p:nvSpPr>
        <p:spPr>
          <a:xfrm>
            <a:off x="4828032" y="1975104"/>
            <a:ext cx="2743200" cy="411480"/>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2. EnSF wins when nonlinearity is global</a:t>
            </a:r>
          </a:p>
        </p:txBody>
      </p:sp>
      <p:sp>
        <p:nvSpPr>
          <p:cNvPr id="12" name="Text 10">
            <a:extLst>
              <a:ext uri="{FF2B5EF4-FFF2-40B4-BE49-F238E27FC236}">
                <a16:creationId xmlns:a16="http://schemas.microsoft.com/office/drawing/2014/main" id="{9DBB2A14-3F75-473D-A7C5-053777CE012D}"/>
              </a:ext>
            </a:extLst>
          </p:cNvPr>
          <p:cNvSpPr>
            <a:spLocks noGrp="1"/>
          </p:cNvSpPr>
          <p:nvPr/>
        </p:nvSpPr>
        <p:spPr>
          <a:xfrm>
            <a:off x="4828032" y="2359152"/>
            <a:ext cx="640080" cy="201168"/>
          </a:xfrm>
          <a:prstGeom prst="rect">
            <a:avLst/>
          </a:prstGeom>
          <a:noFill/>
        </p:spPr>
        <p:txBody>
          <a:bodyPr wrap="square" lIns="0" tIns="0" rIns="0" bIns="0" anchor="ctr"/>
          <a:lstStyle/>
          <a:p>
            <a:pPr marL="0" indent="0">
              <a:buNone/>
            </a:pPr>
            <a:endParaRPr/>
          </a:p>
        </p:txBody>
      </p:sp>
      <p:sp>
        <p:nvSpPr>
          <p:cNvPr id="13" name="Text 11">
            <a:extLst>
              <a:ext uri="{FF2B5EF4-FFF2-40B4-BE49-F238E27FC236}">
                <a16:creationId xmlns:a16="http://schemas.microsoft.com/office/drawing/2014/main" id="{50C1DB88-8DBD-4503-9F6D-0E9FD1434BF2}"/>
              </a:ext>
            </a:extLst>
          </p:cNvPr>
          <p:cNvSpPr>
            <a:spLocks noGrp="1"/>
          </p:cNvSpPr>
          <p:nvPr/>
        </p:nvSpPr>
        <p:spPr>
          <a:xfrm>
            <a:off x="4828032" y="2651760"/>
            <a:ext cx="2788920" cy="1755648"/>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400" b="0" dirty="0">
                <a:solidFill>
                  <a:srgbClr val="4D5B6A"/>
                </a:solidFill>
                <a:latin typeface="Aptos"/>
                <a:ea typeface="Aptos"/>
                <a:cs typeface="Aptos"/>
              </a:rPr>
              <a:t>The score update was best for all five variables in the all-arctangent experiment.</a:t>
            </a:r>
          </a:p>
        </p:txBody>
      </p:sp>
      <p:sp>
        <p:nvSpPr>
          <p:cNvPr id="14" name="Shape 12">
            <a:extLst>
              <a:ext uri="{FF2B5EF4-FFF2-40B4-BE49-F238E27FC236}">
                <a16:creationId xmlns:a16="http://schemas.microsoft.com/office/drawing/2014/main" id="{61400C23-EB5C-4983-A7AC-7AD975FF5F8F}"/>
              </a:ext>
            </a:extLst>
          </p:cNvPr>
          <p:cNvSpPr>
            <a:spLocks noGrp="1"/>
          </p:cNvSpPr>
          <p:nvPr/>
        </p:nvSpPr>
        <p:spPr>
          <a:xfrm>
            <a:off x="8046720" y="1828800"/>
            <a:ext cx="3291840" cy="2743200"/>
          </a:xfrm>
          <a:prstGeom prst="roundRect">
            <a:avLst/>
          </a:prstGeom>
          <a:solidFill>
            <a:srgbClr val="FFFFFF"/>
          </a:solidFill>
          <a:ln w="12700">
            <a:solidFill>
              <a:srgbClr val="D7E0EA"/>
            </a:solidFill>
            <a:prstDash val="solid"/>
          </a:ln>
        </p:spPr>
        <p:txBody>
          <a:bodyPr/>
          <a:lstStyle/>
          <a:p>
            <a:endParaRPr/>
          </a:p>
        </p:txBody>
      </p:sp>
      <p:sp>
        <p:nvSpPr>
          <p:cNvPr id="15" name="Shape 13">
            <a:extLst>
              <a:ext uri="{FF2B5EF4-FFF2-40B4-BE49-F238E27FC236}">
                <a16:creationId xmlns:a16="http://schemas.microsoft.com/office/drawing/2014/main" id="{F51913C3-99EB-4685-898D-CE30B366AA24}"/>
              </a:ext>
            </a:extLst>
          </p:cNvPr>
          <p:cNvSpPr>
            <a:spLocks noGrp="1"/>
          </p:cNvSpPr>
          <p:nvPr/>
        </p:nvSpPr>
        <p:spPr>
          <a:xfrm>
            <a:off x="8211312" y="1993392"/>
            <a:ext cx="91440" cy="2414016"/>
          </a:xfrm>
          <a:prstGeom prst="rect">
            <a:avLst/>
          </a:prstGeom>
          <a:solidFill>
            <a:srgbClr val="D8A24A"/>
          </a:solidFill>
          <a:ln w="12700">
            <a:solidFill>
              <a:srgbClr val="D8A24A"/>
            </a:solidFill>
            <a:prstDash val="solid"/>
          </a:ln>
        </p:spPr>
        <p:txBody>
          <a:bodyPr/>
          <a:lstStyle/>
          <a:p>
            <a:endParaRPr/>
          </a:p>
        </p:txBody>
      </p:sp>
      <p:sp>
        <p:nvSpPr>
          <p:cNvPr id="16" name="Text 14">
            <a:extLst>
              <a:ext uri="{FF2B5EF4-FFF2-40B4-BE49-F238E27FC236}">
                <a16:creationId xmlns:a16="http://schemas.microsoft.com/office/drawing/2014/main" id="{7833AA00-22D2-428D-A0B2-5821628A1DF2}"/>
              </a:ext>
            </a:extLst>
          </p:cNvPr>
          <p:cNvSpPr>
            <a:spLocks noGrp="1"/>
          </p:cNvSpPr>
          <p:nvPr/>
        </p:nvSpPr>
        <p:spPr>
          <a:xfrm>
            <a:off x="8394192" y="1975104"/>
            <a:ext cx="2743200" cy="411480"/>
          </a:xfrm>
          <a:prstGeom prst="rect">
            <a:avLst/>
          </a:prstGeom>
          <a:noFill/>
        </p:spPr>
        <p:txBody>
          <a:bodyPr wrap="square" lIns="0" tIns="0" rIns="0" bIns="0" anchor="ctr"/>
          <a:lstStyle/>
          <a:p>
            <a:pPr marL="0" indent="0" algn="l">
              <a:buNone/>
              <a:defRPr sz="1500" b="1">
                <a:solidFill>
                  <a:srgbClr val="214B69"/>
                </a:solidFill>
                <a:latin typeface="Aptos"/>
                <a:ea typeface="Aptos"/>
                <a:cs typeface="Aptos"/>
              </a:defRPr>
            </a:pPr>
            <a:r>
              <a:rPr sz="1500" b="1">
                <a:solidFill>
                  <a:srgbClr val="214B69"/>
                </a:solidFill>
                <a:latin typeface="Aptos"/>
                <a:ea typeface="Aptos"/>
                <a:cs typeface="Aptos"/>
              </a:rPr>
              <a:t>3. Hybridization is the opportunity</a:t>
            </a:r>
          </a:p>
        </p:txBody>
      </p:sp>
      <p:sp>
        <p:nvSpPr>
          <p:cNvPr id="17" name="Text 15">
            <a:extLst>
              <a:ext uri="{FF2B5EF4-FFF2-40B4-BE49-F238E27FC236}">
                <a16:creationId xmlns:a16="http://schemas.microsoft.com/office/drawing/2014/main" id="{FEE8B6B1-B7E1-4691-893D-D650C745F812}"/>
              </a:ext>
            </a:extLst>
          </p:cNvPr>
          <p:cNvSpPr>
            <a:spLocks noGrp="1"/>
          </p:cNvSpPr>
          <p:nvPr/>
        </p:nvSpPr>
        <p:spPr>
          <a:xfrm>
            <a:off x="8394192" y="2359152"/>
            <a:ext cx="640080" cy="201168"/>
          </a:xfrm>
          <a:prstGeom prst="rect">
            <a:avLst/>
          </a:prstGeom>
          <a:noFill/>
        </p:spPr>
        <p:txBody>
          <a:bodyPr wrap="square" lIns="0" tIns="0" rIns="0" bIns="0" anchor="ctr"/>
          <a:lstStyle/>
          <a:p>
            <a:pPr marL="0" indent="0">
              <a:buNone/>
            </a:pPr>
            <a:endParaRPr/>
          </a:p>
        </p:txBody>
      </p:sp>
      <p:sp>
        <p:nvSpPr>
          <p:cNvPr id="18" name="Text 16">
            <a:extLst>
              <a:ext uri="{FF2B5EF4-FFF2-40B4-BE49-F238E27FC236}">
                <a16:creationId xmlns:a16="http://schemas.microsoft.com/office/drawing/2014/main" id="{3D95A7E8-34A1-481F-90CC-5058AD5AF871}"/>
              </a:ext>
            </a:extLst>
          </p:cNvPr>
          <p:cNvSpPr>
            <a:spLocks noGrp="1"/>
          </p:cNvSpPr>
          <p:nvPr/>
        </p:nvSpPr>
        <p:spPr>
          <a:xfrm>
            <a:off x="8394192" y="2651760"/>
            <a:ext cx="2788920" cy="1755648"/>
          </a:xfrm>
          <a:prstGeom prst="rect">
            <a:avLst/>
          </a:prstGeom>
          <a:noFill/>
        </p:spPr>
        <p:txBody>
          <a:bodyPr wrap="square" lIns="254" tIns="254" rIns="254" bIns="254" anchor="ctr"/>
          <a:lstStyle/>
          <a:p>
            <a:pPr marL="0" indent="0" algn="l">
              <a:buNone/>
              <a:defRPr sz="1350" b="0">
                <a:solidFill>
                  <a:srgbClr val="4D5B6A"/>
                </a:solidFill>
                <a:latin typeface="Aptos"/>
                <a:ea typeface="Aptos"/>
                <a:cs typeface="Aptos"/>
              </a:defRPr>
            </a:pPr>
            <a:r>
              <a:rPr sz="1400" b="0" dirty="0">
                <a:solidFill>
                  <a:srgbClr val="4D5B6A"/>
                </a:solidFill>
                <a:latin typeface="Aptos"/>
                <a:ea typeface="Aptos"/>
                <a:cs typeface="Aptos"/>
              </a:rPr>
              <a:t>Combine nonlinear score updates with reliable covariance-based transfer to unobserved variables.</a:t>
            </a:r>
          </a:p>
        </p:txBody>
      </p:sp>
      <p:sp>
        <p:nvSpPr>
          <p:cNvPr id="25" name="Slide Number Placeholder 0">
            <a:extLst>
              <a:ext uri="{FF2B5EF4-FFF2-40B4-BE49-F238E27FC236}">
                <a16:creationId xmlns:a16="http://schemas.microsoft.com/office/drawing/2014/main" id="{BBF1623F-45BE-431A-A44F-72A5CAC58448}"/>
              </a:ext>
            </a:extLst>
          </p:cNvPr>
          <p:cNvSpPr>
            <a:spLocks noGrp="1"/>
          </p:cNvSpPr>
          <p:nvPr>
            <p:ph type="sldNum" idx="4294967295"/>
          </p:nvPr>
        </p:nvSpPr>
        <p:spPr>
          <a:xfrm>
            <a:off x="11475720" y="6547104"/>
            <a:ext cx="365760" cy="182880"/>
          </a:xfrm>
          <a:prstGeom prst="rect">
            <a:avLst/>
          </a:prstGeom>
        </p:spPr>
        <p:txBody>
          <a:bodyPr/>
          <a:lstStyle>
            <a:lvl1pPr>
              <a:buNone/>
              <a:defRPr sz="1000">
                <a:solidFill>
                  <a:srgbClr val="DDE7F3"/>
                </a:solidFill>
                <a:latin typeface="Aptos"/>
                <a:ea typeface="Aptos"/>
                <a:cs typeface="Aptos"/>
              </a:defRPr>
            </a:lvl1pPr>
          </a:lstStyle>
          <a:p>
            <a:pPr algn="l">
              <a:buNone/>
            </a:pPr>
            <a:fld id="{6166C477-A387-35CF-F492-F54B4FA4FEC9}" type="slidenum">
              <a:rPr b="0"/>
              <a:t>40</a:t>
            </a:fld>
            <a:endParaRPr b="0"/>
          </a:p>
        </p:txBody>
      </p:sp>
    </p:spTree>
    <p:extLst>
      <p:ext uri="{BB962C8B-B14F-4D97-AF65-F5344CB8AC3E}">
        <p14:creationId xmlns:p14="http://schemas.microsoft.com/office/powerpoint/2010/main" val="1050208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2263A"/>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F08E263D-D117-4729-95ED-E1B54F4173B0}"/>
              </a:ext>
            </a:extLst>
          </p:cNvPr>
          <p:cNvSpPr>
            <a:spLocks noGrp="1"/>
          </p:cNvSpPr>
          <p:nvPr/>
        </p:nvSpPr>
        <p:spPr>
          <a:xfrm>
            <a:off x="6492240" y="0"/>
            <a:ext cx="5699455" cy="6858000"/>
          </a:xfrm>
          <a:prstGeom prst="rect">
            <a:avLst/>
          </a:prstGeom>
          <a:solidFill>
            <a:srgbClr val="12263A">
              <a:alpha val="58000"/>
            </a:srgbClr>
          </a:solidFill>
          <a:ln w="12700">
            <a:solidFill>
              <a:srgbClr val="12263A">
                <a:alpha val="0"/>
              </a:srgbClr>
            </a:solidFill>
            <a:prstDash val="solid"/>
          </a:ln>
        </p:spPr>
        <p:txBody>
          <a:bodyPr/>
          <a:lstStyle/>
          <a:p>
            <a:endParaRPr/>
          </a:p>
        </p:txBody>
      </p:sp>
      <p:sp>
        <p:nvSpPr>
          <p:cNvPr id="4" name="Text 1">
            <a:extLst>
              <a:ext uri="{FF2B5EF4-FFF2-40B4-BE49-F238E27FC236}">
                <a16:creationId xmlns:a16="http://schemas.microsoft.com/office/drawing/2014/main" id="{782BFF5D-1341-4476-BDA5-1B0DDE98D845}"/>
              </a:ext>
            </a:extLst>
          </p:cNvPr>
          <p:cNvSpPr>
            <a:spLocks noGrp="1"/>
          </p:cNvSpPr>
          <p:nvPr/>
        </p:nvSpPr>
        <p:spPr>
          <a:xfrm>
            <a:off x="868680" y="2148840"/>
            <a:ext cx="4663440" cy="548640"/>
          </a:xfrm>
          <a:prstGeom prst="rect">
            <a:avLst/>
          </a:prstGeom>
          <a:noFill/>
        </p:spPr>
        <p:txBody>
          <a:bodyPr wrap="square" anchor="ctr"/>
          <a:lstStyle/>
          <a:p>
            <a:pPr marL="0" indent="0" algn="l">
              <a:buNone/>
              <a:defRPr sz="3000" b="1">
                <a:solidFill>
                  <a:srgbClr val="F6F8FC"/>
                </a:solidFill>
                <a:latin typeface="Aptos Display"/>
                <a:ea typeface="Aptos Display"/>
                <a:cs typeface="Aptos Display"/>
              </a:defRPr>
            </a:pPr>
            <a:r>
              <a:rPr sz="3000" b="1">
                <a:solidFill>
                  <a:srgbClr val="F6F8FC"/>
                </a:solidFill>
                <a:latin typeface="Aptos Display"/>
                <a:ea typeface="Aptos Display"/>
                <a:cs typeface="Aptos Display"/>
              </a:rPr>
              <a:t>Questions?</a:t>
            </a:r>
          </a:p>
        </p:txBody>
      </p:sp>
      <p:sp>
        <p:nvSpPr>
          <p:cNvPr id="5" name="Text 2">
            <a:extLst>
              <a:ext uri="{FF2B5EF4-FFF2-40B4-BE49-F238E27FC236}">
                <a16:creationId xmlns:a16="http://schemas.microsoft.com/office/drawing/2014/main" id="{A4790C97-0A42-4663-A45E-461AB21290F5}"/>
              </a:ext>
            </a:extLst>
          </p:cNvPr>
          <p:cNvSpPr>
            <a:spLocks noGrp="1"/>
          </p:cNvSpPr>
          <p:nvPr/>
        </p:nvSpPr>
        <p:spPr>
          <a:xfrm>
            <a:off x="896112" y="2880360"/>
            <a:ext cx="4846320" cy="1005840"/>
          </a:xfrm>
          <a:prstGeom prst="rect">
            <a:avLst/>
          </a:prstGeom>
          <a:noFill/>
        </p:spPr>
        <p:txBody>
          <a:bodyPr wrap="square" anchor="ctr"/>
          <a:lstStyle/>
          <a:p>
            <a:pPr marL="0" indent="0" algn="l">
              <a:buNone/>
              <a:defRPr sz="1575" b="0">
                <a:solidFill>
                  <a:srgbClr val="D9E5EC"/>
                </a:solidFill>
                <a:latin typeface="Aptos"/>
                <a:ea typeface="Aptos"/>
                <a:cs typeface="Aptos"/>
              </a:defRPr>
            </a:pPr>
            <a:r>
              <a:rPr sz="1575" b="0">
                <a:solidFill>
                  <a:srgbClr val="D9E5EC"/>
                </a:solidFill>
                <a:latin typeface="Aptos"/>
                <a:ea typeface="Aptos"/>
                <a:cs typeface="Aptos"/>
              </a:rPr>
              <a:t>Which strengths should a next-generation hybrid preserve?</a:t>
            </a:r>
          </a:p>
        </p:txBody>
      </p:sp>
      <p:pic>
        <p:nvPicPr>
          <p:cNvPr id="10" name="Graphic 9"/>
          <p:cNvPicPr>
            <a:picLocks noChangeAspect="1"/>
          </p:cNvPicPr>
          <p:nvPr/>
        </p:nvPicPr>
        <p:blipFill>
          <a:blip>
            <a:extLst>
              <a:ext uri="{96DAC541-7B7A-43D3-8B79-37D633B846F1}">
                <asvg:svgBlip xmlns:asvg="http://schemas.microsoft.com/office/drawing/2016/SVG/main" r:embed="rId3"/>
              </a:ext>
            </a:extLst>
          </a:blip>
          <a:srcRect/>
          <a:stretch/>
        </p:blipFill>
        <p:spPr>
          <a:xfrm>
            <a:off x="6492240" y="0"/>
            <a:ext cx="5699474" cy="6858000"/>
          </a:xfrm>
          <a:prstGeom prst="rect">
            <a:avLst/>
          </a:prstGeom>
        </p:spPr>
      </p:pic>
    </p:spTree>
    <p:extLst>
      <p:ext uri="{BB962C8B-B14F-4D97-AF65-F5344CB8AC3E}">
        <p14:creationId xmlns:p14="http://schemas.microsoft.com/office/powerpoint/2010/main" val="1069452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TotalTime>
  <Words>2345</Words>
  <Application>Microsoft Office PowerPoint</Application>
  <DocSecurity>0</DocSecurity>
  <PresentationFormat>Widescreen</PresentationFormat>
  <Paragraphs>315</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Aptos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Jack Schwartz</cp:lastModifiedBy>
  <cp:revision>1</cp:revision>
  <dcterms:created xsi:type="dcterms:W3CDTF">2026-07-23T19:28:34Z</dcterms:created>
  <dcterms:modified xsi:type="dcterms:W3CDTF">2026-07-30T18:22:38Z</dcterms:modified>
</cp:coreProperties>
</file>